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02C"/>
        </a:solidFill>
      </p:bgPr>
    </p:bg>
    <p:spTree>
      <p:nvGrpSpPr>
        <p:cNvPr id="1" name=""/>
        <p:cNvGrpSpPr/>
        <p:nvPr/>
      </p:nvGrpSpPr>
      <p:grpSpPr>
        <a:xfrm>
          <a:off x="0" y="0"/>
          <a:ext cx="0" cy="0"/>
          <a:chOff x="0" y="0"/>
          <a:chExt cx="0" cy="0"/>
        </a:xfrm>
      </p:grpSpPr>
      <p:pic>
        <p:nvPicPr>
          <p:cNvPr id="2" name="Image 0" descr="cover.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D1117">
              <a:alpha val="70000"/>
            </a:srgbClr>
          </a:solidFill>
          <a:ln/>
        </p:spPr>
      </p:sp>
      <p:sp>
        <p:nvSpPr>
          <p:cNvPr id="4" name="Shape 1"/>
          <p:cNvSpPr/>
          <p:nvPr/>
        </p:nvSpPr>
        <p:spPr>
          <a:xfrm>
            <a:off x="548640" y="2011680"/>
            <a:ext cx="64008" cy="2743200"/>
          </a:xfrm>
          <a:prstGeom prst="rect">
            <a:avLst/>
          </a:prstGeom>
          <a:solidFill>
            <a:srgbClr val="7A9E9A"/>
          </a:solidFill>
          <a:ln/>
        </p:spPr>
      </p:sp>
      <p:sp>
        <p:nvSpPr>
          <p:cNvPr id="5" name="Text 2"/>
          <p:cNvSpPr/>
          <p:nvPr/>
        </p:nvSpPr>
        <p:spPr>
          <a:xfrm>
            <a:off x="822960" y="2011680"/>
            <a:ext cx="7315200" cy="365760"/>
          </a:xfrm>
          <a:prstGeom prst="rect">
            <a:avLst/>
          </a:prstGeom>
          <a:noFill/>
          <a:ln/>
        </p:spPr>
        <p:txBody>
          <a:bodyPr wrap="square" lIns="0" tIns="0" rIns="0" bIns="0" rtlCol="0" anchor="ctr"/>
          <a:lstStyle/>
          <a:p>
            <a:pPr indent="0" marL="0">
              <a:buNone/>
            </a:pPr>
            <a:r>
              <a:rPr lang="en-US" sz="1200" b="1" spc="800" kern="0" dirty="0">
                <a:solidFill>
                  <a:srgbClr val="A8C2BF"/>
                </a:solidFill>
                <a:latin typeface="Calibri" pitchFamily="34" charset="0"/>
                <a:ea typeface="Calibri" pitchFamily="34" charset="-122"/>
                <a:cs typeface="Calibri" pitchFamily="34" charset="-120"/>
              </a:rPr>
              <a:t>STRATEGISK PRÆSENTATION · 2026</a:t>
            </a:r>
            <a:endParaRPr lang="en-US" sz="1200" dirty="0"/>
          </a:p>
        </p:txBody>
      </p:sp>
      <p:sp>
        <p:nvSpPr>
          <p:cNvPr id="6" name="Text 3"/>
          <p:cNvSpPr/>
          <p:nvPr/>
        </p:nvSpPr>
        <p:spPr>
          <a:xfrm>
            <a:off x="822960" y="2468880"/>
            <a:ext cx="10058400" cy="822960"/>
          </a:xfrm>
          <a:prstGeom prst="rect">
            <a:avLst/>
          </a:prstGeom>
          <a:noFill/>
          <a:ln/>
        </p:spPr>
        <p:txBody>
          <a:bodyPr wrap="square" lIns="0" tIns="0" rIns="0" bIns="0" rtlCol="0" anchor="ctr"/>
          <a:lstStyle/>
          <a:p>
            <a:pPr indent="0" marL="0">
              <a:buNone/>
            </a:pPr>
            <a:r>
              <a:rPr lang="en-US" sz="4400" i="1" dirty="0">
                <a:solidFill>
                  <a:srgbClr val="FFFFFF"/>
                </a:solidFill>
                <a:latin typeface="Georgia" pitchFamily="34" charset="0"/>
                <a:ea typeface="Georgia" pitchFamily="34" charset="-122"/>
                <a:cs typeface="Georgia" pitchFamily="34" charset="-120"/>
              </a:rPr>
              <a:t>Malerfirmaet Bach ApS</a:t>
            </a:r>
            <a:endParaRPr lang="en-US" sz="4400" dirty="0"/>
          </a:p>
        </p:txBody>
      </p:sp>
      <p:sp>
        <p:nvSpPr>
          <p:cNvPr id="7" name="Text 4"/>
          <p:cNvSpPr/>
          <p:nvPr/>
        </p:nvSpPr>
        <p:spPr>
          <a:xfrm>
            <a:off x="822960" y="3291840"/>
            <a:ext cx="10058400" cy="1280160"/>
          </a:xfrm>
          <a:prstGeom prst="rect">
            <a:avLst/>
          </a:prstGeom>
          <a:noFill/>
          <a:ln/>
        </p:spPr>
        <p:txBody>
          <a:bodyPr wrap="square" lIns="0" tIns="0" rIns="0" bIns="0"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Ny digital platform</a:t>
            </a:r>
            <a:endParaRPr lang="en-US" sz="7200" dirty="0"/>
          </a:p>
        </p:txBody>
      </p:sp>
      <p:sp>
        <p:nvSpPr>
          <p:cNvPr id="8" name="Text 5"/>
          <p:cNvSpPr/>
          <p:nvPr/>
        </p:nvSpPr>
        <p:spPr>
          <a:xfrm>
            <a:off x="822960" y="4572000"/>
            <a:ext cx="10058400" cy="457200"/>
          </a:xfrm>
          <a:prstGeom prst="rect">
            <a:avLst/>
          </a:prstGeom>
          <a:noFill/>
          <a:ln/>
        </p:spPr>
        <p:txBody>
          <a:bodyPr wrap="square" lIns="0" tIns="0" rIns="0" bIns="0" rtlCol="0" anchor="ctr"/>
          <a:lstStyle/>
          <a:p>
            <a:pPr indent="0" marL="0">
              <a:buNone/>
            </a:pPr>
            <a:r>
              <a:rPr lang="en-US" sz="1800" dirty="0">
                <a:solidFill>
                  <a:srgbClr val="A8C2BF"/>
                </a:solidFill>
                <a:latin typeface="Calibri" pitchFamily="34" charset="0"/>
                <a:ea typeface="Calibri" pitchFamily="34" charset="-122"/>
                <a:cs typeface="Calibri" pitchFamily="34" charset="-120"/>
              </a:rPr>
              <a:t>Booking · Lead-håndtering · Indholdsstyring · Vækst</a:t>
            </a:r>
            <a:endParaRPr lang="en-US" sz="1800" dirty="0"/>
          </a:p>
        </p:txBody>
      </p:sp>
      <p:sp>
        <p:nvSpPr>
          <p:cNvPr id="9" name="Shape 6"/>
          <p:cNvSpPr/>
          <p:nvPr/>
        </p:nvSpPr>
        <p:spPr>
          <a:xfrm>
            <a:off x="822960" y="6217920"/>
            <a:ext cx="1097280" cy="0"/>
          </a:xfrm>
          <a:prstGeom prst="line">
            <a:avLst/>
          </a:prstGeom>
          <a:noFill/>
          <a:ln w="19050">
            <a:solidFill>
              <a:srgbClr val="7A9E9A"/>
            </a:solidFill>
            <a:prstDash val="solid"/>
          </a:ln>
        </p:spPr>
      </p:sp>
      <p:sp>
        <p:nvSpPr>
          <p:cNvPr id="10" name="Text 7"/>
          <p:cNvSpPr/>
          <p:nvPr/>
        </p:nvSpPr>
        <p:spPr>
          <a:xfrm>
            <a:off x="822960" y="6309360"/>
            <a:ext cx="7315200" cy="274320"/>
          </a:xfrm>
          <a:prstGeom prst="rect">
            <a:avLst/>
          </a:prstGeom>
          <a:noFill/>
          <a:ln/>
        </p:spPr>
        <p:txBody>
          <a:bodyPr wrap="square" lIns="0" tIns="0" rIns="0" bIns="0" rtlCol="0" anchor="ctr"/>
          <a:lstStyle/>
          <a:p>
            <a:pPr indent="0" marL="0">
              <a:buNone/>
            </a:pPr>
            <a:r>
              <a:rPr lang="en-US" sz="1000" spc="400" kern="0" dirty="0">
                <a:solidFill>
                  <a:srgbClr val="A0AEC0"/>
                </a:solidFill>
                <a:latin typeface="Calibri" pitchFamily="34" charset="0"/>
                <a:ea typeface="Calibri" pitchFamily="34" charset="-122"/>
                <a:cs typeface="Calibri" pitchFamily="34" charset="-120"/>
              </a:rPr>
              <a:t>Forberedt til shareholders · Fortroligt</a:t>
            </a:r>
            <a:endParaRPr lang="en-US" sz="1000" dirty="0"/>
          </a:p>
        </p:txBody>
      </p:sp>
      <p:sp>
        <p:nvSpPr>
          <p:cNvPr id="11" name="Text 8"/>
          <p:cNvSpPr/>
          <p:nvPr/>
        </p:nvSpPr>
        <p:spPr>
          <a:xfrm>
            <a:off x="8534095" y="6309360"/>
            <a:ext cx="3108960" cy="274320"/>
          </a:xfrm>
          <a:prstGeom prst="rect">
            <a:avLst/>
          </a:prstGeom>
          <a:noFill/>
          <a:ln/>
        </p:spPr>
        <p:txBody>
          <a:bodyPr wrap="square" lIns="0" tIns="0" rIns="0" bIns="0" rtlCol="0" anchor="ctr"/>
          <a:lstStyle/>
          <a:p>
            <a:pPr algn="r" indent="0" marL="0">
              <a:buNone/>
            </a:pPr>
            <a:r>
              <a:rPr lang="en-US" sz="1000" spc="400" kern="0" dirty="0">
                <a:solidFill>
                  <a:srgbClr val="A0AEC0"/>
                </a:solidFill>
                <a:latin typeface="Calibri" pitchFamily="34" charset="0"/>
                <a:ea typeface="Calibri" pitchFamily="34" charset="-122"/>
                <a:cs typeface="Calibri" pitchFamily="34" charset="-120"/>
              </a:rPr>
              <a:t>malerfirmaetbach.dk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INTRODUKTION</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800" b="1" dirty="0">
                <a:solidFill>
                  <a:srgbClr val="1A202C"/>
                </a:solidFill>
                <a:latin typeface="Georgia" pitchFamily="34" charset="0"/>
                <a:ea typeface="Georgia" pitchFamily="34" charset="-122"/>
                <a:cs typeface="Georgia" pitchFamily="34" charset="-120"/>
              </a:rPr>
              <a:t>Hvad bygger vi — og hvorfor</a:t>
            </a:r>
            <a:endParaRPr lang="en-US" sz="3800" dirty="0"/>
          </a:p>
        </p:txBody>
      </p:sp>
      <p:sp>
        <p:nvSpPr>
          <p:cNvPr id="5" name="Text 3"/>
          <p:cNvSpPr/>
          <p:nvPr/>
        </p:nvSpPr>
        <p:spPr>
          <a:xfrm>
            <a:off x="640080" y="2011680"/>
            <a:ext cx="5120640" cy="1645920"/>
          </a:xfrm>
          <a:prstGeom prst="rect">
            <a:avLst/>
          </a:prstGeom>
          <a:noFill/>
          <a:ln/>
        </p:spPr>
        <p:txBody>
          <a:bodyPr wrap="square" lIns="0" tIns="0" rIns="0" bIns="0" rtlCol="0" anchor="t"/>
          <a:lstStyle/>
          <a:p>
            <a:pPr indent="0" marL="0">
              <a:spcAft>
                <a:spcPts val="600"/>
              </a:spcAft>
              <a:buNone/>
            </a:pPr>
            <a:r>
              <a:rPr lang="en-US" sz="1500" dirty="0">
                <a:solidFill>
                  <a:srgbClr val="2D3748"/>
                </a:solidFill>
                <a:latin typeface="Calibri" pitchFamily="34" charset="0"/>
                <a:ea typeface="Calibri" pitchFamily="34" charset="-122"/>
                <a:cs typeface="Calibri" pitchFamily="34" charset="-120"/>
              </a:rPr>
              <a:t>Malerfirmaet Bach ApS får en ny, professionel hjemmeside der både løfter brandet og fjerner manuelt arbejde fra hverdagen. Platformen er bygget til at konvertere besøgende til kunder, og til at sikre at ingen lead går tabt.</a:t>
            </a:r>
            <a:endParaRPr lang="en-US" sz="1500" dirty="0"/>
          </a:p>
        </p:txBody>
      </p:sp>
      <p:sp>
        <p:nvSpPr>
          <p:cNvPr id="6" name="Text 4"/>
          <p:cNvSpPr/>
          <p:nvPr/>
        </p:nvSpPr>
        <p:spPr>
          <a:xfrm>
            <a:off x="640080" y="3749040"/>
            <a:ext cx="5120640" cy="365760"/>
          </a:xfrm>
          <a:prstGeom prst="rect">
            <a:avLst/>
          </a:prstGeom>
          <a:noFill/>
          <a:ln/>
        </p:spPr>
        <p:txBody>
          <a:bodyPr wrap="square" lIns="0" tIns="0" rIns="0" bIns="0" rtlCol="0" anchor="ctr"/>
          <a:lstStyle/>
          <a:p>
            <a:pPr indent="0" marL="0">
              <a:buNone/>
            </a:pPr>
            <a:r>
              <a:rPr lang="en-US" sz="1600" b="1" i="1" dirty="0">
                <a:solidFill>
                  <a:srgbClr val="5A7E7A"/>
                </a:solidFill>
                <a:latin typeface="Georgia" pitchFamily="34" charset="0"/>
                <a:ea typeface="Georgia" pitchFamily="34" charset="-122"/>
                <a:cs typeface="Georgia" pitchFamily="34" charset="-120"/>
              </a:rPr>
              <a:t>Tre forretningsmål:</a:t>
            </a:r>
            <a:endParaRPr lang="en-US" sz="1600" dirty="0"/>
          </a:p>
        </p:txBody>
      </p:sp>
      <p:sp>
        <p:nvSpPr>
          <p:cNvPr id="7" name="Text 5"/>
          <p:cNvSpPr/>
          <p:nvPr/>
        </p:nvSpPr>
        <p:spPr>
          <a:xfrm>
            <a:off x="640080" y="4114800"/>
            <a:ext cx="5120640" cy="1554480"/>
          </a:xfrm>
          <a:prstGeom prst="rect">
            <a:avLst/>
          </a:prstGeom>
          <a:noFill/>
          <a:ln/>
        </p:spPr>
        <p:txBody>
          <a:bodyPr wrap="square" lIns="0" tIns="0" rIns="0" bIns="0" rtlCol="0" anchor="ctr"/>
          <a:lstStyle/>
          <a:p>
            <a:pPr indent="0" marL="0">
              <a:spcAft>
                <a:spcPts val="800"/>
              </a:spcAft>
              <a:buNone/>
            </a:pPr>
            <a:r>
              <a:rPr lang="en-US" sz="1400" dirty="0">
                <a:solidFill>
                  <a:srgbClr val="2D3748"/>
                </a:solidFill>
                <a:latin typeface="Calibri" pitchFamily="34" charset="0"/>
                <a:ea typeface="Calibri" pitchFamily="34" charset="-122"/>
                <a:cs typeface="Calibri" pitchFamily="34" charset="-120"/>
              </a:rPr>
              <a:t>1. Tiltrække flere kunder via stærk online tilstedeværelse</a:t>
            </a:r>
            <a:endParaRPr lang="en-US" sz="1400" dirty="0"/>
          </a:p>
          <a:p>
            <a:pPr indent="0" marL="0">
              <a:spcAft>
                <a:spcPts val="800"/>
              </a:spcAft>
              <a:buNone/>
            </a:pPr>
            <a:r>
              <a:rPr lang="en-US" sz="1400" dirty="0">
                <a:solidFill>
                  <a:srgbClr val="2D3748"/>
                </a:solidFill>
                <a:latin typeface="Calibri" pitchFamily="34" charset="0"/>
                <a:ea typeface="Calibri" pitchFamily="34" charset="-122"/>
                <a:cs typeface="Calibri" pitchFamily="34" charset="-120"/>
              </a:rPr>
              <a:t>2. Automatisere booking, henvendelser og opfølgning</a:t>
            </a:r>
            <a:endParaRPr lang="en-US" sz="1400" dirty="0"/>
          </a:p>
          <a:p>
            <a:pPr indent="0" marL="0">
              <a:spcAft>
                <a:spcPts val="800"/>
              </a:spcAft>
              <a:buNone/>
            </a:pPr>
            <a:r>
              <a:rPr lang="en-US" sz="1400" dirty="0">
                <a:solidFill>
                  <a:srgbClr val="2D3748"/>
                </a:solidFill>
                <a:latin typeface="Calibri" pitchFamily="34" charset="0"/>
                <a:ea typeface="Calibri" pitchFamily="34" charset="-122"/>
                <a:cs typeface="Calibri" pitchFamily="34" charset="-120"/>
              </a:rPr>
              <a:t>3. Sikre at Adam selv kan opdatere indhold uden udvikler</a:t>
            </a:r>
            <a:endParaRPr lang="en-US" sz="1400" dirty="0"/>
          </a:p>
        </p:txBody>
      </p:sp>
      <p:sp>
        <p:nvSpPr>
          <p:cNvPr id="8" name="Shape 6"/>
          <p:cNvSpPr/>
          <p:nvPr/>
        </p:nvSpPr>
        <p:spPr>
          <a:xfrm>
            <a:off x="6400800" y="2011680"/>
            <a:ext cx="2606040" cy="182880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pic>
        <p:nvPicPr>
          <p:cNvPr id="9" name="Image 0" descr="preencoded.png">    </p:cNvPr>
          <p:cNvPicPr>
            <a:picLocks noChangeAspect="1"/>
          </p:cNvPicPr>
          <p:nvPr/>
        </p:nvPicPr>
        <p:blipFill>
          <a:blip r:embed="rId1"/>
          <a:stretch>
            <a:fillRect/>
          </a:stretch>
        </p:blipFill>
        <p:spPr>
          <a:xfrm>
            <a:off x="6629400" y="2267712"/>
            <a:ext cx="411480" cy="411480"/>
          </a:xfrm>
          <a:prstGeom prst="rect">
            <a:avLst/>
          </a:prstGeom>
        </p:spPr>
      </p:pic>
      <p:sp>
        <p:nvSpPr>
          <p:cNvPr id="10" name="Text 7"/>
          <p:cNvSpPr/>
          <p:nvPr/>
        </p:nvSpPr>
        <p:spPr>
          <a:xfrm>
            <a:off x="6629400" y="2788920"/>
            <a:ext cx="2148840" cy="365760"/>
          </a:xfrm>
          <a:prstGeom prst="rect">
            <a:avLst/>
          </a:prstGeom>
          <a:noFill/>
          <a:ln/>
        </p:spPr>
        <p:txBody>
          <a:bodyPr wrap="square" lIns="0" tIns="0" rIns="0" bIns="0" rtlCol="0" anchor="ctr"/>
          <a:lstStyle/>
          <a:p>
            <a:pPr indent="0" marL="0">
              <a:buNone/>
            </a:pPr>
            <a:r>
              <a:rPr lang="en-US" sz="1700" b="1" dirty="0">
                <a:solidFill>
                  <a:srgbClr val="1A202C"/>
                </a:solidFill>
                <a:latin typeface="Georgia" pitchFamily="34" charset="0"/>
                <a:ea typeface="Georgia" pitchFamily="34" charset="-122"/>
                <a:cs typeface="Georgia" pitchFamily="34" charset="-120"/>
              </a:rPr>
              <a:t>Konvertering</a:t>
            </a:r>
            <a:endParaRPr lang="en-US" sz="1700" dirty="0"/>
          </a:p>
        </p:txBody>
      </p:sp>
      <p:sp>
        <p:nvSpPr>
          <p:cNvPr id="11" name="Text 8"/>
          <p:cNvSpPr/>
          <p:nvPr/>
        </p:nvSpPr>
        <p:spPr>
          <a:xfrm>
            <a:off x="6629400" y="3154680"/>
            <a:ext cx="2148840" cy="640080"/>
          </a:xfrm>
          <a:prstGeom prst="rect">
            <a:avLst/>
          </a:prstGeom>
          <a:noFill/>
          <a:ln/>
        </p:spPr>
        <p:txBody>
          <a:bodyPr wrap="square" lIns="0" tIns="0" rIns="0" bIns="0" rtlCol="0" anchor="t"/>
          <a:lstStyle/>
          <a:p>
            <a:pPr indent="0" marL="0">
              <a:buNone/>
            </a:pPr>
            <a:r>
              <a:rPr lang="en-US" sz="1100" dirty="0">
                <a:solidFill>
                  <a:srgbClr val="718096"/>
                </a:solidFill>
                <a:latin typeface="Calibri" pitchFamily="34" charset="0"/>
                <a:ea typeface="Calibri" pitchFamily="34" charset="-122"/>
                <a:cs typeface="Calibri" pitchFamily="34" charset="-120"/>
              </a:rPr>
              <a:t>Cinematic design der bygger tillid og driver henvendelser</a:t>
            </a:r>
            <a:endParaRPr lang="en-US" sz="1100" dirty="0"/>
          </a:p>
        </p:txBody>
      </p:sp>
      <p:sp>
        <p:nvSpPr>
          <p:cNvPr id="12" name="Shape 9"/>
          <p:cNvSpPr/>
          <p:nvPr/>
        </p:nvSpPr>
        <p:spPr>
          <a:xfrm>
            <a:off x="9171432" y="2011680"/>
            <a:ext cx="2606040" cy="182880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pic>
        <p:nvPicPr>
          <p:cNvPr id="13" name="Image 1" descr="preencoded.png">    </p:cNvPr>
          <p:cNvPicPr>
            <a:picLocks noChangeAspect="1"/>
          </p:cNvPicPr>
          <p:nvPr/>
        </p:nvPicPr>
        <p:blipFill>
          <a:blip r:embed="rId2"/>
          <a:stretch>
            <a:fillRect/>
          </a:stretch>
        </p:blipFill>
        <p:spPr>
          <a:xfrm>
            <a:off x="9400032" y="2267712"/>
            <a:ext cx="411480" cy="411480"/>
          </a:xfrm>
          <a:prstGeom prst="rect">
            <a:avLst/>
          </a:prstGeom>
        </p:spPr>
      </p:pic>
      <p:sp>
        <p:nvSpPr>
          <p:cNvPr id="14" name="Text 10"/>
          <p:cNvSpPr/>
          <p:nvPr/>
        </p:nvSpPr>
        <p:spPr>
          <a:xfrm>
            <a:off x="9400032" y="2788920"/>
            <a:ext cx="2148840" cy="365760"/>
          </a:xfrm>
          <a:prstGeom prst="rect">
            <a:avLst/>
          </a:prstGeom>
          <a:noFill/>
          <a:ln/>
        </p:spPr>
        <p:txBody>
          <a:bodyPr wrap="square" lIns="0" tIns="0" rIns="0" bIns="0" rtlCol="0" anchor="ctr"/>
          <a:lstStyle/>
          <a:p>
            <a:pPr indent="0" marL="0">
              <a:buNone/>
            </a:pPr>
            <a:r>
              <a:rPr lang="en-US" sz="1700" b="1" dirty="0">
                <a:solidFill>
                  <a:srgbClr val="1A202C"/>
                </a:solidFill>
                <a:latin typeface="Georgia" pitchFamily="34" charset="0"/>
                <a:ea typeface="Georgia" pitchFamily="34" charset="-122"/>
                <a:cs typeface="Georgia" pitchFamily="34" charset="-120"/>
              </a:rPr>
              <a:t>Automatik</a:t>
            </a:r>
            <a:endParaRPr lang="en-US" sz="1700" dirty="0"/>
          </a:p>
        </p:txBody>
      </p:sp>
      <p:sp>
        <p:nvSpPr>
          <p:cNvPr id="15" name="Text 11"/>
          <p:cNvSpPr/>
          <p:nvPr/>
        </p:nvSpPr>
        <p:spPr>
          <a:xfrm>
            <a:off x="9400032" y="3154680"/>
            <a:ext cx="2148840" cy="640080"/>
          </a:xfrm>
          <a:prstGeom prst="rect">
            <a:avLst/>
          </a:prstGeom>
          <a:noFill/>
          <a:ln/>
        </p:spPr>
        <p:txBody>
          <a:bodyPr wrap="square" lIns="0" tIns="0" rIns="0" bIns="0" rtlCol="0" anchor="t"/>
          <a:lstStyle/>
          <a:p>
            <a:pPr indent="0" marL="0">
              <a:buNone/>
            </a:pPr>
            <a:r>
              <a:rPr lang="en-US" sz="1100" dirty="0">
                <a:solidFill>
                  <a:srgbClr val="718096"/>
                </a:solidFill>
                <a:latin typeface="Calibri" pitchFamily="34" charset="0"/>
                <a:ea typeface="Calibri" pitchFamily="34" charset="-122"/>
                <a:cs typeface="Calibri" pitchFamily="34" charset="-120"/>
              </a:rPr>
              <a:t>Booking, e-mail og lead-database arbejder af sig selv</a:t>
            </a:r>
            <a:endParaRPr lang="en-US" sz="1100" dirty="0"/>
          </a:p>
        </p:txBody>
      </p:sp>
      <p:sp>
        <p:nvSpPr>
          <p:cNvPr id="16" name="Shape 12"/>
          <p:cNvSpPr/>
          <p:nvPr/>
        </p:nvSpPr>
        <p:spPr>
          <a:xfrm>
            <a:off x="6400800" y="4005072"/>
            <a:ext cx="2606040" cy="182880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pic>
        <p:nvPicPr>
          <p:cNvPr id="17" name="Image 2" descr="preencoded.png">    </p:cNvPr>
          <p:cNvPicPr>
            <a:picLocks noChangeAspect="1"/>
          </p:cNvPicPr>
          <p:nvPr/>
        </p:nvPicPr>
        <p:blipFill>
          <a:blip r:embed="rId3"/>
          <a:stretch>
            <a:fillRect/>
          </a:stretch>
        </p:blipFill>
        <p:spPr>
          <a:xfrm>
            <a:off x="6629400" y="4261104"/>
            <a:ext cx="411480" cy="411480"/>
          </a:xfrm>
          <a:prstGeom prst="rect">
            <a:avLst/>
          </a:prstGeom>
        </p:spPr>
      </p:pic>
      <p:sp>
        <p:nvSpPr>
          <p:cNvPr id="18" name="Text 13"/>
          <p:cNvSpPr/>
          <p:nvPr/>
        </p:nvSpPr>
        <p:spPr>
          <a:xfrm>
            <a:off x="6629400" y="4782312"/>
            <a:ext cx="2148840" cy="365760"/>
          </a:xfrm>
          <a:prstGeom prst="rect">
            <a:avLst/>
          </a:prstGeom>
          <a:noFill/>
          <a:ln/>
        </p:spPr>
        <p:txBody>
          <a:bodyPr wrap="square" lIns="0" tIns="0" rIns="0" bIns="0" rtlCol="0" anchor="ctr"/>
          <a:lstStyle/>
          <a:p>
            <a:pPr indent="0" marL="0">
              <a:buNone/>
            </a:pPr>
            <a:r>
              <a:rPr lang="en-US" sz="1700" b="1" dirty="0">
                <a:solidFill>
                  <a:srgbClr val="1A202C"/>
                </a:solidFill>
                <a:latin typeface="Georgia" pitchFamily="34" charset="0"/>
                <a:ea typeface="Georgia" pitchFamily="34" charset="-122"/>
                <a:cs typeface="Georgia" pitchFamily="34" charset="-120"/>
              </a:rPr>
              <a:t>Sikkerhed</a:t>
            </a:r>
            <a:endParaRPr lang="en-US" sz="1700" dirty="0"/>
          </a:p>
        </p:txBody>
      </p:sp>
      <p:sp>
        <p:nvSpPr>
          <p:cNvPr id="19" name="Text 14"/>
          <p:cNvSpPr/>
          <p:nvPr/>
        </p:nvSpPr>
        <p:spPr>
          <a:xfrm>
            <a:off x="6629400" y="5148072"/>
            <a:ext cx="2148840" cy="640080"/>
          </a:xfrm>
          <a:prstGeom prst="rect">
            <a:avLst/>
          </a:prstGeom>
          <a:noFill/>
          <a:ln/>
        </p:spPr>
        <p:txBody>
          <a:bodyPr wrap="square" lIns="0" tIns="0" rIns="0" bIns="0" rtlCol="0" anchor="t"/>
          <a:lstStyle/>
          <a:p>
            <a:pPr indent="0" marL="0">
              <a:buNone/>
            </a:pPr>
            <a:r>
              <a:rPr lang="en-US" sz="1100" dirty="0">
                <a:solidFill>
                  <a:srgbClr val="718096"/>
                </a:solidFill>
                <a:latin typeface="Calibri" pitchFamily="34" charset="0"/>
                <a:ea typeface="Calibri" pitchFamily="34" charset="-122"/>
                <a:cs typeface="Calibri" pitchFamily="34" charset="-120"/>
              </a:rPr>
              <a:t>GDPR, kryptering og dansk hosting i EU</a:t>
            </a:r>
            <a:endParaRPr lang="en-US" sz="1100" dirty="0"/>
          </a:p>
        </p:txBody>
      </p:sp>
      <p:sp>
        <p:nvSpPr>
          <p:cNvPr id="20" name="Shape 15"/>
          <p:cNvSpPr/>
          <p:nvPr/>
        </p:nvSpPr>
        <p:spPr>
          <a:xfrm>
            <a:off x="9171432" y="4005072"/>
            <a:ext cx="2606040" cy="182880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pic>
        <p:nvPicPr>
          <p:cNvPr id="21" name="Image 3" descr="preencoded.png">    </p:cNvPr>
          <p:cNvPicPr>
            <a:picLocks noChangeAspect="1"/>
          </p:cNvPicPr>
          <p:nvPr/>
        </p:nvPicPr>
        <p:blipFill>
          <a:blip r:embed="rId4"/>
          <a:stretch>
            <a:fillRect/>
          </a:stretch>
        </p:blipFill>
        <p:spPr>
          <a:xfrm>
            <a:off x="9400032" y="4261104"/>
            <a:ext cx="411480" cy="411480"/>
          </a:xfrm>
          <a:prstGeom prst="rect">
            <a:avLst/>
          </a:prstGeom>
        </p:spPr>
      </p:pic>
      <p:sp>
        <p:nvSpPr>
          <p:cNvPr id="22" name="Text 16"/>
          <p:cNvSpPr/>
          <p:nvPr/>
        </p:nvSpPr>
        <p:spPr>
          <a:xfrm>
            <a:off x="9400032" y="4782312"/>
            <a:ext cx="2148840" cy="365760"/>
          </a:xfrm>
          <a:prstGeom prst="rect">
            <a:avLst/>
          </a:prstGeom>
          <a:noFill/>
          <a:ln/>
        </p:spPr>
        <p:txBody>
          <a:bodyPr wrap="square" lIns="0" tIns="0" rIns="0" bIns="0" rtlCol="0" anchor="ctr"/>
          <a:lstStyle/>
          <a:p>
            <a:pPr indent="0" marL="0">
              <a:buNone/>
            </a:pPr>
            <a:r>
              <a:rPr lang="en-US" sz="1700" b="1" dirty="0">
                <a:solidFill>
                  <a:srgbClr val="1A202C"/>
                </a:solidFill>
                <a:latin typeface="Georgia" pitchFamily="34" charset="0"/>
                <a:ea typeface="Georgia" pitchFamily="34" charset="-122"/>
                <a:cs typeface="Georgia" pitchFamily="34" charset="-120"/>
              </a:rPr>
              <a:t>Indsigt</a:t>
            </a:r>
            <a:endParaRPr lang="en-US" sz="1700" dirty="0"/>
          </a:p>
        </p:txBody>
      </p:sp>
      <p:sp>
        <p:nvSpPr>
          <p:cNvPr id="23" name="Text 17"/>
          <p:cNvSpPr/>
          <p:nvPr/>
        </p:nvSpPr>
        <p:spPr>
          <a:xfrm>
            <a:off x="9400032" y="5148072"/>
            <a:ext cx="2148840" cy="640080"/>
          </a:xfrm>
          <a:prstGeom prst="rect">
            <a:avLst/>
          </a:prstGeom>
          <a:noFill/>
          <a:ln/>
        </p:spPr>
        <p:txBody>
          <a:bodyPr wrap="square" lIns="0" tIns="0" rIns="0" bIns="0" rtlCol="0" anchor="t"/>
          <a:lstStyle/>
          <a:p>
            <a:pPr indent="0" marL="0">
              <a:buNone/>
            </a:pPr>
            <a:r>
              <a:rPr lang="en-US" sz="1100" dirty="0">
                <a:solidFill>
                  <a:srgbClr val="718096"/>
                </a:solidFill>
                <a:latin typeface="Calibri" pitchFamily="34" charset="0"/>
                <a:ea typeface="Calibri" pitchFamily="34" charset="-122"/>
                <a:cs typeface="Calibri" pitchFamily="34" charset="-120"/>
              </a:rPr>
              <a:t>Google Analytics 4 — fuld synlighed på trafik og leads</a:t>
            </a:r>
            <a:endParaRPr lang="en-US" sz="1100" dirty="0"/>
          </a:p>
        </p:txBody>
      </p:sp>
      <p:sp>
        <p:nvSpPr>
          <p:cNvPr id="24" name="Text 18"/>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25" name="Text 19"/>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02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FUNKTIONER</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800" b="1" dirty="0">
                <a:solidFill>
                  <a:srgbClr val="1A202C"/>
                </a:solidFill>
                <a:latin typeface="Georgia" pitchFamily="34" charset="0"/>
                <a:ea typeface="Georgia" pitchFamily="34" charset="-122"/>
                <a:cs typeface="Georgia" pitchFamily="34" charset="-120"/>
              </a:rPr>
              <a:t>Hvad hjemmesiden understøtter</a:t>
            </a:r>
            <a:endParaRPr lang="en-US" sz="3800" dirty="0"/>
          </a:p>
        </p:txBody>
      </p:sp>
      <p:sp>
        <p:nvSpPr>
          <p:cNvPr id="5" name="Text 3"/>
          <p:cNvSpPr/>
          <p:nvPr/>
        </p:nvSpPr>
        <p:spPr>
          <a:xfrm>
            <a:off x="640080" y="1691640"/>
            <a:ext cx="10972800" cy="365760"/>
          </a:xfrm>
          <a:prstGeom prst="rect">
            <a:avLst/>
          </a:prstGeom>
          <a:noFill/>
          <a:ln/>
        </p:spPr>
        <p:txBody>
          <a:bodyPr wrap="square" lIns="0" tIns="0" rIns="0" bIns="0" rtlCol="0" anchor="ctr"/>
          <a:lstStyle/>
          <a:p>
            <a:pPr indent="0" marL="0">
              <a:buNone/>
            </a:pPr>
            <a:r>
              <a:rPr lang="en-US" sz="1400" i="1" dirty="0">
                <a:solidFill>
                  <a:srgbClr val="718096"/>
                </a:solidFill>
                <a:latin typeface="Calibri" pitchFamily="34" charset="0"/>
                <a:ea typeface="Calibri" pitchFamily="34" charset="-122"/>
                <a:cs typeface="Calibri" pitchFamily="34" charset="-120"/>
              </a:rPr>
              <a:t>Otte kerneydelser der dækker hele kundens rejse — fra første besøg til afsluttet projekt.</a:t>
            </a:r>
            <a:endParaRPr lang="en-US" sz="1400" dirty="0"/>
          </a:p>
        </p:txBody>
      </p:sp>
      <p:sp>
        <p:nvSpPr>
          <p:cNvPr id="6" name="Shape 4"/>
          <p:cNvSpPr/>
          <p:nvPr/>
        </p:nvSpPr>
        <p:spPr>
          <a:xfrm>
            <a:off x="640080" y="2286000"/>
            <a:ext cx="2697480" cy="201168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7" name="Shape 5"/>
          <p:cNvSpPr/>
          <p:nvPr/>
        </p:nvSpPr>
        <p:spPr>
          <a:xfrm>
            <a:off x="914400" y="2560320"/>
            <a:ext cx="640080" cy="640080"/>
          </a:xfrm>
          <a:prstGeom prst="ellipse">
            <a:avLst/>
          </a:prstGeom>
          <a:solidFill>
            <a:srgbClr val="EDF2F1"/>
          </a:solidFill>
          <a:ln/>
        </p:spPr>
      </p:sp>
      <p:pic>
        <p:nvPicPr>
          <p:cNvPr id="8" name="Image 0" descr="preencoded.png">    </p:cNvPr>
          <p:cNvPicPr>
            <a:picLocks noChangeAspect="1"/>
          </p:cNvPicPr>
          <p:nvPr/>
        </p:nvPicPr>
        <p:blipFill>
          <a:blip r:embed="rId1"/>
          <a:stretch>
            <a:fillRect/>
          </a:stretch>
        </p:blipFill>
        <p:spPr>
          <a:xfrm>
            <a:off x="1051560" y="2697480"/>
            <a:ext cx="365760" cy="365760"/>
          </a:xfrm>
          <a:prstGeom prst="rect">
            <a:avLst/>
          </a:prstGeom>
        </p:spPr>
      </p:pic>
      <p:sp>
        <p:nvSpPr>
          <p:cNvPr id="9" name="Text 6"/>
          <p:cNvSpPr/>
          <p:nvPr/>
        </p:nvSpPr>
        <p:spPr>
          <a:xfrm>
            <a:off x="914400" y="3291840"/>
            <a:ext cx="214884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Cinematic projektgalleri</a:t>
            </a:r>
            <a:endParaRPr lang="en-US" sz="1400" dirty="0"/>
          </a:p>
        </p:txBody>
      </p:sp>
      <p:sp>
        <p:nvSpPr>
          <p:cNvPr id="10" name="Text 7"/>
          <p:cNvSpPr/>
          <p:nvPr/>
        </p:nvSpPr>
        <p:spPr>
          <a:xfrm>
            <a:off x="914400" y="3657600"/>
            <a:ext cx="2148840" cy="59436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Dedikerede case-sider med scroll-storytelling og før/efter-visning</a:t>
            </a:r>
            <a:endParaRPr lang="en-US" sz="1050" dirty="0"/>
          </a:p>
        </p:txBody>
      </p:sp>
      <p:sp>
        <p:nvSpPr>
          <p:cNvPr id="11" name="Shape 8"/>
          <p:cNvSpPr/>
          <p:nvPr/>
        </p:nvSpPr>
        <p:spPr>
          <a:xfrm>
            <a:off x="3502152" y="2286000"/>
            <a:ext cx="2697480" cy="201168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12" name="Shape 9"/>
          <p:cNvSpPr/>
          <p:nvPr/>
        </p:nvSpPr>
        <p:spPr>
          <a:xfrm>
            <a:off x="3776472" y="2560320"/>
            <a:ext cx="640080" cy="640080"/>
          </a:xfrm>
          <a:prstGeom prst="ellipse">
            <a:avLst/>
          </a:prstGeom>
          <a:solidFill>
            <a:srgbClr val="EDF2F1"/>
          </a:solidFill>
          <a:ln/>
        </p:spPr>
      </p:sp>
      <p:pic>
        <p:nvPicPr>
          <p:cNvPr id="13" name="Image 1" descr="preencoded.png">    </p:cNvPr>
          <p:cNvPicPr>
            <a:picLocks noChangeAspect="1"/>
          </p:cNvPicPr>
          <p:nvPr/>
        </p:nvPicPr>
        <p:blipFill>
          <a:blip r:embed="rId2"/>
          <a:stretch>
            <a:fillRect/>
          </a:stretch>
        </p:blipFill>
        <p:spPr>
          <a:xfrm>
            <a:off x="3913632" y="2697480"/>
            <a:ext cx="365760" cy="365760"/>
          </a:xfrm>
          <a:prstGeom prst="rect">
            <a:avLst/>
          </a:prstGeom>
        </p:spPr>
      </p:pic>
      <p:sp>
        <p:nvSpPr>
          <p:cNvPr id="14" name="Text 10"/>
          <p:cNvSpPr/>
          <p:nvPr/>
        </p:nvSpPr>
        <p:spPr>
          <a:xfrm>
            <a:off x="3776472" y="3291840"/>
            <a:ext cx="214884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Online booking</a:t>
            </a:r>
            <a:endParaRPr lang="en-US" sz="1400" dirty="0"/>
          </a:p>
        </p:txBody>
      </p:sp>
      <p:sp>
        <p:nvSpPr>
          <p:cNvPr id="15" name="Text 11"/>
          <p:cNvSpPr/>
          <p:nvPr/>
        </p:nvSpPr>
        <p:spPr>
          <a:xfrm>
            <a:off x="3776472" y="3657600"/>
            <a:ext cx="2148840" cy="59436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Kunder booker tid direkte i Adams Google Calendar</a:t>
            </a:r>
            <a:endParaRPr lang="en-US" sz="1050" dirty="0"/>
          </a:p>
        </p:txBody>
      </p:sp>
      <p:sp>
        <p:nvSpPr>
          <p:cNvPr id="16" name="Shape 12"/>
          <p:cNvSpPr/>
          <p:nvPr/>
        </p:nvSpPr>
        <p:spPr>
          <a:xfrm>
            <a:off x="6364224" y="2286000"/>
            <a:ext cx="2697480" cy="201168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17" name="Shape 13"/>
          <p:cNvSpPr/>
          <p:nvPr/>
        </p:nvSpPr>
        <p:spPr>
          <a:xfrm>
            <a:off x="6638544" y="2560320"/>
            <a:ext cx="640080" cy="640080"/>
          </a:xfrm>
          <a:prstGeom prst="ellipse">
            <a:avLst/>
          </a:prstGeom>
          <a:solidFill>
            <a:srgbClr val="EDF2F1"/>
          </a:solidFill>
          <a:ln/>
        </p:spPr>
      </p:sp>
      <p:pic>
        <p:nvPicPr>
          <p:cNvPr id="18" name="Image 2" descr="preencoded.png">    </p:cNvPr>
          <p:cNvPicPr>
            <a:picLocks noChangeAspect="1"/>
          </p:cNvPicPr>
          <p:nvPr/>
        </p:nvPicPr>
        <p:blipFill>
          <a:blip r:embed="rId3"/>
          <a:stretch>
            <a:fillRect/>
          </a:stretch>
        </p:blipFill>
        <p:spPr>
          <a:xfrm>
            <a:off x="6775704" y="2697480"/>
            <a:ext cx="365760" cy="365760"/>
          </a:xfrm>
          <a:prstGeom prst="rect">
            <a:avLst/>
          </a:prstGeom>
        </p:spPr>
      </p:pic>
      <p:sp>
        <p:nvSpPr>
          <p:cNvPr id="19" name="Text 14"/>
          <p:cNvSpPr/>
          <p:nvPr/>
        </p:nvSpPr>
        <p:spPr>
          <a:xfrm>
            <a:off x="6638544" y="3291840"/>
            <a:ext cx="214884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Kontaktformular</a:t>
            </a:r>
            <a:endParaRPr lang="en-US" sz="1400" dirty="0"/>
          </a:p>
        </p:txBody>
      </p:sp>
      <p:sp>
        <p:nvSpPr>
          <p:cNvPr id="20" name="Text 15"/>
          <p:cNvSpPr/>
          <p:nvPr/>
        </p:nvSpPr>
        <p:spPr>
          <a:xfrm>
            <a:off x="6638544" y="3657600"/>
            <a:ext cx="2148840" cy="59436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Generel henvendelse med automatisk bekræftelse til kunden</a:t>
            </a:r>
            <a:endParaRPr lang="en-US" sz="1050" dirty="0"/>
          </a:p>
        </p:txBody>
      </p:sp>
      <p:sp>
        <p:nvSpPr>
          <p:cNvPr id="21" name="Shape 16"/>
          <p:cNvSpPr/>
          <p:nvPr/>
        </p:nvSpPr>
        <p:spPr>
          <a:xfrm>
            <a:off x="9226296" y="2286000"/>
            <a:ext cx="2697480" cy="201168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22" name="Shape 17"/>
          <p:cNvSpPr/>
          <p:nvPr/>
        </p:nvSpPr>
        <p:spPr>
          <a:xfrm>
            <a:off x="9500616" y="2560320"/>
            <a:ext cx="640080" cy="640080"/>
          </a:xfrm>
          <a:prstGeom prst="ellipse">
            <a:avLst/>
          </a:prstGeom>
          <a:solidFill>
            <a:srgbClr val="EDF2F1"/>
          </a:solidFill>
          <a:ln/>
        </p:spPr>
      </p:sp>
      <p:pic>
        <p:nvPicPr>
          <p:cNvPr id="23" name="Image 3" descr="preencoded.png">    </p:cNvPr>
          <p:cNvPicPr>
            <a:picLocks noChangeAspect="1"/>
          </p:cNvPicPr>
          <p:nvPr/>
        </p:nvPicPr>
        <p:blipFill>
          <a:blip r:embed="rId4"/>
          <a:stretch>
            <a:fillRect/>
          </a:stretch>
        </p:blipFill>
        <p:spPr>
          <a:xfrm>
            <a:off x="9637776" y="2697480"/>
            <a:ext cx="365760" cy="365760"/>
          </a:xfrm>
          <a:prstGeom prst="rect">
            <a:avLst/>
          </a:prstGeom>
        </p:spPr>
      </p:pic>
      <p:sp>
        <p:nvSpPr>
          <p:cNvPr id="24" name="Text 18"/>
          <p:cNvSpPr/>
          <p:nvPr/>
        </p:nvSpPr>
        <p:spPr>
          <a:xfrm>
            <a:off x="9500616" y="3291840"/>
            <a:ext cx="214884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Lead-database (CRM)</a:t>
            </a:r>
            <a:endParaRPr lang="en-US" sz="1400" dirty="0"/>
          </a:p>
        </p:txBody>
      </p:sp>
      <p:sp>
        <p:nvSpPr>
          <p:cNvPr id="25" name="Text 19"/>
          <p:cNvSpPr/>
          <p:nvPr/>
        </p:nvSpPr>
        <p:spPr>
          <a:xfrm>
            <a:off x="9500616" y="3657600"/>
            <a:ext cx="2148840" cy="59436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Alle henvendelser samles i Airtable med pipeline-status</a:t>
            </a:r>
            <a:endParaRPr lang="en-US" sz="1050" dirty="0"/>
          </a:p>
        </p:txBody>
      </p:sp>
      <p:sp>
        <p:nvSpPr>
          <p:cNvPr id="26" name="Shape 20"/>
          <p:cNvSpPr/>
          <p:nvPr/>
        </p:nvSpPr>
        <p:spPr>
          <a:xfrm>
            <a:off x="640080" y="4462272"/>
            <a:ext cx="2697480" cy="201168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27" name="Shape 21"/>
          <p:cNvSpPr/>
          <p:nvPr/>
        </p:nvSpPr>
        <p:spPr>
          <a:xfrm>
            <a:off x="914400" y="4736592"/>
            <a:ext cx="640080" cy="640080"/>
          </a:xfrm>
          <a:prstGeom prst="ellipse">
            <a:avLst/>
          </a:prstGeom>
          <a:solidFill>
            <a:srgbClr val="EDF2F1"/>
          </a:solidFill>
          <a:ln/>
        </p:spPr>
      </p:sp>
      <p:pic>
        <p:nvPicPr>
          <p:cNvPr id="28" name="Image 4" descr="preencoded.png">    </p:cNvPr>
          <p:cNvPicPr>
            <a:picLocks noChangeAspect="1"/>
          </p:cNvPicPr>
          <p:nvPr/>
        </p:nvPicPr>
        <p:blipFill>
          <a:blip r:embed="rId5"/>
          <a:stretch>
            <a:fillRect/>
          </a:stretch>
        </p:blipFill>
        <p:spPr>
          <a:xfrm>
            <a:off x="1051560" y="4873752"/>
            <a:ext cx="365760" cy="365760"/>
          </a:xfrm>
          <a:prstGeom prst="rect">
            <a:avLst/>
          </a:prstGeom>
        </p:spPr>
      </p:pic>
      <p:sp>
        <p:nvSpPr>
          <p:cNvPr id="29" name="Text 22"/>
          <p:cNvSpPr/>
          <p:nvPr/>
        </p:nvSpPr>
        <p:spPr>
          <a:xfrm>
            <a:off x="914400" y="5468112"/>
            <a:ext cx="214884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Cold lead-opfølgning</a:t>
            </a:r>
            <a:endParaRPr lang="en-US" sz="1400" dirty="0"/>
          </a:p>
        </p:txBody>
      </p:sp>
      <p:sp>
        <p:nvSpPr>
          <p:cNvPr id="30" name="Text 23"/>
          <p:cNvSpPr/>
          <p:nvPr/>
        </p:nvSpPr>
        <p:spPr>
          <a:xfrm>
            <a:off x="914400" y="5833872"/>
            <a:ext cx="2148840" cy="59436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Automatisk påmindelse efter 3 og 6 måneder</a:t>
            </a:r>
            <a:endParaRPr lang="en-US" sz="1050" dirty="0"/>
          </a:p>
        </p:txBody>
      </p:sp>
      <p:sp>
        <p:nvSpPr>
          <p:cNvPr id="31" name="Shape 24"/>
          <p:cNvSpPr/>
          <p:nvPr/>
        </p:nvSpPr>
        <p:spPr>
          <a:xfrm>
            <a:off x="3502152" y="4462272"/>
            <a:ext cx="2697480" cy="201168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32" name="Shape 25"/>
          <p:cNvSpPr/>
          <p:nvPr/>
        </p:nvSpPr>
        <p:spPr>
          <a:xfrm>
            <a:off x="3776472" y="4736592"/>
            <a:ext cx="640080" cy="640080"/>
          </a:xfrm>
          <a:prstGeom prst="ellipse">
            <a:avLst/>
          </a:prstGeom>
          <a:solidFill>
            <a:srgbClr val="EDF2F1"/>
          </a:solidFill>
          <a:ln/>
        </p:spPr>
      </p:sp>
      <p:pic>
        <p:nvPicPr>
          <p:cNvPr id="33" name="Image 5" descr="preencoded.png">    </p:cNvPr>
          <p:cNvPicPr>
            <a:picLocks noChangeAspect="1"/>
          </p:cNvPicPr>
          <p:nvPr/>
        </p:nvPicPr>
        <p:blipFill>
          <a:blip r:embed="rId6"/>
          <a:stretch>
            <a:fillRect/>
          </a:stretch>
        </p:blipFill>
        <p:spPr>
          <a:xfrm>
            <a:off x="3913632" y="4873752"/>
            <a:ext cx="365760" cy="365760"/>
          </a:xfrm>
          <a:prstGeom prst="rect">
            <a:avLst/>
          </a:prstGeom>
        </p:spPr>
      </p:pic>
      <p:sp>
        <p:nvSpPr>
          <p:cNvPr id="34" name="Text 26"/>
          <p:cNvSpPr/>
          <p:nvPr/>
        </p:nvSpPr>
        <p:spPr>
          <a:xfrm>
            <a:off x="3776472" y="5468112"/>
            <a:ext cx="214884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Selv-redigering (CMS)</a:t>
            </a:r>
            <a:endParaRPr lang="en-US" sz="1400" dirty="0"/>
          </a:p>
        </p:txBody>
      </p:sp>
      <p:sp>
        <p:nvSpPr>
          <p:cNvPr id="35" name="Text 27"/>
          <p:cNvSpPr/>
          <p:nvPr/>
        </p:nvSpPr>
        <p:spPr>
          <a:xfrm>
            <a:off x="3776472" y="5833872"/>
            <a:ext cx="2148840" cy="59436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Adam opdaterer tekst, billeder og projekter via Sanity</a:t>
            </a:r>
            <a:endParaRPr lang="en-US" sz="1050" dirty="0"/>
          </a:p>
        </p:txBody>
      </p:sp>
      <p:sp>
        <p:nvSpPr>
          <p:cNvPr id="36" name="Shape 28"/>
          <p:cNvSpPr/>
          <p:nvPr/>
        </p:nvSpPr>
        <p:spPr>
          <a:xfrm>
            <a:off x="6364224" y="4462272"/>
            <a:ext cx="2697480" cy="201168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37" name="Shape 29"/>
          <p:cNvSpPr/>
          <p:nvPr/>
        </p:nvSpPr>
        <p:spPr>
          <a:xfrm>
            <a:off x="6638544" y="4736592"/>
            <a:ext cx="640080" cy="640080"/>
          </a:xfrm>
          <a:prstGeom prst="ellipse">
            <a:avLst/>
          </a:prstGeom>
          <a:solidFill>
            <a:srgbClr val="EDF2F1"/>
          </a:solidFill>
          <a:ln/>
        </p:spPr>
      </p:sp>
      <p:pic>
        <p:nvPicPr>
          <p:cNvPr id="38" name="Image 6" descr="preencoded.png">    </p:cNvPr>
          <p:cNvPicPr>
            <a:picLocks noChangeAspect="1"/>
          </p:cNvPicPr>
          <p:nvPr/>
        </p:nvPicPr>
        <p:blipFill>
          <a:blip r:embed="rId7"/>
          <a:stretch>
            <a:fillRect/>
          </a:stretch>
        </p:blipFill>
        <p:spPr>
          <a:xfrm>
            <a:off x="6775704" y="4873752"/>
            <a:ext cx="365760" cy="365760"/>
          </a:xfrm>
          <a:prstGeom prst="rect">
            <a:avLst/>
          </a:prstGeom>
        </p:spPr>
      </p:pic>
      <p:sp>
        <p:nvSpPr>
          <p:cNvPr id="39" name="Text 30"/>
          <p:cNvSpPr/>
          <p:nvPr/>
        </p:nvSpPr>
        <p:spPr>
          <a:xfrm>
            <a:off x="6638544" y="5468112"/>
            <a:ext cx="214884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Dansk + engelsk</a:t>
            </a:r>
            <a:endParaRPr lang="en-US" sz="1400" dirty="0"/>
          </a:p>
        </p:txBody>
      </p:sp>
      <p:sp>
        <p:nvSpPr>
          <p:cNvPr id="40" name="Text 31"/>
          <p:cNvSpPr/>
          <p:nvPr/>
        </p:nvSpPr>
        <p:spPr>
          <a:xfrm>
            <a:off x="6638544" y="5833872"/>
            <a:ext cx="2148840" cy="59436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Fuldt sprog-skifte for hotel- og virksomhedskunder</a:t>
            </a:r>
            <a:endParaRPr lang="en-US" sz="1050" dirty="0"/>
          </a:p>
        </p:txBody>
      </p:sp>
      <p:sp>
        <p:nvSpPr>
          <p:cNvPr id="41" name="Shape 32"/>
          <p:cNvSpPr/>
          <p:nvPr/>
        </p:nvSpPr>
        <p:spPr>
          <a:xfrm>
            <a:off x="9226296" y="4462272"/>
            <a:ext cx="2697480" cy="201168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42" name="Shape 33"/>
          <p:cNvSpPr/>
          <p:nvPr/>
        </p:nvSpPr>
        <p:spPr>
          <a:xfrm>
            <a:off x="9500616" y="4736592"/>
            <a:ext cx="640080" cy="640080"/>
          </a:xfrm>
          <a:prstGeom prst="ellipse">
            <a:avLst/>
          </a:prstGeom>
          <a:solidFill>
            <a:srgbClr val="EDF2F1"/>
          </a:solidFill>
          <a:ln/>
        </p:spPr>
      </p:sp>
      <p:pic>
        <p:nvPicPr>
          <p:cNvPr id="43" name="Image 7" descr="preencoded.png">    </p:cNvPr>
          <p:cNvPicPr>
            <a:picLocks noChangeAspect="1"/>
          </p:cNvPicPr>
          <p:nvPr/>
        </p:nvPicPr>
        <p:blipFill>
          <a:blip r:embed="rId8"/>
          <a:stretch>
            <a:fillRect/>
          </a:stretch>
        </p:blipFill>
        <p:spPr>
          <a:xfrm>
            <a:off x="9637776" y="4873752"/>
            <a:ext cx="365760" cy="365760"/>
          </a:xfrm>
          <a:prstGeom prst="rect">
            <a:avLst/>
          </a:prstGeom>
        </p:spPr>
      </p:pic>
      <p:sp>
        <p:nvSpPr>
          <p:cNvPr id="44" name="Text 34"/>
          <p:cNvSpPr/>
          <p:nvPr/>
        </p:nvSpPr>
        <p:spPr>
          <a:xfrm>
            <a:off x="9500616" y="5468112"/>
            <a:ext cx="214884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SEO + Analytics</a:t>
            </a:r>
            <a:endParaRPr lang="en-US" sz="1400" dirty="0"/>
          </a:p>
        </p:txBody>
      </p:sp>
      <p:sp>
        <p:nvSpPr>
          <p:cNvPr id="45" name="Text 35"/>
          <p:cNvSpPr/>
          <p:nvPr/>
        </p:nvSpPr>
        <p:spPr>
          <a:xfrm>
            <a:off x="9500616" y="5833872"/>
            <a:ext cx="2148840" cy="59436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Google Analytics 4 og struktureret data for synlighed</a:t>
            </a:r>
            <a:endParaRPr lang="en-US" sz="1050" dirty="0"/>
          </a:p>
        </p:txBody>
      </p:sp>
      <p:sp>
        <p:nvSpPr>
          <p:cNvPr id="46" name="Text 36"/>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47" name="Text 37"/>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03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SITEMAP</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800" b="1" dirty="0">
                <a:solidFill>
                  <a:srgbClr val="1A202C"/>
                </a:solidFill>
                <a:latin typeface="Georgia" pitchFamily="34" charset="0"/>
                <a:ea typeface="Georgia" pitchFamily="34" charset="-122"/>
                <a:cs typeface="Georgia" pitchFamily="34" charset="-120"/>
              </a:rPr>
              <a:t>Hjemmesidens struktur</a:t>
            </a:r>
            <a:endParaRPr lang="en-US" sz="3800" dirty="0"/>
          </a:p>
        </p:txBody>
      </p:sp>
      <p:sp>
        <p:nvSpPr>
          <p:cNvPr id="5" name="Shape 3"/>
          <p:cNvSpPr/>
          <p:nvPr/>
        </p:nvSpPr>
        <p:spPr>
          <a:xfrm>
            <a:off x="5212080" y="2011680"/>
            <a:ext cx="1828800" cy="640080"/>
          </a:xfrm>
          <a:prstGeom prst="rect">
            <a:avLst/>
          </a:prstGeom>
          <a:solidFill>
            <a:srgbClr val="1A202C"/>
          </a:solidFill>
          <a:ln/>
          <a:effectLst>
            <a:outerShdw sx="100000" sy="100000" kx="0" ky="0" algn="bl" rotWithShape="0" blurRad="177800" dist="50800" dir="16200000">
              <a:srgbClr val="000000">
                <a:alpha val="18000"/>
              </a:srgbClr>
            </a:outerShdw>
          </a:effectLst>
        </p:spPr>
      </p:sp>
      <p:sp>
        <p:nvSpPr>
          <p:cNvPr id="6" name="Text 4"/>
          <p:cNvSpPr/>
          <p:nvPr/>
        </p:nvSpPr>
        <p:spPr>
          <a:xfrm>
            <a:off x="5212080" y="2011680"/>
            <a:ext cx="1828800" cy="640080"/>
          </a:xfrm>
          <a:prstGeom prst="rect">
            <a:avLst/>
          </a:prstGeom>
          <a:noFill/>
          <a:ln/>
        </p:spPr>
        <p:txBody>
          <a:bodyPr wrap="square" rtlCol="0" anchor="ctr"/>
          <a:lstStyle/>
          <a:p>
            <a:pPr algn="ctr" indent="0" marL="0">
              <a:buNone/>
            </a:pPr>
            <a:r>
              <a:rPr lang="en-US" sz="1600" b="1" spc="400" kern="0" dirty="0">
                <a:solidFill>
                  <a:srgbClr val="FFFFFF"/>
                </a:solidFill>
                <a:latin typeface="Georgia" pitchFamily="34" charset="0"/>
                <a:ea typeface="Georgia" pitchFamily="34" charset="-122"/>
                <a:cs typeface="Georgia" pitchFamily="34" charset="-120"/>
              </a:rPr>
              <a:t>FORSIDE</a:t>
            </a:r>
            <a:endParaRPr lang="en-US" sz="1600" dirty="0"/>
          </a:p>
        </p:txBody>
      </p:sp>
      <p:sp>
        <p:nvSpPr>
          <p:cNvPr id="7" name="Shape 5"/>
          <p:cNvSpPr/>
          <p:nvPr/>
        </p:nvSpPr>
        <p:spPr>
          <a:xfrm>
            <a:off x="868680" y="3154680"/>
            <a:ext cx="10424160" cy="0"/>
          </a:xfrm>
          <a:prstGeom prst="line">
            <a:avLst/>
          </a:prstGeom>
          <a:noFill/>
          <a:ln w="15240">
            <a:solidFill>
              <a:srgbClr val="7A9E9A"/>
            </a:solidFill>
            <a:prstDash val="solid"/>
          </a:ln>
        </p:spPr>
      </p:sp>
      <p:sp>
        <p:nvSpPr>
          <p:cNvPr id="8" name="Shape 6"/>
          <p:cNvSpPr/>
          <p:nvPr/>
        </p:nvSpPr>
        <p:spPr>
          <a:xfrm>
            <a:off x="6126480" y="2651760"/>
            <a:ext cx="0" cy="502920"/>
          </a:xfrm>
          <a:prstGeom prst="line">
            <a:avLst/>
          </a:prstGeom>
          <a:noFill/>
          <a:ln w="15240">
            <a:solidFill>
              <a:srgbClr val="7A9E9A"/>
            </a:solidFill>
            <a:prstDash val="solid"/>
          </a:ln>
        </p:spPr>
      </p:sp>
      <p:sp>
        <p:nvSpPr>
          <p:cNvPr id="9" name="Shape 7"/>
          <p:cNvSpPr/>
          <p:nvPr/>
        </p:nvSpPr>
        <p:spPr>
          <a:xfrm>
            <a:off x="1531620" y="3154680"/>
            <a:ext cx="0" cy="228600"/>
          </a:xfrm>
          <a:prstGeom prst="line">
            <a:avLst/>
          </a:prstGeom>
          <a:noFill/>
          <a:ln w="15240">
            <a:solidFill>
              <a:srgbClr val="7A9E9A"/>
            </a:solidFill>
            <a:prstDash val="solid"/>
          </a:ln>
        </p:spPr>
      </p:sp>
      <p:sp>
        <p:nvSpPr>
          <p:cNvPr id="10" name="Shape 8"/>
          <p:cNvSpPr/>
          <p:nvPr/>
        </p:nvSpPr>
        <p:spPr>
          <a:xfrm>
            <a:off x="640080" y="3383280"/>
            <a:ext cx="1783080" cy="128016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11" name="Shape 9"/>
          <p:cNvSpPr/>
          <p:nvPr/>
        </p:nvSpPr>
        <p:spPr>
          <a:xfrm>
            <a:off x="640080" y="3383280"/>
            <a:ext cx="1783080" cy="64008"/>
          </a:xfrm>
          <a:prstGeom prst="rect">
            <a:avLst/>
          </a:prstGeom>
          <a:solidFill>
            <a:srgbClr val="7A9E9A"/>
          </a:solidFill>
          <a:ln/>
        </p:spPr>
      </p:sp>
      <p:sp>
        <p:nvSpPr>
          <p:cNvPr id="12" name="Text 10"/>
          <p:cNvSpPr/>
          <p:nvPr/>
        </p:nvSpPr>
        <p:spPr>
          <a:xfrm>
            <a:off x="731520" y="3611880"/>
            <a:ext cx="1600200" cy="457200"/>
          </a:xfrm>
          <a:prstGeom prst="rect">
            <a:avLst/>
          </a:prstGeom>
          <a:noFill/>
          <a:ln/>
        </p:spPr>
        <p:txBody>
          <a:bodyPr wrap="square" lIns="0" tIns="0" rIns="0" bIns="0" rtlCol="0" anchor="ctr"/>
          <a:lstStyle/>
          <a:p>
            <a:pPr algn="ctr" indent="0" marL="0">
              <a:buNone/>
            </a:pPr>
            <a:r>
              <a:rPr lang="en-US" sz="1300" b="1" dirty="0">
                <a:solidFill>
                  <a:srgbClr val="1A202C"/>
                </a:solidFill>
                <a:latin typeface="Georgia" pitchFamily="34" charset="0"/>
                <a:ea typeface="Georgia" pitchFamily="34" charset="-122"/>
                <a:cs typeface="Georgia" pitchFamily="34" charset="-120"/>
              </a:rPr>
              <a:t>Projekter</a:t>
            </a:r>
            <a:endParaRPr lang="en-US" sz="1300" dirty="0"/>
          </a:p>
        </p:txBody>
      </p:sp>
      <p:sp>
        <p:nvSpPr>
          <p:cNvPr id="13" name="Text 11"/>
          <p:cNvSpPr/>
          <p:nvPr/>
        </p:nvSpPr>
        <p:spPr>
          <a:xfrm>
            <a:off x="731520" y="4096512"/>
            <a:ext cx="1600200" cy="365760"/>
          </a:xfrm>
          <a:prstGeom prst="rect">
            <a:avLst/>
          </a:prstGeom>
          <a:noFill/>
          <a:ln/>
        </p:spPr>
        <p:txBody>
          <a:bodyPr wrap="square" lIns="0" tIns="0" rIns="0" bIns="0" rtlCol="0" anchor="ctr"/>
          <a:lstStyle/>
          <a:p>
            <a:pPr algn="ctr" indent="0" marL="0">
              <a:buNone/>
            </a:pPr>
            <a:r>
              <a:rPr lang="en-US" sz="1000" i="1" dirty="0">
                <a:solidFill>
                  <a:srgbClr val="718096"/>
                </a:solidFill>
                <a:latin typeface="Calibri" pitchFamily="34" charset="0"/>
                <a:ea typeface="Calibri" pitchFamily="34" charset="-122"/>
                <a:cs typeface="Calibri" pitchFamily="34" charset="-120"/>
              </a:rPr>
              <a:t>Galleri + filter</a:t>
            </a:r>
            <a:endParaRPr lang="en-US" sz="1000" dirty="0"/>
          </a:p>
        </p:txBody>
      </p:sp>
      <p:sp>
        <p:nvSpPr>
          <p:cNvPr id="14" name="Shape 12"/>
          <p:cNvSpPr/>
          <p:nvPr/>
        </p:nvSpPr>
        <p:spPr>
          <a:xfrm>
            <a:off x="3433572" y="3154680"/>
            <a:ext cx="0" cy="228600"/>
          </a:xfrm>
          <a:prstGeom prst="line">
            <a:avLst/>
          </a:prstGeom>
          <a:noFill/>
          <a:ln w="15240">
            <a:solidFill>
              <a:srgbClr val="7A9E9A"/>
            </a:solidFill>
            <a:prstDash val="solid"/>
          </a:ln>
        </p:spPr>
      </p:sp>
      <p:sp>
        <p:nvSpPr>
          <p:cNvPr id="15" name="Shape 13"/>
          <p:cNvSpPr/>
          <p:nvPr/>
        </p:nvSpPr>
        <p:spPr>
          <a:xfrm>
            <a:off x="2542032" y="3383280"/>
            <a:ext cx="1783080" cy="128016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16" name="Shape 14"/>
          <p:cNvSpPr/>
          <p:nvPr/>
        </p:nvSpPr>
        <p:spPr>
          <a:xfrm>
            <a:off x="2542032" y="3383280"/>
            <a:ext cx="1783080" cy="64008"/>
          </a:xfrm>
          <a:prstGeom prst="rect">
            <a:avLst/>
          </a:prstGeom>
          <a:solidFill>
            <a:srgbClr val="7A9E9A"/>
          </a:solidFill>
          <a:ln/>
        </p:spPr>
      </p:sp>
      <p:sp>
        <p:nvSpPr>
          <p:cNvPr id="17" name="Text 15"/>
          <p:cNvSpPr/>
          <p:nvPr/>
        </p:nvSpPr>
        <p:spPr>
          <a:xfrm>
            <a:off x="2633472" y="3611880"/>
            <a:ext cx="1600200" cy="457200"/>
          </a:xfrm>
          <a:prstGeom prst="rect">
            <a:avLst/>
          </a:prstGeom>
          <a:noFill/>
          <a:ln/>
        </p:spPr>
        <p:txBody>
          <a:bodyPr wrap="square" lIns="0" tIns="0" rIns="0" bIns="0" rtlCol="0" anchor="ctr"/>
          <a:lstStyle/>
          <a:p>
            <a:pPr algn="ctr" indent="0" marL="0">
              <a:buNone/>
            </a:pPr>
            <a:r>
              <a:rPr lang="en-US" sz="1300" b="1" dirty="0">
                <a:solidFill>
                  <a:srgbClr val="1A202C"/>
                </a:solidFill>
                <a:latin typeface="Georgia" pitchFamily="34" charset="0"/>
                <a:ea typeface="Georgia" pitchFamily="34" charset="-122"/>
                <a:cs typeface="Georgia" pitchFamily="34" charset="-120"/>
              </a:rPr>
              <a:t>Cases</a:t>
            </a:r>
            <a:endParaRPr lang="en-US" sz="1300" dirty="0"/>
          </a:p>
        </p:txBody>
      </p:sp>
      <p:sp>
        <p:nvSpPr>
          <p:cNvPr id="18" name="Text 16"/>
          <p:cNvSpPr/>
          <p:nvPr/>
        </p:nvSpPr>
        <p:spPr>
          <a:xfrm>
            <a:off x="2633472" y="4096512"/>
            <a:ext cx="1600200" cy="365760"/>
          </a:xfrm>
          <a:prstGeom prst="rect">
            <a:avLst/>
          </a:prstGeom>
          <a:noFill/>
          <a:ln/>
        </p:spPr>
        <p:txBody>
          <a:bodyPr wrap="square" lIns="0" tIns="0" rIns="0" bIns="0" rtlCol="0" anchor="ctr"/>
          <a:lstStyle/>
          <a:p>
            <a:pPr algn="ctr" indent="0" marL="0">
              <a:buNone/>
            </a:pPr>
            <a:r>
              <a:rPr lang="en-US" sz="1000" i="1" dirty="0">
                <a:solidFill>
                  <a:srgbClr val="718096"/>
                </a:solidFill>
                <a:latin typeface="Calibri" pitchFamily="34" charset="0"/>
                <a:ea typeface="Calibri" pitchFamily="34" charset="-122"/>
                <a:cs typeface="Calibri" pitchFamily="34" charset="-120"/>
              </a:rPr>
              <a:t>7 dedikerede sider</a:t>
            </a:r>
            <a:endParaRPr lang="en-US" sz="1000" dirty="0"/>
          </a:p>
        </p:txBody>
      </p:sp>
      <p:sp>
        <p:nvSpPr>
          <p:cNvPr id="19" name="Shape 17"/>
          <p:cNvSpPr/>
          <p:nvPr/>
        </p:nvSpPr>
        <p:spPr>
          <a:xfrm>
            <a:off x="5335524" y="3154680"/>
            <a:ext cx="0" cy="228600"/>
          </a:xfrm>
          <a:prstGeom prst="line">
            <a:avLst/>
          </a:prstGeom>
          <a:noFill/>
          <a:ln w="15240">
            <a:solidFill>
              <a:srgbClr val="7A9E9A"/>
            </a:solidFill>
            <a:prstDash val="solid"/>
          </a:ln>
        </p:spPr>
      </p:sp>
      <p:sp>
        <p:nvSpPr>
          <p:cNvPr id="20" name="Shape 18"/>
          <p:cNvSpPr/>
          <p:nvPr/>
        </p:nvSpPr>
        <p:spPr>
          <a:xfrm>
            <a:off x="4443984" y="3383280"/>
            <a:ext cx="1783080" cy="128016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21" name="Shape 19"/>
          <p:cNvSpPr/>
          <p:nvPr/>
        </p:nvSpPr>
        <p:spPr>
          <a:xfrm>
            <a:off x="4443984" y="3383280"/>
            <a:ext cx="1783080" cy="64008"/>
          </a:xfrm>
          <a:prstGeom prst="rect">
            <a:avLst/>
          </a:prstGeom>
          <a:solidFill>
            <a:srgbClr val="7A9E9A"/>
          </a:solidFill>
          <a:ln/>
        </p:spPr>
      </p:sp>
      <p:sp>
        <p:nvSpPr>
          <p:cNvPr id="22" name="Text 20"/>
          <p:cNvSpPr/>
          <p:nvPr/>
        </p:nvSpPr>
        <p:spPr>
          <a:xfrm>
            <a:off x="4535424" y="3611880"/>
            <a:ext cx="1600200" cy="457200"/>
          </a:xfrm>
          <a:prstGeom prst="rect">
            <a:avLst/>
          </a:prstGeom>
          <a:noFill/>
          <a:ln/>
        </p:spPr>
        <p:txBody>
          <a:bodyPr wrap="square" lIns="0" tIns="0" rIns="0" bIns="0" rtlCol="0" anchor="ctr"/>
          <a:lstStyle/>
          <a:p>
            <a:pPr algn="ctr" indent="0" marL="0">
              <a:buNone/>
            </a:pPr>
            <a:r>
              <a:rPr lang="en-US" sz="1300" b="1" dirty="0">
                <a:solidFill>
                  <a:srgbClr val="1A202C"/>
                </a:solidFill>
                <a:latin typeface="Georgia" pitchFamily="34" charset="0"/>
                <a:ea typeface="Georgia" pitchFamily="34" charset="-122"/>
                <a:cs typeface="Georgia" pitchFamily="34" charset="-120"/>
              </a:rPr>
              <a:t>Book besigtigelse</a:t>
            </a:r>
            <a:endParaRPr lang="en-US" sz="1300" dirty="0"/>
          </a:p>
        </p:txBody>
      </p:sp>
      <p:sp>
        <p:nvSpPr>
          <p:cNvPr id="23" name="Text 21"/>
          <p:cNvSpPr/>
          <p:nvPr/>
        </p:nvSpPr>
        <p:spPr>
          <a:xfrm>
            <a:off x="4535424" y="4096512"/>
            <a:ext cx="1600200" cy="365760"/>
          </a:xfrm>
          <a:prstGeom prst="rect">
            <a:avLst/>
          </a:prstGeom>
          <a:noFill/>
          <a:ln/>
        </p:spPr>
        <p:txBody>
          <a:bodyPr wrap="square" lIns="0" tIns="0" rIns="0" bIns="0" rtlCol="0" anchor="ctr"/>
          <a:lstStyle/>
          <a:p>
            <a:pPr algn="ctr" indent="0" marL="0">
              <a:buNone/>
            </a:pPr>
            <a:r>
              <a:rPr lang="en-US" sz="1000" i="1" dirty="0">
                <a:solidFill>
                  <a:srgbClr val="718096"/>
                </a:solidFill>
                <a:latin typeface="Calibri" pitchFamily="34" charset="0"/>
                <a:ea typeface="Calibri" pitchFamily="34" charset="-122"/>
                <a:cs typeface="Calibri" pitchFamily="34" charset="-120"/>
              </a:rPr>
              <a:t>Live kalender</a:t>
            </a:r>
            <a:endParaRPr lang="en-US" sz="1000" dirty="0"/>
          </a:p>
        </p:txBody>
      </p:sp>
      <p:sp>
        <p:nvSpPr>
          <p:cNvPr id="24" name="Shape 22"/>
          <p:cNvSpPr/>
          <p:nvPr/>
        </p:nvSpPr>
        <p:spPr>
          <a:xfrm>
            <a:off x="7237476" y="3154680"/>
            <a:ext cx="0" cy="228600"/>
          </a:xfrm>
          <a:prstGeom prst="line">
            <a:avLst/>
          </a:prstGeom>
          <a:noFill/>
          <a:ln w="15240">
            <a:solidFill>
              <a:srgbClr val="7A9E9A"/>
            </a:solidFill>
            <a:prstDash val="solid"/>
          </a:ln>
        </p:spPr>
      </p:sp>
      <p:sp>
        <p:nvSpPr>
          <p:cNvPr id="25" name="Shape 23"/>
          <p:cNvSpPr/>
          <p:nvPr/>
        </p:nvSpPr>
        <p:spPr>
          <a:xfrm>
            <a:off x="6345936" y="3383280"/>
            <a:ext cx="1783080" cy="128016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26" name="Shape 24"/>
          <p:cNvSpPr/>
          <p:nvPr/>
        </p:nvSpPr>
        <p:spPr>
          <a:xfrm>
            <a:off x="6345936" y="3383280"/>
            <a:ext cx="1783080" cy="64008"/>
          </a:xfrm>
          <a:prstGeom prst="rect">
            <a:avLst/>
          </a:prstGeom>
          <a:solidFill>
            <a:srgbClr val="7A9E9A"/>
          </a:solidFill>
          <a:ln/>
        </p:spPr>
      </p:sp>
      <p:sp>
        <p:nvSpPr>
          <p:cNvPr id="27" name="Text 25"/>
          <p:cNvSpPr/>
          <p:nvPr/>
        </p:nvSpPr>
        <p:spPr>
          <a:xfrm>
            <a:off x="6437376" y="3611880"/>
            <a:ext cx="1600200" cy="457200"/>
          </a:xfrm>
          <a:prstGeom prst="rect">
            <a:avLst/>
          </a:prstGeom>
          <a:noFill/>
          <a:ln/>
        </p:spPr>
        <p:txBody>
          <a:bodyPr wrap="square" lIns="0" tIns="0" rIns="0" bIns="0" rtlCol="0" anchor="ctr"/>
          <a:lstStyle/>
          <a:p>
            <a:pPr algn="ctr" indent="0" marL="0">
              <a:buNone/>
            </a:pPr>
            <a:r>
              <a:rPr lang="en-US" sz="1300" b="1" dirty="0">
                <a:solidFill>
                  <a:srgbClr val="1A202C"/>
                </a:solidFill>
                <a:latin typeface="Georgia" pitchFamily="34" charset="0"/>
                <a:ea typeface="Georgia" pitchFamily="34" charset="-122"/>
                <a:cs typeface="Georgia" pitchFamily="34" charset="-120"/>
              </a:rPr>
              <a:t>Kontakt</a:t>
            </a:r>
            <a:endParaRPr lang="en-US" sz="1300" dirty="0"/>
          </a:p>
        </p:txBody>
      </p:sp>
      <p:sp>
        <p:nvSpPr>
          <p:cNvPr id="28" name="Text 26"/>
          <p:cNvSpPr/>
          <p:nvPr/>
        </p:nvSpPr>
        <p:spPr>
          <a:xfrm>
            <a:off x="6437376" y="4096512"/>
            <a:ext cx="1600200" cy="365760"/>
          </a:xfrm>
          <a:prstGeom prst="rect">
            <a:avLst/>
          </a:prstGeom>
          <a:noFill/>
          <a:ln/>
        </p:spPr>
        <p:txBody>
          <a:bodyPr wrap="square" lIns="0" tIns="0" rIns="0" bIns="0" rtlCol="0" anchor="ctr"/>
          <a:lstStyle/>
          <a:p>
            <a:pPr algn="ctr" indent="0" marL="0">
              <a:buNone/>
            </a:pPr>
            <a:r>
              <a:rPr lang="en-US" sz="1000" i="1" dirty="0">
                <a:solidFill>
                  <a:srgbClr val="718096"/>
                </a:solidFill>
                <a:latin typeface="Calibri" pitchFamily="34" charset="0"/>
                <a:ea typeface="Calibri" pitchFamily="34" charset="-122"/>
                <a:cs typeface="Calibri" pitchFamily="34" charset="-120"/>
              </a:rPr>
              <a:t>Generel formular</a:t>
            </a:r>
            <a:endParaRPr lang="en-US" sz="1000" dirty="0"/>
          </a:p>
        </p:txBody>
      </p:sp>
      <p:sp>
        <p:nvSpPr>
          <p:cNvPr id="29" name="Shape 27"/>
          <p:cNvSpPr/>
          <p:nvPr/>
        </p:nvSpPr>
        <p:spPr>
          <a:xfrm>
            <a:off x="9139428" y="3154680"/>
            <a:ext cx="0" cy="228600"/>
          </a:xfrm>
          <a:prstGeom prst="line">
            <a:avLst/>
          </a:prstGeom>
          <a:noFill/>
          <a:ln w="15240">
            <a:solidFill>
              <a:srgbClr val="7A9E9A"/>
            </a:solidFill>
            <a:prstDash val="solid"/>
          </a:ln>
        </p:spPr>
      </p:sp>
      <p:sp>
        <p:nvSpPr>
          <p:cNvPr id="30" name="Shape 28"/>
          <p:cNvSpPr/>
          <p:nvPr/>
        </p:nvSpPr>
        <p:spPr>
          <a:xfrm>
            <a:off x="8247888" y="3383280"/>
            <a:ext cx="1783080" cy="128016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31" name="Shape 29"/>
          <p:cNvSpPr/>
          <p:nvPr/>
        </p:nvSpPr>
        <p:spPr>
          <a:xfrm>
            <a:off x="8247888" y="3383280"/>
            <a:ext cx="1783080" cy="64008"/>
          </a:xfrm>
          <a:prstGeom prst="rect">
            <a:avLst/>
          </a:prstGeom>
          <a:solidFill>
            <a:srgbClr val="7A9E9A"/>
          </a:solidFill>
          <a:ln/>
        </p:spPr>
      </p:sp>
      <p:sp>
        <p:nvSpPr>
          <p:cNvPr id="32" name="Text 30"/>
          <p:cNvSpPr/>
          <p:nvPr/>
        </p:nvSpPr>
        <p:spPr>
          <a:xfrm>
            <a:off x="8339328" y="3611880"/>
            <a:ext cx="1600200" cy="457200"/>
          </a:xfrm>
          <a:prstGeom prst="rect">
            <a:avLst/>
          </a:prstGeom>
          <a:noFill/>
          <a:ln/>
        </p:spPr>
        <p:txBody>
          <a:bodyPr wrap="square" lIns="0" tIns="0" rIns="0" bIns="0" rtlCol="0" anchor="ctr"/>
          <a:lstStyle/>
          <a:p>
            <a:pPr algn="ctr" indent="0" marL="0">
              <a:buNone/>
            </a:pPr>
            <a:r>
              <a:rPr lang="en-US" sz="1300" b="1" dirty="0">
                <a:solidFill>
                  <a:srgbClr val="1A202C"/>
                </a:solidFill>
                <a:latin typeface="Georgia" pitchFamily="34" charset="0"/>
                <a:ea typeface="Georgia" pitchFamily="34" charset="-122"/>
                <a:cs typeface="Georgia" pitchFamily="34" charset="-120"/>
              </a:rPr>
              <a:t>Om os / Adam</a:t>
            </a:r>
            <a:endParaRPr lang="en-US" sz="1300" dirty="0"/>
          </a:p>
        </p:txBody>
      </p:sp>
      <p:sp>
        <p:nvSpPr>
          <p:cNvPr id="33" name="Text 31"/>
          <p:cNvSpPr/>
          <p:nvPr/>
        </p:nvSpPr>
        <p:spPr>
          <a:xfrm>
            <a:off x="8339328" y="4096512"/>
            <a:ext cx="1600200" cy="365760"/>
          </a:xfrm>
          <a:prstGeom prst="rect">
            <a:avLst/>
          </a:prstGeom>
          <a:noFill/>
          <a:ln/>
        </p:spPr>
        <p:txBody>
          <a:bodyPr wrap="square" lIns="0" tIns="0" rIns="0" bIns="0" rtlCol="0" anchor="ctr"/>
          <a:lstStyle/>
          <a:p>
            <a:pPr algn="ctr" indent="0" marL="0">
              <a:buNone/>
            </a:pPr>
            <a:r>
              <a:rPr lang="en-US" sz="1000" i="1" dirty="0">
                <a:solidFill>
                  <a:srgbClr val="718096"/>
                </a:solidFill>
                <a:latin typeface="Calibri" pitchFamily="34" charset="0"/>
                <a:ea typeface="Calibri" pitchFamily="34" charset="-122"/>
                <a:cs typeface="Calibri" pitchFamily="34" charset="-120"/>
              </a:rPr>
              <a:t>Brand &amp; USPs</a:t>
            </a:r>
            <a:endParaRPr lang="en-US" sz="1000" dirty="0"/>
          </a:p>
        </p:txBody>
      </p:sp>
      <p:sp>
        <p:nvSpPr>
          <p:cNvPr id="34" name="Shape 32"/>
          <p:cNvSpPr/>
          <p:nvPr/>
        </p:nvSpPr>
        <p:spPr>
          <a:xfrm>
            <a:off x="11041380" y="3154680"/>
            <a:ext cx="0" cy="228600"/>
          </a:xfrm>
          <a:prstGeom prst="line">
            <a:avLst/>
          </a:prstGeom>
          <a:noFill/>
          <a:ln w="15240">
            <a:solidFill>
              <a:srgbClr val="7A9E9A"/>
            </a:solidFill>
            <a:prstDash val="solid"/>
          </a:ln>
        </p:spPr>
      </p:sp>
      <p:sp>
        <p:nvSpPr>
          <p:cNvPr id="35" name="Shape 33"/>
          <p:cNvSpPr/>
          <p:nvPr/>
        </p:nvSpPr>
        <p:spPr>
          <a:xfrm>
            <a:off x="10149840" y="3383280"/>
            <a:ext cx="1783080" cy="128016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36" name="Shape 34"/>
          <p:cNvSpPr/>
          <p:nvPr/>
        </p:nvSpPr>
        <p:spPr>
          <a:xfrm>
            <a:off x="10149840" y="3383280"/>
            <a:ext cx="1783080" cy="64008"/>
          </a:xfrm>
          <a:prstGeom prst="rect">
            <a:avLst/>
          </a:prstGeom>
          <a:solidFill>
            <a:srgbClr val="7A9E9A"/>
          </a:solidFill>
          <a:ln/>
        </p:spPr>
      </p:sp>
      <p:sp>
        <p:nvSpPr>
          <p:cNvPr id="37" name="Text 35"/>
          <p:cNvSpPr/>
          <p:nvPr/>
        </p:nvSpPr>
        <p:spPr>
          <a:xfrm>
            <a:off x="10241280" y="3611880"/>
            <a:ext cx="1600200" cy="457200"/>
          </a:xfrm>
          <a:prstGeom prst="rect">
            <a:avLst/>
          </a:prstGeom>
          <a:noFill/>
          <a:ln/>
        </p:spPr>
        <p:txBody>
          <a:bodyPr wrap="square" lIns="0" tIns="0" rIns="0" bIns="0" rtlCol="0" anchor="ctr"/>
          <a:lstStyle/>
          <a:p>
            <a:pPr algn="ctr" indent="0" marL="0">
              <a:buNone/>
            </a:pPr>
            <a:r>
              <a:rPr lang="en-US" sz="1300" b="1" dirty="0">
                <a:solidFill>
                  <a:srgbClr val="1A202C"/>
                </a:solidFill>
                <a:latin typeface="Georgia" pitchFamily="34" charset="0"/>
                <a:ea typeface="Georgia" pitchFamily="34" charset="-122"/>
                <a:cs typeface="Georgia" pitchFamily="34" charset="-120"/>
              </a:rPr>
              <a:t>Privatliv &amp; Cookies</a:t>
            </a:r>
            <a:endParaRPr lang="en-US" sz="1300" dirty="0"/>
          </a:p>
        </p:txBody>
      </p:sp>
      <p:sp>
        <p:nvSpPr>
          <p:cNvPr id="38" name="Text 36"/>
          <p:cNvSpPr/>
          <p:nvPr/>
        </p:nvSpPr>
        <p:spPr>
          <a:xfrm>
            <a:off x="10241280" y="4096512"/>
            <a:ext cx="1600200" cy="365760"/>
          </a:xfrm>
          <a:prstGeom prst="rect">
            <a:avLst/>
          </a:prstGeom>
          <a:noFill/>
          <a:ln/>
        </p:spPr>
        <p:txBody>
          <a:bodyPr wrap="square" lIns="0" tIns="0" rIns="0" bIns="0" rtlCol="0" anchor="ctr"/>
          <a:lstStyle/>
          <a:p>
            <a:pPr algn="ctr" indent="0" marL="0">
              <a:buNone/>
            </a:pPr>
            <a:r>
              <a:rPr lang="en-US" sz="1000" i="1" dirty="0">
                <a:solidFill>
                  <a:srgbClr val="718096"/>
                </a:solidFill>
                <a:latin typeface="Calibri" pitchFamily="34" charset="0"/>
                <a:ea typeface="Calibri" pitchFamily="34" charset="-122"/>
                <a:cs typeface="Calibri" pitchFamily="34" charset="-120"/>
              </a:rPr>
              <a:t>GDPR-sider</a:t>
            </a:r>
            <a:endParaRPr lang="en-US" sz="1000" dirty="0"/>
          </a:p>
        </p:txBody>
      </p:sp>
      <p:sp>
        <p:nvSpPr>
          <p:cNvPr id="39" name="Text 37"/>
          <p:cNvSpPr/>
          <p:nvPr/>
        </p:nvSpPr>
        <p:spPr>
          <a:xfrm>
            <a:off x="640080" y="4937760"/>
            <a:ext cx="10972800" cy="365760"/>
          </a:xfrm>
          <a:prstGeom prst="rect">
            <a:avLst/>
          </a:prstGeom>
          <a:noFill/>
          <a:ln/>
        </p:spPr>
        <p:txBody>
          <a:bodyPr wrap="square" lIns="0" tIns="0" rIns="0" bIns="0" rtlCol="0" anchor="ctr"/>
          <a:lstStyle/>
          <a:p>
            <a:pPr algn="ctr" indent="0" marL="0">
              <a:buNone/>
            </a:pPr>
            <a:r>
              <a:rPr lang="en-US" sz="1200" i="1" dirty="0">
                <a:solidFill>
                  <a:srgbClr val="5A7E7A"/>
                </a:solidFill>
                <a:latin typeface="Calibri" pitchFamily="34" charset="0"/>
                <a:ea typeface="Calibri" pitchFamily="34" charset="-122"/>
                <a:cs typeface="Calibri" pitchFamily="34" charset="-120"/>
              </a:rPr>
              <a:t>Begge sprog tilgængelige på alle sider · /da og /en</a:t>
            </a:r>
            <a:endParaRPr lang="en-US" sz="1200" dirty="0"/>
          </a:p>
        </p:txBody>
      </p:sp>
      <p:sp>
        <p:nvSpPr>
          <p:cNvPr id="40" name="Shape 38"/>
          <p:cNvSpPr/>
          <p:nvPr/>
        </p:nvSpPr>
        <p:spPr>
          <a:xfrm>
            <a:off x="1371600" y="5486400"/>
            <a:ext cx="9418320" cy="914400"/>
          </a:xfrm>
          <a:prstGeom prst="rect">
            <a:avLst/>
          </a:prstGeom>
          <a:solidFill>
            <a:srgbClr val="EDF2F1"/>
          </a:solidFill>
          <a:ln w="8890">
            <a:solidFill>
              <a:srgbClr val="7A9E9A"/>
            </a:solidFill>
            <a:prstDash val="solid"/>
          </a:ln>
        </p:spPr>
      </p:sp>
      <p:pic>
        <p:nvPicPr>
          <p:cNvPr id="41" name="Image 0" descr="preencoded.png">    </p:cNvPr>
          <p:cNvPicPr>
            <a:picLocks noChangeAspect="1"/>
          </p:cNvPicPr>
          <p:nvPr/>
        </p:nvPicPr>
        <p:blipFill>
          <a:blip r:embed="rId1"/>
          <a:stretch>
            <a:fillRect/>
          </a:stretch>
        </p:blipFill>
        <p:spPr>
          <a:xfrm>
            <a:off x="1645920" y="5742432"/>
            <a:ext cx="365760" cy="365760"/>
          </a:xfrm>
          <a:prstGeom prst="rect">
            <a:avLst/>
          </a:prstGeom>
        </p:spPr>
      </p:pic>
      <p:sp>
        <p:nvSpPr>
          <p:cNvPr id="42" name="Text 39"/>
          <p:cNvSpPr/>
          <p:nvPr/>
        </p:nvSpPr>
        <p:spPr>
          <a:xfrm>
            <a:off x="2194560" y="5605272"/>
            <a:ext cx="4572000" cy="320040"/>
          </a:xfrm>
          <a:prstGeom prst="rect">
            <a:avLst/>
          </a:prstGeom>
          <a:noFill/>
          <a:ln/>
        </p:spPr>
        <p:txBody>
          <a:bodyPr wrap="square" lIns="0" tIns="0" rIns="0" bIns="0" rtlCol="0" anchor="ctr"/>
          <a:lstStyle/>
          <a:p>
            <a:pPr indent="0" marL="0">
              <a:buNone/>
            </a:pPr>
            <a:r>
              <a:rPr lang="en-US" sz="1300" b="1" dirty="0">
                <a:solidFill>
                  <a:srgbClr val="1A202C"/>
                </a:solidFill>
                <a:latin typeface="Georgia" pitchFamily="34" charset="0"/>
                <a:ea typeface="Georgia" pitchFamily="34" charset="-122"/>
                <a:cs typeface="Georgia" pitchFamily="34" charset="-120"/>
              </a:rPr>
              <a:t>De 7 dedikerede case-sider:</a:t>
            </a:r>
            <a:endParaRPr lang="en-US" sz="1300" dirty="0"/>
          </a:p>
        </p:txBody>
      </p:sp>
      <p:sp>
        <p:nvSpPr>
          <p:cNvPr id="43" name="Text 40"/>
          <p:cNvSpPr/>
          <p:nvPr/>
        </p:nvSpPr>
        <p:spPr>
          <a:xfrm>
            <a:off x="2194560" y="5925312"/>
            <a:ext cx="8503920" cy="45720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Hotel Mayfair · Holmstrup, Jyderup · Kulturporten Farum · Lygten KBH NV · Mjølnerparken · Novo Nordisk Kalundborg · Novo Nordisk Lyngby</a:t>
            </a:r>
            <a:endParaRPr lang="en-US" sz="1100" dirty="0"/>
          </a:p>
        </p:txBody>
      </p:sp>
      <p:sp>
        <p:nvSpPr>
          <p:cNvPr id="44" name="Text 41"/>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45" name="Text 42"/>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04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02C"/>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A8C2BF"/>
                </a:solidFill>
                <a:latin typeface="Calibri" pitchFamily="34" charset="0"/>
                <a:ea typeface="Calibri" pitchFamily="34" charset="-122"/>
                <a:cs typeface="Calibri" pitchFamily="34" charset="-120"/>
              </a:rPr>
              <a:t>FLOW 1 · BOOKING</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Kunden booker tid hos Adam — automatisk</a:t>
            </a:r>
            <a:endParaRPr lang="en-US" sz="3200" dirty="0"/>
          </a:p>
        </p:txBody>
      </p:sp>
      <p:sp>
        <p:nvSpPr>
          <p:cNvPr id="5" name="Text 3"/>
          <p:cNvSpPr/>
          <p:nvPr/>
        </p:nvSpPr>
        <p:spPr>
          <a:xfrm>
            <a:off x="640080" y="1645920"/>
            <a:ext cx="10972800" cy="365760"/>
          </a:xfrm>
          <a:prstGeom prst="rect">
            <a:avLst/>
          </a:prstGeom>
          <a:noFill/>
          <a:ln/>
        </p:spPr>
        <p:txBody>
          <a:bodyPr wrap="square" lIns="0" tIns="0" rIns="0" bIns="0" rtlCol="0" anchor="ctr"/>
          <a:lstStyle/>
          <a:p>
            <a:pPr indent="0" marL="0">
              <a:buNone/>
            </a:pPr>
            <a:r>
              <a:rPr lang="en-US" sz="1300" i="1" dirty="0">
                <a:solidFill>
                  <a:srgbClr val="A0AEC0"/>
                </a:solidFill>
                <a:latin typeface="Calibri" pitchFamily="34" charset="0"/>
                <a:ea typeface="Calibri" pitchFamily="34" charset="-122"/>
                <a:cs typeface="Calibri" pitchFamily="34" charset="-120"/>
              </a:rPr>
              <a:t>Fra kundens første klik til mødet er i Adams kalender — ingen manuel håndtering.</a:t>
            </a:r>
            <a:endParaRPr lang="en-US" sz="1300" dirty="0"/>
          </a:p>
        </p:txBody>
      </p:sp>
      <p:sp>
        <p:nvSpPr>
          <p:cNvPr id="6" name="Shape 4"/>
          <p:cNvSpPr/>
          <p:nvPr/>
        </p:nvSpPr>
        <p:spPr>
          <a:xfrm>
            <a:off x="548640" y="2377440"/>
            <a:ext cx="1874520" cy="2468880"/>
          </a:xfrm>
          <a:prstGeom prst="rect">
            <a:avLst/>
          </a:prstGeom>
          <a:solidFill>
            <a:srgbClr val="2D3748"/>
          </a:solidFill>
          <a:ln w="6350">
            <a:solidFill>
              <a:srgbClr val="7A9E9A"/>
            </a:solidFill>
            <a:prstDash val="solid"/>
          </a:ln>
        </p:spPr>
      </p:sp>
      <p:sp>
        <p:nvSpPr>
          <p:cNvPr id="7" name="Shape 5"/>
          <p:cNvSpPr/>
          <p:nvPr/>
        </p:nvSpPr>
        <p:spPr>
          <a:xfrm>
            <a:off x="1120140" y="2606040"/>
            <a:ext cx="731520" cy="731520"/>
          </a:xfrm>
          <a:prstGeom prst="ellipse">
            <a:avLst/>
          </a:prstGeom>
          <a:solidFill>
            <a:srgbClr val="7A9E9A"/>
          </a:solidFill>
          <a:ln/>
        </p:spPr>
      </p:sp>
      <p:pic>
        <p:nvPicPr>
          <p:cNvPr id="8" name="Image 0" descr="preencoded.png">    </p:cNvPr>
          <p:cNvPicPr>
            <a:picLocks noChangeAspect="1"/>
          </p:cNvPicPr>
          <p:nvPr/>
        </p:nvPicPr>
        <p:blipFill>
          <a:blip r:embed="rId1"/>
          <a:stretch>
            <a:fillRect/>
          </a:stretch>
        </p:blipFill>
        <p:spPr>
          <a:xfrm>
            <a:off x="1303020" y="2788920"/>
            <a:ext cx="365760" cy="365760"/>
          </a:xfrm>
          <a:prstGeom prst="rect">
            <a:avLst/>
          </a:prstGeom>
        </p:spPr>
      </p:pic>
      <p:sp>
        <p:nvSpPr>
          <p:cNvPr id="9" name="Text 6"/>
          <p:cNvSpPr/>
          <p:nvPr/>
        </p:nvSpPr>
        <p:spPr>
          <a:xfrm>
            <a:off x="658368" y="3429000"/>
            <a:ext cx="1655064" cy="640080"/>
          </a:xfrm>
          <a:prstGeom prst="rect">
            <a:avLst/>
          </a:prstGeom>
          <a:noFill/>
          <a:ln/>
        </p:spPr>
        <p:txBody>
          <a:bodyPr wrap="square" lIns="0" tIns="0" rIns="0" bIns="0" rtlCol="0" anchor="t"/>
          <a:lstStyle/>
          <a:p>
            <a:pPr algn="ctr" indent="0" marL="0">
              <a:buNone/>
            </a:pPr>
            <a:r>
              <a:rPr lang="en-US" sz="1200" b="1" dirty="0">
                <a:solidFill>
                  <a:srgbClr val="FFFFFF"/>
                </a:solidFill>
                <a:latin typeface="Georgia" pitchFamily="34" charset="0"/>
                <a:ea typeface="Georgia" pitchFamily="34" charset="-122"/>
                <a:cs typeface="Georgia" pitchFamily="34" charset="-120"/>
              </a:rPr>
              <a:t>1. Kunden besøger /book-besigtigelse</a:t>
            </a:r>
            <a:endParaRPr lang="en-US" sz="1200" dirty="0"/>
          </a:p>
        </p:txBody>
      </p:sp>
      <p:sp>
        <p:nvSpPr>
          <p:cNvPr id="10" name="Text 7"/>
          <p:cNvSpPr/>
          <p:nvPr/>
        </p:nvSpPr>
        <p:spPr>
          <a:xfrm>
            <a:off x="658368" y="4069080"/>
            <a:ext cx="1655064" cy="713232"/>
          </a:xfrm>
          <a:prstGeom prst="rect">
            <a:avLst/>
          </a:prstGeom>
          <a:noFill/>
          <a:ln/>
        </p:spPr>
        <p:txBody>
          <a:bodyPr wrap="square" lIns="0" tIns="0" rIns="0" bIns="0" rtlCol="0" anchor="t"/>
          <a:lstStyle/>
          <a:p>
            <a:pPr algn="ctr" indent="0" marL="0">
              <a:buNone/>
            </a:pPr>
            <a:r>
              <a:rPr lang="en-US" sz="950" dirty="0">
                <a:solidFill>
                  <a:srgbClr val="A8C2BF"/>
                </a:solidFill>
                <a:latin typeface="Calibri" pitchFamily="34" charset="0"/>
                <a:ea typeface="Calibri" pitchFamily="34" charset="-122"/>
                <a:cs typeface="Calibri" pitchFamily="34" charset="-120"/>
              </a:rPr>
              <a:t>Udfylder formular: navn, kontakt, adresse, opgavebeskrivelse, billeder</a:t>
            </a:r>
            <a:endParaRPr lang="en-US" sz="950" dirty="0"/>
          </a:p>
        </p:txBody>
      </p:sp>
      <p:sp>
        <p:nvSpPr>
          <p:cNvPr id="11" name="Shape 8"/>
          <p:cNvSpPr/>
          <p:nvPr/>
        </p:nvSpPr>
        <p:spPr>
          <a:xfrm>
            <a:off x="2478024" y="2377440"/>
            <a:ext cx="1874520" cy="2468880"/>
          </a:xfrm>
          <a:prstGeom prst="rect">
            <a:avLst/>
          </a:prstGeom>
          <a:solidFill>
            <a:srgbClr val="2D3748"/>
          </a:solidFill>
          <a:ln w="6350">
            <a:solidFill>
              <a:srgbClr val="7A9E9A"/>
            </a:solidFill>
            <a:prstDash val="solid"/>
          </a:ln>
        </p:spPr>
      </p:sp>
      <p:sp>
        <p:nvSpPr>
          <p:cNvPr id="12" name="Shape 9"/>
          <p:cNvSpPr/>
          <p:nvPr/>
        </p:nvSpPr>
        <p:spPr>
          <a:xfrm>
            <a:off x="3049524" y="2606040"/>
            <a:ext cx="731520" cy="731520"/>
          </a:xfrm>
          <a:prstGeom prst="ellipse">
            <a:avLst/>
          </a:prstGeom>
          <a:solidFill>
            <a:srgbClr val="7A9E9A"/>
          </a:solidFill>
          <a:ln/>
        </p:spPr>
      </p:sp>
      <p:pic>
        <p:nvPicPr>
          <p:cNvPr id="13" name="Image 1" descr="preencoded.png">    </p:cNvPr>
          <p:cNvPicPr>
            <a:picLocks noChangeAspect="1"/>
          </p:cNvPicPr>
          <p:nvPr/>
        </p:nvPicPr>
        <p:blipFill>
          <a:blip r:embed="rId2"/>
          <a:stretch>
            <a:fillRect/>
          </a:stretch>
        </p:blipFill>
        <p:spPr>
          <a:xfrm>
            <a:off x="3232404" y="2788920"/>
            <a:ext cx="365760" cy="365760"/>
          </a:xfrm>
          <a:prstGeom prst="rect">
            <a:avLst/>
          </a:prstGeom>
        </p:spPr>
      </p:pic>
      <p:sp>
        <p:nvSpPr>
          <p:cNvPr id="14" name="Text 10"/>
          <p:cNvSpPr/>
          <p:nvPr/>
        </p:nvSpPr>
        <p:spPr>
          <a:xfrm>
            <a:off x="2587752" y="3429000"/>
            <a:ext cx="1655064" cy="640080"/>
          </a:xfrm>
          <a:prstGeom prst="rect">
            <a:avLst/>
          </a:prstGeom>
          <a:noFill/>
          <a:ln/>
        </p:spPr>
        <p:txBody>
          <a:bodyPr wrap="square" lIns="0" tIns="0" rIns="0" bIns="0" rtlCol="0" anchor="t"/>
          <a:lstStyle/>
          <a:p>
            <a:pPr algn="ctr" indent="0" marL="0">
              <a:buNone/>
            </a:pPr>
            <a:r>
              <a:rPr lang="en-US" sz="1200" b="1" dirty="0">
                <a:solidFill>
                  <a:srgbClr val="FFFFFF"/>
                </a:solidFill>
                <a:latin typeface="Georgia" pitchFamily="34" charset="0"/>
                <a:ea typeface="Georgia" pitchFamily="34" charset="-122"/>
                <a:cs typeface="Georgia" pitchFamily="34" charset="-120"/>
              </a:rPr>
              <a:t>2. Billeder uploades til Google Drive</a:t>
            </a:r>
            <a:endParaRPr lang="en-US" sz="1200" dirty="0"/>
          </a:p>
        </p:txBody>
      </p:sp>
      <p:sp>
        <p:nvSpPr>
          <p:cNvPr id="15" name="Text 11"/>
          <p:cNvSpPr/>
          <p:nvPr/>
        </p:nvSpPr>
        <p:spPr>
          <a:xfrm>
            <a:off x="2587752" y="4069080"/>
            <a:ext cx="1655064" cy="713232"/>
          </a:xfrm>
          <a:prstGeom prst="rect">
            <a:avLst/>
          </a:prstGeom>
          <a:noFill/>
          <a:ln/>
        </p:spPr>
        <p:txBody>
          <a:bodyPr wrap="square" lIns="0" tIns="0" rIns="0" bIns="0" rtlCol="0" anchor="t"/>
          <a:lstStyle/>
          <a:p>
            <a:pPr algn="ctr" indent="0" marL="0">
              <a:buNone/>
            </a:pPr>
            <a:r>
              <a:rPr lang="en-US" sz="950" dirty="0">
                <a:solidFill>
                  <a:srgbClr val="A8C2BF"/>
                </a:solidFill>
                <a:latin typeface="Calibri" pitchFamily="34" charset="0"/>
                <a:ea typeface="Calibri" pitchFamily="34" charset="-122"/>
                <a:cs typeface="Calibri" pitchFamily="34" charset="-120"/>
              </a:rPr>
              <a:t>Automatisk mappe pr. lead — Adam kan se billeder før mødet</a:t>
            </a:r>
            <a:endParaRPr lang="en-US" sz="950" dirty="0"/>
          </a:p>
        </p:txBody>
      </p:sp>
      <p:sp>
        <p:nvSpPr>
          <p:cNvPr id="16" name="Shape 12"/>
          <p:cNvSpPr/>
          <p:nvPr/>
        </p:nvSpPr>
        <p:spPr>
          <a:xfrm>
            <a:off x="4407408" y="2377440"/>
            <a:ext cx="1874520" cy="2468880"/>
          </a:xfrm>
          <a:prstGeom prst="rect">
            <a:avLst/>
          </a:prstGeom>
          <a:solidFill>
            <a:srgbClr val="2D3748"/>
          </a:solidFill>
          <a:ln w="6350">
            <a:solidFill>
              <a:srgbClr val="7A9E9A"/>
            </a:solidFill>
            <a:prstDash val="solid"/>
          </a:ln>
        </p:spPr>
      </p:sp>
      <p:sp>
        <p:nvSpPr>
          <p:cNvPr id="17" name="Shape 13"/>
          <p:cNvSpPr/>
          <p:nvPr/>
        </p:nvSpPr>
        <p:spPr>
          <a:xfrm>
            <a:off x="4978908" y="2606040"/>
            <a:ext cx="731520" cy="731520"/>
          </a:xfrm>
          <a:prstGeom prst="ellipse">
            <a:avLst/>
          </a:prstGeom>
          <a:solidFill>
            <a:srgbClr val="7A9E9A"/>
          </a:solidFill>
          <a:ln/>
        </p:spPr>
      </p:sp>
      <p:pic>
        <p:nvPicPr>
          <p:cNvPr id="18" name="Image 2" descr="preencoded.png">    </p:cNvPr>
          <p:cNvPicPr>
            <a:picLocks noChangeAspect="1"/>
          </p:cNvPicPr>
          <p:nvPr/>
        </p:nvPicPr>
        <p:blipFill>
          <a:blip r:embed="rId3"/>
          <a:stretch>
            <a:fillRect/>
          </a:stretch>
        </p:blipFill>
        <p:spPr>
          <a:xfrm>
            <a:off x="5161788" y="2788920"/>
            <a:ext cx="365760" cy="365760"/>
          </a:xfrm>
          <a:prstGeom prst="rect">
            <a:avLst/>
          </a:prstGeom>
        </p:spPr>
      </p:pic>
      <p:sp>
        <p:nvSpPr>
          <p:cNvPr id="19" name="Text 14"/>
          <p:cNvSpPr/>
          <p:nvPr/>
        </p:nvSpPr>
        <p:spPr>
          <a:xfrm>
            <a:off x="4517136" y="3429000"/>
            <a:ext cx="1655064" cy="640080"/>
          </a:xfrm>
          <a:prstGeom prst="rect">
            <a:avLst/>
          </a:prstGeom>
          <a:noFill/>
          <a:ln/>
        </p:spPr>
        <p:txBody>
          <a:bodyPr wrap="square" lIns="0" tIns="0" rIns="0" bIns="0" rtlCol="0" anchor="t"/>
          <a:lstStyle/>
          <a:p>
            <a:pPr algn="ctr" indent="0" marL="0">
              <a:buNone/>
            </a:pPr>
            <a:r>
              <a:rPr lang="en-US" sz="1200" b="1" dirty="0">
                <a:solidFill>
                  <a:srgbClr val="FFFFFF"/>
                </a:solidFill>
                <a:latin typeface="Georgia" pitchFamily="34" charset="0"/>
                <a:ea typeface="Georgia" pitchFamily="34" charset="-122"/>
                <a:cs typeface="Georgia" pitchFamily="34" charset="-120"/>
              </a:rPr>
              <a:t>3. Kunden vælger ledig tid</a:t>
            </a:r>
            <a:endParaRPr lang="en-US" sz="1200" dirty="0"/>
          </a:p>
        </p:txBody>
      </p:sp>
      <p:sp>
        <p:nvSpPr>
          <p:cNvPr id="20" name="Text 15"/>
          <p:cNvSpPr/>
          <p:nvPr/>
        </p:nvSpPr>
        <p:spPr>
          <a:xfrm>
            <a:off x="4517136" y="4069080"/>
            <a:ext cx="1655064" cy="713232"/>
          </a:xfrm>
          <a:prstGeom prst="rect">
            <a:avLst/>
          </a:prstGeom>
          <a:noFill/>
          <a:ln/>
        </p:spPr>
        <p:txBody>
          <a:bodyPr wrap="square" lIns="0" tIns="0" rIns="0" bIns="0" rtlCol="0" anchor="t"/>
          <a:lstStyle/>
          <a:p>
            <a:pPr algn="ctr" indent="0" marL="0">
              <a:buNone/>
            </a:pPr>
            <a:r>
              <a:rPr lang="en-US" sz="950" dirty="0">
                <a:solidFill>
                  <a:srgbClr val="A8C2BF"/>
                </a:solidFill>
                <a:latin typeface="Calibri" pitchFamily="34" charset="0"/>
                <a:ea typeface="Calibri" pitchFamily="34" charset="-122"/>
                <a:cs typeface="Calibri" pitchFamily="34" charset="-120"/>
              </a:rPr>
              <a:t>Calendly viser kun tider Adam reelt er ledig (Google Calendar-sync)</a:t>
            </a:r>
            <a:endParaRPr lang="en-US" sz="950" dirty="0"/>
          </a:p>
        </p:txBody>
      </p:sp>
      <p:sp>
        <p:nvSpPr>
          <p:cNvPr id="21" name="Shape 16"/>
          <p:cNvSpPr/>
          <p:nvPr/>
        </p:nvSpPr>
        <p:spPr>
          <a:xfrm>
            <a:off x="6336792" y="2377440"/>
            <a:ext cx="1874520" cy="2468880"/>
          </a:xfrm>
          <a:prstGeom prst="rect">
            <a:avLst/>
          </a:prstGeom>
          <a:solidFill>
            <a:srgbClr val="2D3748"/>
          </a:solidFill>
          <a:ln w="6350">
            <a:solidFill>
              <a:srgbClr val="7A9E9A"/>
            </a:solidFill>
            <a:prstDash val="solid"/>
          </a:ln>
        </p:spPr>
      </p:sp>
      <p:sp>
        <p:nvSpPr>
          <p:cNvPr id="22" name="Shape 17"/>
          <p:cNvSpPr/>
          <p:nvPr/>
        </p:nvSpPr>
        <p:spPr>
          <a:xfrm>
            <a:off x="6908292" y="2606040"/>
            <a:ext cx="731520" cy="731520"/>
          </a:xfrm>
          <a:prstGeom prst="ellipse">
            <a:avLst/>
          </a:prstGeom>
          <a:solidFill>
            <a:srgbClr val="7A9E9A"/>
          </a:solidFill>
          <a:ln/>
        </p:spPr>
      </p:sp>
      <p:pic>
        <p:nvPicPr>
          <p:cNvPr id="23" name="Image 3" descr="preencoded.png">    </p:cNvPr>
          <p:cNvPicPr>
            <a:picLocks noChangeAspect="1"/>
          </p:cNvPicPr>
          <p:nvPr/>
        </p:nvPicPr>
        <p:blipFill>
          <a:blip r:embed="rId4"/>
          <a:stretch>
            <a:fillRect/>
          </a:stretch>
        </p:blipFill>
        <p:spPr>
          <a:xfrm>
            <a:off x="7091172" y="2788920"/>
            <a:ext cx="365760" cy="365760"/>
          </a:xfrm>
          <a:prstGeom prst="rect">
            <a:avLst/>
          </a:prstGeom>
        </p:spPr>
      </p:pic>
      <p:sp>
        <p:nvSpPr>
          <p:cNvPr id="24" name="Text 18"/>
          <p:cNvSpPr/>
          <p:nvPr/>
        </p:nvSpPr>
        <p:spPr>
          <a:xfrm>
            <a:off x="6446520" y="3429000"/>
            <a:ext cx="1655064" cy="640080"/>
          </a:xfrm>
          <a:prstGeom prst="rect">
            <a:avLst/>
          </a:prstGeom>
          <a:noFill/>
          <a:ln/>
        </p:spPr>
        <p:txBody>
          <a:bodyPr wrap="square" lIns="0" tIns="0" rIns="0" bIns="0" rtlCol="0" anchor="t"/>
          <a:lstStyle/>
          <a:p>
            <a:pPr algn="ctr" indent="0" marL="0">
              <a:buNone/>
            </a:pPr>
            <a:r>
              <a:rPr lang="en-US" sz="1200" b="1" dirty="0">
                <a:solidFill>
                  <a:srgbClr val="FFFFFF"/>
                </a:solidFill>
                <a:latin typeface="Georgia" pitchFamily="34" charset="0"/>
                <a:ea typeface="Georgia" pitchFamily="34" charset="-122"/>
                <a:cs typeface="Georgia" pitchFamily="34" charset="-120"/>
              </a:rPr>
              <a:t>4. Møde oprettes automatisk</a:t>
            </a:r>
            <a:endParaRPr lang="en-US" sz="1200" dirty="0"/>
          </a:p>
        </p:txBody>
      </p:sp>
      <p:sp>
        <p:nvSpPr>
          <p:cNvPr id="25" name="Text 19"/>
          <p:cNvSpPr/>
          <p:nvPr/>
        </p:nvSpPr>
        <p:spPr>
          <a:xfrm>
            <a:off x="6446520" y="4069080"/>
            <a:ext cx="1655064" cy="713232"/>
          </a:xfrm>
          <a:prstGeom prst="rect">
            <a:avLst/>
          </a:prstGeom>
          <a:noFill/>
          <a:ln/>
        </p:spPr>
        <p:txBody>
          <a:bodyPr wrap="square" lIns="0" tIns="0" rIns="0" bIns="0" rtlCol="0" anchor="t"/>
          <a:lstStyle/>
          <a:p>
            <a:pPr algn="ctr" indent="0" marL="0">
              <a:buNone/>
            </a:pPr>
            <a:r>
              <a:rPr lang="en-US" sz="950" dirty="0">
                <a:solidFill>
                  <a:srgbClr val="A8C2BF"/>
                </a:solidFill>
                <a:latin typeface="Calibri" pitchFamily="34" charset="0"/>
                <a:ea typeface="Calibri" pitchFamily="34" charset="-122"/>
                <a:cs typeface="Calibri" pitchFamily="34" charset="-120"/>
              </a:rPr>
              <a:t>I Adams Google Calendar med alle oplysninger og Drive-link</a:t>
            </a:r>
            <a:endParaRPr lang="en-US" sz="950" dirty="0"/>
          </a:p>
        </p:txBody>
      </p:sp>
      <p:sp>
        <p:nvSpPr>
          <p:cNvPr id="26" name="Shape 20"/>
          <p:cNvSpPr/>
          <p:nvPr/>
        </p:nvSpPr>
        <p:spPr>
          <a:xfrm>
            <a:off x="8266176" y="2377440"/>
            <a:ext cx="1874520" cy="2468880"/>
          </a:xfrm>
          <a:prstGeom prst="rect">
            <a:avLst/>
          </a:prstGeom>
          <a:solidFill>
            <a:srgbClr val="2D3748"/>
          </a:solidFill>
          <a:ln w="6350">
            <a:solidFill>
              <a:srgbClr val="7A9E9A"/>
            </a:solidFill>
            <a:prstDash val="solid"/>
          </a:ln>
        </p:spPr>
      </p:sp>
      <p:sp>
        <p:nvSpPr>
          <p:cNvPr id="27" name="Shape 21"/>
          <p:cNvSpPr/>
          <p:nvPr/>
        </p:nvSpPr>
        <p:spPr>
          <a:xfrm>
            <a:off x="8837676" y="2606040"/>
            <a:ext cx="731520" cy="731520"/>
          </a:xfrm>
          <a:prstGeom prst="ellipse">
            <a:avLst/>
          </a:prstGeom>
          <a:solidFill>
            <a:srgbClr val="7A9E9A"/>
          </a:solidFill>
          <a:ln/>
        </p:spPr>
      </p:sp>
      <p:pic>
        <p:nvPicPr>
          <p:cNvPr id="28" name="Image 4" descr="preencoded.png">    </p:cNvPr>
          <p:cNvPicPr>
            <a:picLocks noChangeAspect="1"/>
          </p:cNvPicPr>
          <p:nvPr/>
        </p:nvPicPr>
        <p:blipFill>
          <a:blip r:embed="rId5"/>
          <a:stretch>
            <a:fillRect/>
          </a:stretch>
        </p:blipFill>
        <p:spPr>
          <a:xfrm>
            <a:off x="9020556" y="2788920"/>
            <a:ext cx="365760" cy="365760"/>
          </a:xfrm>
          <a:prstGeom prst="rect">
            <a:avLst/>
          </a:prstGeom>
        </p:spPr>
      </p:pic>
      <p:sp>
        <p:nvSpPr>
          <p:cNvPr id="29" name="Text 22"/>
          <p:cNvSpPr/>
          <p:nvPr/>
        </p:nvSpPr>
        <p:spPr>
          <a:xfrm>
            <a:off x="8375904" y="3429000"/>
            <a:ext cx="1655064" cy="640080"/>
          </a:xfrm>
          <a:prstGeom prst="rect">
            <a:avLst/>
          </a:prstGeom>
          <a:noFill/>
          <a:ln/>
        </p:spPr>
        <p:txBody>
          <a:bodyPr wrap="square" lIns="0" tIns="0" rIns="0" bIns="0" rtlCol="0" anchor="t"/>
          <a:lstStyle/>
          <a:p>
            <a:pPr algn="ctr" indent="0" marL="0">
              <a:buNone/>
            </a:pPr>
            <a:r>
              <a:rPr lang="en-US" sz="1200" b="1" dirty="0">
                <a:solidFill>
                  <a:srgbClr val="FFFFFF"/>
                </a:solidFill>
                <a:latin typeface="Georgia" pitchFamily="34" charset="0"/>
                <a:ea typeface="Georgia" pitchFamily="34" charset="-122"/>
                <a:cs typeface="Georgia" pitchFamily="34" charset="-120"/>
              </a:rPr>
              <a:t>5. Kunden får e-mail-bekræftelse</a:t>
            </a:r>
            <a:endParaRPr lang="en-US" sz="1200" dirty="0"/>
          </a:p>
        </p:txBody>
      </p:sp>
      <p:sp>
        <p:nvSpPr>
          <p:cNvPr id="30" name="Text 23"/>
          <p:cNvSpPr/>
          <p:nvPr/>
        </p:nvSpPr>
        <p:spPr>
          <a:xfrm>
            <a:off x="8375904" y="4069080"/>
            <a:ext cx="1655064" cy="713232"/>
          </a:xfrm>
          <a:prstGeom prst="rect">
            <a:avLst/>
          </a:prstGeom>
          <a:noFill/>
          <a:ln/>
        </p:spPr>
        <p:txBody>
          <a:bodyPr wrap="square" lIns="0" tIns="0" rIns="0" bIns="0" rtlCol="0" anchor="t"/>
          <a:lstStyle/>
          <a:p>
            <a:pPr algn="ctr" indent="0" marL="0">
              <a:buNone/>
            </a:pPr>
            <a:r>
              <a:rPr lang="en-US" sz="950" dirty="0">
                <a:solidFill>
                  <a:srgbClr val="A8C2BF"/>
                </a:solidFill>
                <a:latin typeface="Calibri" pitchFamily="34" charset="0"/>
                <a:ea typeface="Calibri" pitchFamily="34" charset="-122"/>
                <a:cs typeface="Calibri" pitchFamily="34" charset="-120"/>
              </a:rPr>
              <a:t>Med tidspunkt + automatisk påmindelse 24t før mødet</a:t>
            </a:r>
            <a:endParaRPr lang="en-US" sz="950" dirty="0"/>
          </a:p>
        </p:txBody>
      </p:sp>
      <p:sp>
        <p:nvSpPr>
          <p:cNvPr id="31" name="Shape 24"/>
          <p:cNvSpPr/>
          <p:nvPr/>
        </p:nvSpPr>
        <p:spPr>
          <a:xfrm>
            <a:off x="10195560" y="2377440"/>
            <a:ext cx="1874520" cy="2468880"/>
          </a:xfrm>
          <a:prstGeom prst="rect">
            <a:avLst/>
          </a:prstGeom>
          <a:solidFill>
            <a:srgbClr val="2D3748"/>
          </a:solidFill>
          <a:ln w="6350">
            <a:solidFill>
              <a:srgbClr val="7A9E9A"/>
            </a:solidFill>
            <a:prstDash val="solid"/>
          </a:ln>
        </p:spPr>
      </p:sp>
      <p:sp>
        <p:nvSpPr>
          <p:cNvPr id="32" name="Shape 25"/>
          <p:cNvSpPr/>
          <p:nvPr/>
        </p:nvSpPr>
        <p:spPr>
          <a:xfrm>
            <a:off x="10767060" y="2606040"/>
            <a:ext cx="731520" cy="731520"/>
          </a:xfrm>
          <a:prstGeom prst="ellipse">
            <a:avLst/>
          </a:prstGeom>
          <a:solidFill>
            <a:srgbClr val="7A9E9A"/>
          </a:solidFill>
          <a:ln/>
        </p:spPr>
      </p:sp>
      <p:pic>
        <p:nvPicPr>
          <p:cNvPr id="33" name="Image 5" descr="preencoded.png">    </p:cNvPr>
          <p:cNvPicPr>
            <a:picLocks noChangeAspect="1"/>
          </p:cNvPicPr>
          <p:nvPr/>
        </p:nvPicPr>
        <p:blipFill>
          <a:blip r:embed="rId6"/>
          <a:stretch>
            <a:fillRect/>
          </a:stretch>
        </p:blipFill>
        <p:spPr>
          <a:xfrm>
            <a:off x="10949940" y="2788920"/>
            <a:ext cx="365760" cy="365760"/>
          </a:xfrm>
          <a:prstGeom prst="rect">
            <a:avLst/>
          </a:prstGeom>
        </p:spPr>
      </p:pic>
      <p:sp>
        <p:nvSpPr>
          <p:cNvPr id="34" name="Text 26"/>
          <p:cNvSpPr/>
          <p:nvPr/>
        </p:nvSpPr>
        <p:spPr>
          <a:xfrm>
            <a:off x="10305288" y="3429000"/>
            <a:ext cx="1655064" cy="640080"/>
          </a:xfrm>
          <a:prstGeom prst="rect">
            <a:avLst/>
          </a:prstGeom>
          <a:noFill/>
          <a:ln/>
        </p:spPr>
        <p:txBody>
          <a:bodyPr wrap="square" lIns="0" tIns="0" rIns="0" bIns="0" rtlCol="0" anchor="t"/>
          <a:lstStyle/>
          <a:p>
            <a:pPr algn="ctr" indent="0" marL="0">
              <a:buNone/>
            </a:pPr>
            <a:r>
              <a:rPr lang="en-US" sz="1200" b="1" dirty="0">
                <a:solidFill>
                  <a:srgbClr val="FFFFFF"/>
                </a:solidFill>
                <a:latin typeface="Georgia" pitchFamily="34" charset="0"/>
                <a:ea typeface="Georgia" pitchFamily="34" charset="-122"/>
                <a:cs typeface="Georgia" pitchFamily="34" charset="-120"/>
              </a:rPr>
              <a:t>6. Lead gemmes i Airtable</a:t>
            </a:r>
            <a:endParaRPr lang="en-US" sz="1200" dirty="0"/>
          </a:p>
        </p:txBody>
      </p:sp>
      <p:sp>
        <p:nvSpPr>
          <p:cNvPr id="35" name="Text 27"/>
          <p:cNvSpPr/>
          <p:nvPr/>
        </p:nvSpPr>
        <p:spPr>
          <a:xfrm>
            <a:off x="10305288" y="4069080"/>
            <a:ext cx="1655064" cy="713232"/>
          </a:xfrm>
          <a:prstGeom prst="rect">
            <a:avLst/>
          </a:prstGeom>
          <a:noFill/>
          <a:ln/>
        </p:spPr>
        <p:txBody>
          <a:bodyPr wrap="square" lIns="0" tIns="0" rIns="0" bIns="0" rtlCol="0" anchor="t"/>
          <a:lstStyle/>
          <a:p>
            <a:pPr algn="ctr" indent="0" marL="0">
              <a:buNone/>
            </a:pPr>
            <a:r>
              <a:rPr lang="en-US" sz="950" dirty="0">
                <a:solidFill>
                  <a:srgbClr val="A8C2BF"/>
                </a:solidFill>
                <a:latin typeface="Calibri" pitchFamily="34" charset="0"/>
                <a:ea typeface="Calibri" pitchFamily="34" charset="-122"/>
                <a:cs typeface="Calibri" pitchFamily="34" charset="-120"/>
              </a:rPr>
              <a:t>Make.com sender alt videre til CRM med status 'Ny henvendelse'</a:t>
            </a:r>
            <a:endParaRPr lang="en-US" sz="950" dirty="0"/>
          </a:p>
        </p:txBody>
      </p:sp>
      <p:pic>
        <p:nvPicPr>
          <p:cNvPr id="36" name="Image 6" descr="preencoded.png">    </p:cNvPr>
          <p:cNvPicPr>
            <a:picLocks noChangeAspect="1"/>
          </p:cNvPicPr>
          <p:nvPr/>
        </p:nvPicPr>
        <p:blipFill>
          <a:blip r:embed="rId7"/>
          <a:stretch>
            <a:fillRect/>
          </a:stretch>
        </p:blipFill>
        <p:spPr>
          <a:xfrm>
            <a:off x="2377440" y="3474720"/>
            <a:ext cx="164592" cy="164592"/>
          </a:xfrm>
          <a:prstGeom prst="rect">
            <a:avLst/>
          </a:prstGeom>
        </p:spPr>
      </p:pic>
      <p:pic>
        <p:nvPicPr>
          <p:cNvPr id="37" name="Image 7" descr="preencoded.png">    </p:cNvPr>
          <p:cNvPicPr>
            <a:picLocks noChangeAspect="1"/>
          </p:cNvPicPr>
          <p:nvPr/>
        </p:nvPicPr>
        <p:blipFill>
          <a:blip r:embed="rId8"/>
          <a:stretch>
            <a:fillRect/>
          </a:stretch>
        </p:blipFill>
        <p:spPr>
          <a:xfrm>
            <a:off x="4306824" y="3474720"/>
            <a:ext cx="164592" cy="164592"/>
          </a:xfrm>
          <a:prstGeom prst="rect">
            <a:avLst/>
          </a:prstGeom>
        </p:spPr>
      </p:pic>
      <p:pic>
        <p:nvPicPr>
          <p:cNvPr id="38" name="Image 8" descr="preencoded.png">    </p:cNvPr>
          <p:cNvPicPr>
            <a:picLocks noChangeAspect="1"/>
          </p:cNvPicPr>
          <p:nvPr/>
        </p:nvPicPr>
        <p:blipFill>
          <a:blip r:embed="rId9"/>
          <a:stretch>
            <a:fillRect/>
          </a:stretch>
        </p:blipFill>
        <p:spPr>
          <a:xfrm>
            <a:off x="6236208" y="3474720"/>
            <a:ext cx="164592" cy="164592"/>
          </a:xfrm>
          <a:prstGeom prst="rect">
            <a:avLst/>
          </a:prstGeom>
        </p:spPr>
      </p:pic>
      <p:pic>
        <p:nvPicPr>
          <p:cNvPr id="39" name="Image 9" descr="preencoded.png">    </p:cNvPr>
          <p:cNvPicPr>
            <a:picLocks noChangeAspect="1"/>
          </p:cNvPicPr>
          <p:nvPr/>
        </p:nvPicPr>
        <p:blipFill>
          <a:blip r:embed="rId10"/>
          <a:stretch>
            <a:fillRect/>
          </a:stretch>
        </p:blipFill>
        <p:spPr>
          <a:xfrm>
            <a:off x="8165592" y="3474720"/>
            <a:ext cx="164592" cy="164592"/>
          </a:xfrm>
          <a:prstGeom prst="rect">
            <a:avLst/>
          </a:prstGeom>
        </p:spPr>
      </p:pic>
      <p:pic>
        <p:nvPicPr>
          <p:cNvPr id="40" name="Image 10" descr="preencoded.png">    </p:cNvPr>
          <p:cNvPicPr>
            <a:picLocks noChangeAspect="1"/>
          </p:cNvPicPr>
          <p:nvPr/>
        </p:nvPicPr>
        <p:blipFill>
          <a:blip r:embed="rId11"/>
          <a:stretch>
            <a:fillRect/>
          </a:stretch>
        </p:blipFill>
        <p:spPr>
          <a:xfrm>
            <a:off x="10094976" y="3474720"/>
            <a:ext cx="164592" cy="164592"/>
          </a:xfrm>
          <a:prstGeom prst="rect">
            <a:avLst/>
          </a:prstGeom>
        </p:spPr>
      </p:pic>
      <p:sp>
        <p:nvSpPr>
          <p:cNvPr id="41" name="Shape 28"/>
          <p:cNvSpPr/>
          <p:nvPr/>
        </p:nvSpPr>
        <p:spPr>
          <a:xfrm>
            <a:off x="548640" y="5074920"/>
            <a:ext cx="11091672" cy="960120"/>
          </a:xfrm>
          <a:prstGeom prst="rect">
            <a:avLst/>
          </a:prstGeom>
          <a:solidFill>
            <a:srgbClr val="7A9E9A"/>
          </a:solidFill>
          <a:ln/>
        </p:spPr>
      </p:sp>
      <p:pic>
        <p:nvPicPr>
          <p:cNvPr id="42" name="Image 11" descr="preencoded.png">    </p:cNvPr>
          <p:cNvPicPr>
            <a:picLocks noChangeAspect="1"/>
          </p:cNvPicPr>
          <p:nvPr/>
        </p:nvPicPr>
        <p:blipFill>
          <a:blip r:embed="rId12"/>
          <a:stretch>
            <a:fillRect/>
          </a:stretch>
        </p:blipFill>
        <p:spPr>
          <a:xfrm>
            <a:off x="777240" y="5367528"/>
            <a:ext cx="384048" cy="384048"/>
          </a:xfrm>
          <a:prstGeom prst="rect">
            <a:avLst/>
          </a:prstGeom>
        </p:spPr>
      </p:pic>
      <p:sp>
        <p:nvSpPr>
          <p:cNvPr id="43" name="Text 29"/>
          <p:cNvSpPr/>
          <p:nvPr/>
        </p:nvSpPr>
        <p:spPr>
          <a:xfrm>
            <a:off x="1280160" y="5303520"/>
            <a:ext cx="10058400" cy="548640"/>
          </a:xfrm>
          <a:prstGeom prst="rect">
            <a:avLst/>
          </a:prstGeom>
          <a:noFill/>
          <a:ln/>
        </p:spPr>
        <p:txBody>
          <a:bodyPr wrap="square" lIns="0" tIns="0" rIns="0" bIns="0" rtlCol="0" anchor="ctr"/>
          <a:lstStyle/>
          <a:p>
            <a:pPr indent="0" marL="0">
              <a:buNone/>
            </a:pPr>
            <a:r>
              <a:rPr lang="en-US" sz="1500" b="1" i="1" dirty="0">
                <a:solidFill>
                  <a:srgbClr val="FFFFFF"/>
                </a:solidFill>
                <a:latin typeface="Georgia" pitchFamily="34" charset="0"/>
                <a:ea typeface="Georgia" pitchFamily="34" charset="-122"/>
                <a:cs typeface="Georgia" pitchFamily="34" charset="-120"/>
              </a:rPr>
              <a:t>Resultat:  Møde i kalenderen, kunde informeret, lead i CRM — uden et eneste manuelt klik fra Adam.</a:t>
            </a:r>
            <a:endParaRPr lang="en-US" sz="1500" dirty="0"/>
          </a:p>
        </p:txBody>
      </p:sp>
      <p:sp>
        <p:nvSpPr>
          <p:cNvPr id="44" name="Text 30"/>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A0AEC0"/>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45" name="Text 31"/>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A0AEC0"/>
                </a:solidFill>
                <a:latin typeface="Calibri" pitchFamily="34" charset="0"/>
                <a:ea typeface="Calibri" pitchFamily="34" charset="-122"/>
                <a:cs typeface="Calibri" pitchFamily="34" charset="-120"/>
              </a:rPr>
              <a:t>05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FLOW 2 · KONTAKTFORMULAR</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200" b="1" dirty="0">
                <a:solidFill>
                  <a:srgbClr val="1A202C"/>
                </a:solidFill>
                <a:latin typeface="Georgia" pitchFamily="34" charset="0"/>
                <a:ea typeface="Georgia" pitchFamily="34" charset="-122"/>
                <a:cs typeface="Georgia" pitchFamily="34" charset="-120"/>
              </a:rPr>
              <a:t>Generel henvendelse — uden booking</a:t>
            </a:r>
            <a:endParaRPr lang="en-US" sz="3200" dirty="0"/>
          </a:p>
        </p:txBody>
      </p:sp>
      <p:sp>
        <p:nvSpPr>
          <p:cNvPr id="5" name="Text 3"/>
          <p:cNvSpPr/>
          <p:nvPr/>
        </p:nvSpPr>
        <p:spPr>
          <a:xfrm>
            <a:off x="640080" y="1645920"/>
            <a:ext cx="10972800" cy="365760"/>
          </a:xfrm>
          <a:prstGeom prst="rect">
            <a:avLst/>
          </a:prstGeom>
          <a:noFill/>
          <a:ln/>
        </p:spPr>
        <p:txBody>
          <a:bodyPr wrap="square" lIns="0" tIns="0" rIns="0" bIns="0"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For kunder der vil høre nærmere før de binder sig til en tid. Samme gemte lead som booking-flowet.</a:t>
            </a:r>
            <a:endParaRPr lang="en-US" sz="1300" dirty="0"/>
          </a:p>
        </p:txBody>
      </p:sp>
      <p:sp>
        <p:nvSpPr>
          <p:cNvPr id="6" name="Shape 4"/>
          <p:cNvSpPr/>
          <p:nvPr/>
        </p:nvSpPr>
        <p:spPr>
          <a:xfrm>
            <a:off x="640080" y="2468880"/>
            <a:ext cx="2743200" cy="210312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7" name="Shape 5"/>
          <p:cNvSpPr/>
          <p:nvPr/>
        </p:nvSpPr>
        <p:spPr>
          <a:xfrm>
            <a:off x="640080" y="2468880"/>
            <a:ext cx="2743200" cy="73152"/>
          </a:xfrm>
          <a:prstGeom prst="rect">
            <a:avLst/>
          </a:prstGeom>
          <a:solidFill>
            <a:srgbClr val="7A9E9A"/>
          </a:solidFill>
          <a:ln/>
        </p:spPr>
      </p:sp>
      <p:pic>
        <p:nvPicPr>
          <p:cNvPr id="8" name="Image 0" descr="preencoded.png">    </p:cNvPr>
          <p:cNvPicPr>
            <a:picLocks noChangeAspect="1"/>
          </p:cNvPicPr>
          <p:nvPr/>
        </p:nvPicPr>
        <p:blipFill>
          <a:blip r:embed="rId1"/>
          <a:stretch>
            <a:fillRect/>
          </a:stretch>
        </p:blipFill>
        <p:spPr>
          <a:xfrm>
            <a:off x="1737360" y="2788920"/>
            <a:ext cx="548640" cy="548640"/>
          </a:xfrm>
          <a:prstGeom prst="rect">
            <a:avLst/>
          </a:prstGeom>
        </p:spPr>
      </p:pic>
      <p:sp>
        <p:nvSpPr>
          <p:cNvPr id="9" name="Text 6"/>
          <p:cNvSpPr/>
          <p:nvPr/>
        </p:nvSpPr>
        <p:spPr>
          <a:xfrm>
            <a:off x="822960" y="3474720"/>
            <a:ext cx="2377440" cy="457200"/>
          </a:xfrm>
          <a:prstGeom prst="rect">
            <a:avLst/>
          </a:prstGeom>
          <a:noFill/>
          <a:ln/>
        </p:spPr>
        <p:txBody>
          <a:bodyPr wrap="square" lIns="0" tIns="0" rIns="0" bIns="0" rtlCol="0" anchor="t"/>
          <a:lstStyle/>
          <a:p>
            <a:pPr algn="ctr" indent="0" marL="0">
              <a:buNone/>
            </a:pPr>
            <a:r>
              <a:rPr lang="en-US" sz="1400" b="1" dirty="0">
                <a:solidFill>
                  <a:srgbClr val="1A202C"/>
                </a:solidFill>
                <a:latin typeface="Georgia" pitchFamily="34" charset="0"/>
                <a:ea typeface="Georgia" pitchFamily="34" charset="-122"/>
                <a:cs typeface="Georgia" pitchFamily="34" charset="-120"/>
              </a:rPr>
              <a:t>1. Kunden udfylder formular</a:t>
            </a:r>
            <a:endParaRPr lang="en-US" sz="1400" dirty="0"/>
          </a:p>
        </p:txBody>
      </p:sp>
      <p:sp>
        <p:nvSpPr>
          <p:cNvPr id="10" name="Text 7"/>
          <p:cNvSpPr/>
          <p:nvPr/>
        </p:nvSpPr>
        <p:spPr>
          <a:xfrm>
            <a:off x="822960" y="3931920"/>
            <a:ext cx="2377440" cy="594360"/>
          </a:xfrm>
          <a:prstGeom prst="rect">
            <a:avLst/>
          </a:prstGeom>
          <a:noFill/>
          <a:ln/>
        </p:spPr>
        <p:txBody>
          <a:bodyPr wrap="square" lIns="0" tIns="0" rIns="0" bIns="0" rtlCol="0" anchor="t"/>
          <a:lstStyle/>
          <a:p>
            <a:pPr algn="ctr" indent="0" marL="0">
              <a:buNone/>
            </a:pPr>
            <a:r>
              <a:rPr lang="en-US" sz="1100" dirty="0">
                <a:solidFill>
                  <a:srgbClr val="718096"/>
                </a:solidFill>
                <a:latin typeface="Calibri" pitchFamily="34" charset="0"/>
                <a:ea typeface="Calibri" pitchFamily="34" charset="-122"/>
                <a:cs typeface="Calibri" pitchFamily="34" charset="-120"/>
              </a:rPr>
              <a:t>Navn, e-mail, telefon, opgavebeskrivelse</a:t>
            </a:r>
            <a:endParaRPr lang="en-US" sz="1100" dirty="0"/>
          </a:p>
        </p:txBody>
      </p:sp>
      <p:sp>
        <p:nvSpPr>
          <p:cNvPr id="11" name="Shape 8"/>
          <p:cNvSpPr/>
          <p:nvPr/>
        </p:nvSpPr>
        <p:spPr>
          <a:xfrm>
            <a:off x="3502152" y="2468880"/>
            <a:ext cx="2743200" cy="210312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12" name="Shape 9"/>
          <p:cNvSpPr/>
          <p:nvPr/>
        </p:nvSpPr>
        <p:spPr>
          <a:xfrm>
            <a:off x="3502152" y="2468880"/>
            <a:ext cx="2743200" cy="73152"/>
          </a:xfrm>
          <a:prstGeom prst="rect">
            <a:avLst/>
          </a:prstGeom>
          <a:solidFill>
            <a:srgbClr val="7A9E9A"/>
          </a:solidFill>
          <a:ln/>
        </p:spPr>
      </p:sp>
      <p:pic>
        <p:nvPicPr>
          <p:cNvPr id="13" name="Image 1" descr="preencoded.png">    </p:cNvPr>
          <p:cNvPicPr>
            <a:picLocks noChangeAspect="1"/>
          </p:cNvPicPr>
          <p:nvPr/>
        </p:nvPicPr>
        <p:blipFill>
          <a:blip r:embed="rId2"/>
          <a:stretch>
            <a:fillRect/>
          </a:stretch>
        </p:blipFill>
        <p:spPr>
          <a:xfrm>
            <a:off x="4599432" y="2788920"/>
            <a:ext cx="548640" cy="548640"/>
          </a:xfrm>
          <a:prstGeom prst="rect">
            <a:avLst/>
          </a:prstGeom>
        </p:spPr>
      </p:pic>
      <p:sp>
        <p:nvSpPr>
          <p:cNvPr id="14" name="Text 10"/>
          <p:cNvSpPr/>
          <p:nvPr/>
        </p:nvSpPr>
        <p:spPr>
          <a:xfrm>
            <a:off x="3685032" y="3474720"/>
            <a:ext cx="2377440" cy="457200"/>
          </a:xfrm>
          <a:prstGeom prst="rect">
            <a:avLst/>
          </a:prstGeom>
          <a:noFill/>
          <a:ln/>
        </p:spPr>
        <p:txBody>
          <a:bodyPr wrap="square" lIns="0" tIns="0" rIns="0" bIns="0" rtlCol="0" anchor="t"/>
          <a:lstStyle/>
          <a:p>
            <a:pPr algn="ctr" indent="0" marL="0">
              <a:buNone/>
            </a:pPr>
            <a:r>
              <a:rPr lang="en-US" sz="1400" b="1" dirty="0">
                <a:solidFill>
                  <a:srgbClr val="1A202C"/>
                </a:solidFill>
                <a:latin typeface="Georgia" pitchFamily="34" charset="0"/>
                <a:ea typeface="Georgia" pitchFamily="34" charset="-122"/>
                <a:cs typeface="Georgia" pitchFamily="34" charset="-120"/>
              </a:rPr>
              <a:t>2. Bekræftelse sendes til kunden</a:t>
            </a:r>
            <a:endParaRPr lang="en-US" sz="1400" dirty="0"/>
          </a:p>
        </p:txBody>
      </p:sp>
      <p:sp>
        <p:nvSpPr>
          <p:cNvPr id="15" name="Text 11"/>
          <p:cNvSpPr/>
          <p:nvPr/>
        </p:nvSpPr>
        <p:spPr>
          <a:xfrm>
            <a:off x="3685032" y="3931920"/>
            <a:ext cx="2377440" cy="594360"/>
          </a:xfrm>
          <a:prstGeom prst="rect">
            <a:avLst/>
          </a:prstGeom>
          <a:noFill/>
          <a:ln/>
        </p:spPr>
        <p:txBody>
          <a:bodyPr wrap="square" lIns="0" tIns="0" rIns="0" bIns="0" rtlCol="0" anchor="t"/>
          <a:lstStyle/>
          <a:p>
            <a:pPr algn="ctr" indent="0" marL="0">
              <a:buNone/>
            </a:pPr>
            <a:r>
              <a:rPr lang="en-US" sz="1100" dirty="0">
                <a:solidFill>
                  <a:srgbClr val="718096"/>
                </a:solidFill>
                <a:latin typeface="Calibri" pitchFamily="34" charset="0"/>
                <a:ea typeface="Calibri" pitchFamily="34" charset="-122"/>
                <a:cs typeface="Calibri" pitchFamily="34" charset="-120"/>
              </a:rPr>
              <a:t>"Vi har modtaget din henvendelse" — INGEN booking nævnes</a:t>
            </a:r>
            <a:endParaRPr lang="en-US" sz="1100" dirty="0"/>
          </a:p>
        </p:txBody>
      </p:sp>
      <p:sp>
        <p:nvSpPr>
          <p:cNvPr id="16" name="Shape 12"/>
          <p:cNvSpPr/>
          <p:nvPr/>
        </p:nvSpPr>
        <p:spPr>
          <a:xfrm>
            <a:off x="6364224" y="2468880"/>
            <a:ext cx="2743200" cy="210312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17" name="Shape 13"/>
          <p:cNvSpPr/>
          <p:nvPr/>
        </p:nvSpPr>
        <p:spPr>
          <a:xfrm>
            <a:off x="6364224" y="2468880"/>
            <a:ext cx="2743200" cy="73152"/>
          </a:xfrm>
          <a:prstGeom prst="rect">
            <a:avLst/>
          </a:prstGeom>
          <a:solidFill>
            <a:srgbClr val="7A9E9A"/>
          </a:solidFill>
          <a:ln/>
        </p:spPr>
      </p:sp>
      <p:pic>
        <p:nvPicPr>
          <p:cNvPr id="18" name="Image 2" descr="preencoded.png">    </p:cNvPr>
          <p:cNvPicPr>
            <a:picLocks noChangeAspect="1"/>
          </p:cNvPicPr>
          <p:nvPr/>
        </p:nvPicPr>
        <p:blipFill>
          <a:blip r:embed="rId3"/>
          <a:stretch>
            <a:fillRect/>
          </a:stretch>
        </p:blipFill>
        <p:spPr>
          <a:xfrm>
            <a:off x="7461504" y="2788920"/>
            <a:ext cx="548640" cy="548640"/>
          </a:xfrm>
          <a:prstGeom prst="rect">
            <a:avLst/>
          </a:prstGeom>
        </p:spPr>
      </p:pic>
      <p:sp>
        <p:nvSpPr>
          <p:cNvPr id="19" name="Text 14"/>
          <p:cNvSpPr/>
          <p:nvPr/>
        </p:nvSpPr>
        <p:spPr>
          <a:xfrm>
            <a:off x="6547104" y="3474720"/>
            <a:ext cx="2377440" cy="457200"/>
          </a:xfrm>
          <a:prstGeom prst="rect">
            <a:avLst/>
          </a:prstGeom>
          <a:noFill/>
          <a:ln/>
        </p:spPr>
        <p:txBody>
          <a:bodyPr wrap="square" lIns="0" tIns="0" rIns="0" bIns="0" rtlCol="0" anchor="t"/>
          <a:lstStyle/>
          <a:p>
            <a:pPr algn="ctr" indent="0" marL="0">
              <a:buNone/>
            </a:pPr>
            <a:r>
              <a:rPr lang="en-US" sz="1400" b="1" dirty="0">
                <a:solidFill>
                  <a:srgbClr val="1A202C"/>
                </a:solidFill>
                <a:latin typeface="Georgia" pitchFamily="34" charset="0"/>
                <a:ea typeface="Georgia" pitchFamily="34" charset="-122"/>
                <a:cs typeface="Georgia" pitchFamily="34" charset="-120"/>
              </a:rPr>
              <a:t>3. Adam får notifikation</a:t>
            </a:r>
            <a:endParaRPr lang="en-US" sz="1400" dirty="0"/>
          </a:p>
        </p:txBody>
      </p:sp>
      <p:sp>
        <p:nvSpPr>
          <p:cNvPr id="20" name="Text 15"/>
          <p:cNvSpPr/>
          <p:nvPr/>
        </p:nvSpPr>
        <p:spPr>
          <a:xfrm>
            <a:off x="6547104" y="3931920"/>
            <a:ext cx="2377440" cy="594360"/>
          </a:xfrm>
          <a:prstGeom prst="rect">
            <a:avLst/>
          </a:prstGeom>
          <a:noFill/>
          <a:ln/>
        </p:spPr>
        <p:txBody>
          <a:bodyPr wrap="square" lIns="0" tIns="0" rIns="0" bIns="0" rtlCol="0" anchor="t"/>
          <a:lstStyle/>
          <a:p>
            <a:pPr algn="ctr" indent="0" marL="0">
              <a:buNone/>
            </a:pPr>
            <a:r>
              <a:rPr lang="en-US" sz="1100" dirty="0">
                <a:solidFill>
                  <a:srgbClr val="718096"/>
                </a:solidFill>
                <a:latin typeface="Calibri" pitchFamily="34" charset="0"/>
                <a:ea typeface="Calibri" pitchFamily="34" charset="-122"/>
                <a:cs typeface="Calibri" pitchFamily="34" charset="-120"/>
              </a:rPr>
              <a:t>Med alle oplysninger på info@malerfirmaetbach.dk</a:t>
            </a:r>
            <a:endParaRPr lang="en-US" sz="1100" dirty="0"/>
          </a:p>
        </p:txBody>
      </p:sp>
      <p:sp>
        <p:nvSpPr>
          <p:cNvPr id="21" name="Shape 16"/>
          <p:cNvSpPr/>
          <p:nvPr/>
        </p:nvSpPr>
        <p:spPr>
          <a:xfrm>
            <a:off x="9226296" y="2468880"/>
            <a:ext cx="2743200" cy="210312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22" name="Shape 17"/>
          <p:cNvSpPr/>
          <p:nvPr/>
        </p:nvSpPr>
        <p:spPr>
          <a:xfrm>
            <a:off x="9226296" y="2468880"/>
            <a:ext cx="2743200" cy="73152"/>
          </a:xfrm>
          <a:prstGeom prst="rect">
            <a:avLst/>
          </a:prstGeom>
          <a:solidFill>
            <a:srgbClr val="7A9E9A"/>
          </a:solidFill>
          <a:ln/>
        </p:spPr>
      </p:sp>
      <p:pic>
        <p:nvPicPr>
          <p:cNvPr id="23" name="Image 3" descr="preencoded.png">    </p:cNvPr>
          <p:cNvPicPr>
            <a:picLocks noChangeAspect="1"/>
          </p:cNvPicPr>
          <p:nvPr/>
        </p:nvPicPr>
        <p:blipFill>
          <a:blip r:embed="rId4"/>
          <a:stretch>
            <a:fillRect/>
          </a:stretch>
        </p:blipFill>
        <p:spPr>
          <a:xfrm>
            <a:off x="10323576" y="2788920"/>
            <a:ext cx="548640" cy="548640"/>
          </a:xfrm>
          <a:prstGeom prst="rect">
            <a:avLst/>
          </a:prstGeom>
        </p:spPr>
      </p:pic>
      <p:sp>
        <p:nvSpPr>
          <p:cNvPr id="24" name="Text 18"/>
          <p:cNvSpPr/>
          <p:nvPr/>
        </p:nvSpPr>
        <p:spPr>
          <a:xfrm>
            <a:off x="9409176" y="3474720"/>
            <a:ext cx="2377440" cy="457200"/>
          </a:xfrm>
          <a:prstGeom prst="rect">
            <a:avLst/>
          </a:prstGeom>
          <a:noFill/>
          <a:ln/>
        </p:spPr>
        <p:txBody>
          <a:bodyPr wrap="square" lIns="0" tIns="0" rIns="0" bIns="0" rtlCol="0" anchor="t"/>
          <a:lstStyle/>
          <a:p>
            <a:pPr algn="ctr" indent="0" marL="0">
              <a:buNone/>
            </a:pPr>
            <a:r>
              <a:rPr lang="en-US" sz="1400" b="1" dirty="0">
                <a:solidFill>
                  <a:srgbClr val="1A202C"/>
                </a:solidFill>
                <a:latin typeface="Georgia" pitchFamily="34" charset="0"/>
                <a:ea typeface="Georgia" pitchFamily="34" charset="-122"/>
                <a:cs typeface="Georgia" pitchFamily="34" charset="-120"/>
              </a:rPr>
              <a:t>4. Lead gemmes i Airtable</a:t>
            </a:r>
            <a:endParaRPr lang="en-US" sz="1400" dirty="0"/>
          </a:p>
        </p:txBody>
      </p:sp>
      <p:sp>
        <p:nvSpPr>
          <p:cNvPr id="25" name="Text 19"/>
          <p:cNvSpPr/>
          <p:nvPr/>
        </p:nvSpPr>
        <p:spPr>
          <a:xfrm>
            <a:off x="9409176" y="3931920"/>
            <a:ext cx="2377440" cy="594360"/>
          </a:xfrm>
          <a:prstGeom prst="rect">
            <a:avLst/>
          </a:prstGeom>
          <a:noFill/>
          <a:ln/>
        </p:spPr>
        <p:txBody>
          <a:bodyPr wrap="square" lIns="0" tIns="0" rIns="0" bIns="0" rtlCol="0" anchor="t"/>
          <a:lstStyle/>
          <a:p>
            <a:pPr algn="ctr" indent="0" marL="0">
              <a:buNone/>
            </a:pPr>
            <a:r>
              <a:rPr lang="en-US" sz="1100" dirty="0">
                <a:solidFill>
                  <a:srgbClr val="718096"/>
                </a:solidFill>
                <a:latin typeface="Calibri" pitchFamily="34" charset="0"/>
                <a:ea typeface="Calibri" pitchFamily="34" charset="-122"/>
                <a:cs typeface="Calibri" pitchFamily="34" charset="-120"/>
              </a:rPr>
              <a:t>Status: 'Ny henvendelse' — klar til opfølgning</a:t>
            </a:r>
            <a:endParaRPr lang="en-US" sz="1100" dirty="0"/>
          </a:p>
        </p:txBody>
      </p:sp>
      <p:sp>
        <p:nvSpPr>
          <p:cNvPr id="26" name="Shape 20"/>
          <p:cNvSpPr/>
          <p:nvPr/>
        </p:nvSpPr>
        <p:spPr>
          <a:xfrm>
            <a:off x="640080" y="4937760"/>
            <a:ext cx="11091672" cy="1371600"/>
          </a:xfrm>
          <a:prstGeom prst="rect">
            <a:avLst/>
          </a:prstGeom>
          <a:solidFill>
            <a:srgbClr val="EDF2F1"/>
          </a:solidFill>
          <a:ln w="8890">
            <a:solidFill>
              <a:srgbClr val="7A9E9A"/>
            </a:solidFill>
            <a:prstDash val="solid"/>
          </a:ln>
        </p:spPr>
      </p:sp>
      <p:pic>
        <p:nvPicPr>
          <p:cNvPr id="27" name="Image 4" descr="preencoded.png">    </p:cNvPr>
          <p:cNvPicPr>
            <a:picLocks noChangeAspect="1"/>
          </p:cNvPicPr>
          <p:nvPr/>
        </p:nvPicPr>
        <p:blipFill>
          <a:blip r:embed="rId5"/>
          <a:stretch>
            <a:fillRect/>
          </a:stretch>
        </p:blipFill>
        <p:spPr>
          <a:xfrm>
            <a:off x="868680" y="5257800"/>
            <a:ext cx="502920" cy="502920"/>
          </a:xfrm>
          <a:prstGeom prst="rect">
            <a:avLst/>
          </a:prstGeom>
        </p:spPr>
      </p:pic>
      <p:sp>
        <p:nvSpPr>
          <p:cNvPr id="28" name="Text 21"/>
          <p:cNvSpPr/>
          <p:nvPr/>
        </p:nvSpPr>
        <p:spPr>
          <a:xfrm>
            <a:off x="1554480" y="5120640"/>
            <a:ext cx="914400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Forskellen på de to flows:</a:t>
            </a:r>
            <a:endParaRPr lang="en-US" sz="1400" dirty="0"/>
          </a:p>
        </p:txBody>
      </p:sp>
      <p:sp>
        <p:nvSpPr>
          <p:cNvPr id="29" name="Text 22"/>
          <p:cNvSpPr/>
          <p:nvPr/>
        </p:nvSpPr>
        <p:spPr>
          <a:xfrm>
            <a:off x="1554480" y="5486400"/>
            <a:ext cx="9875520" cy="777240"/>
          </a:xfrm>
          <a:prstGeom prst="rect">
            <a:avLst/>
          </a:prstGeom>
          <a:noFill/>
          <a:ln/>
        </p:spPr>
        <p:txBody>
          <a:bodyPr wrap="square" lIns="0" tIns="0" rIns="0" bIns="0" rtlCol="0" anchor="t"/>
          <a:lstStyle/>
          <a:p>
            <a:pPr indent="0" marL="0">
              <a:buNone/>
            </a:pPr>
            <a:r>
              <a:rPr lang="en-US" sz="1150" b="1" dirty="0">
                <a:solidFill>
                  <a:srgbClr val="5A7E7A"/>
                </a:solidFill>
                <a:latin typeface="Calibri" pitchFamily="34" charset="0"/>
                <a:ea typeface="Calibri" pitchFamily="34" charset="-122"/>
                <a:cs typeface="Calibri" pitchFamily="34" charset="-120"/>
              </a:rPr>
              <a:t>Booking-formular:  </a:t>
            </a:r>
            <a:pPr indent="0" marL="0">
              <a:buNone/>
            </a:pPr>
            <a:r>
              <a:rPr lang="en-US" sz="1150" dirty="0">
                <a:solidFill>
                  <a:srgbClr val="2D3748"/>
                </a:solidFill>
                <a:latin typeface="Calibri" pitchFamily="34" charset="0"/>
                <a:ea typeface="Calibri" pitchFamily="34" charset="-122"/>
                <a:cs typeface="Calibri" pitchFamily="34" charset="-120"/>
              </a:rPr>
              <a:t>kunden vælger en tid → e-mail med mødetid + Calendly-påmindelse</a:t>
            </a:r>
            <a:endParaRPr lang="en-US" sz="1150" dirty="0"/>
          </a:p>
          <a:p>
            <a:pPr indent="0" marL="0">
              <a:buNone/>
            </a:pPr>
            <a:r>
              <a:rPr lang="en-US" sz="1150" b="1" dirty="0">
                <a:solidFill>
                  <a:srgbClr val="5A7E7A"/>
                </a:solidFill>
                <a:latin typeface="Calibri" pitchFamily="34" charset="0"/>
                <a:ea typeface="Calibri" pitchFamily="34" charset="-122"/>
                <a:cs typeface="Calibri" pitchFamily="34" charset="-120"/>
              </a:rPr>
              <a:t>Kontaktformular:  </a:t>
            </a:r>
            <a:pPr indent="0" marL="0">
              <a:buNone/>
            </a:pPr>
            <a:r>
              <a:rPr lang="en-US" sz="1150" dirty="0">
                <a:solidFill>
                  <a:srgbClr val="2D3748"/>
                </a:solidFill>
                <a:latin typeface="Calibri" pitchFamily="34" charset="0"/>
                <a:ea typeface="Calibri" pitchFamily="34" charset="-122"/>
                <a:cs typeface="Calibri" pitchFamily="34" charset="-120"/>
              </a:rPr>
              <a:t>kunden skriver kun en besked → e-mail bekræfter blot at vi har modtaget det</a:t>
            </a:r>
            <a:endParaRPr lang="en-US" sz="1150" dirty="0"/>
          </a:p>
        </p:txBody>
      </p:sp>
      <p:sp>
        <p:nvSpPr>
          <p:cNvPr id="30" name="Text 23"/>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31" name="Text 24"/>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06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LEAD-DATABASE</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200" b="1" dirty="0">
                <a:solidFill>
                  <a:srgbClr val="1A202C"/>
                </a:solidFill>
                <a:latin typeface="Georgia" pitchFamily="34" charset="0"/>
                <a:ea typeface="Georgia" pitchFamily="34" charset="-122"/>
                <a:cs typeface="Georgia" pitchFamily="34" charset="-120"/>
              </a:rPr>
              <a:t>CRM med kanban-pipeline i Airtable</a:t>
            </a:r>
            <a:endParaRPr lang="en-US" sz="3200" dirty="0"/>
          </a:p>
        </p:txBody>
      </p:sp>
      <p:sp>
        <p:nvSpPr>
          <p:cNvPr id="5" name="Text 3"/>
          <p:cNvSpPr/>
          <p:nvPr/>
        </p:nvSpPr>
        <p:spPr>
          <a:xfrm>
            <a:off x="640080" y="1645920"/>
            <a:ext cx="10972800" cy="365760"/>
          </a:xfrm>
          <a:prstGeom prst="rect">
            <a:avLst/>
          </a:prstGeom>
          <a:noFill/>
          <a:ln/>
        </p:spPr>
        <p:txBody>
          <a:bodyPr wrap="square" lIns="0" tIns="0" rIns="0" bIns="0"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Alle leads — uanset hvilket flow de kommer fra — samles ét sted og kan trækkes gennem en visuel pipeline.</a:t>
            </a:r>
            <a:endParaRPr lang="en-US" sz="1300" dirty="0"/>
          </a:p>
        </p:txBody>
      </p:sp>
      <p:sp>
        <p:nvSpPr>
          <p:cNvPr id="6" name="Shape 4"/>
          <p:cNvSpPr/>
          <p:nvPr/>
        </p:nvSpPr>
        <p:spPr>
          <a:xfrm>
            <a:off x="640080" y="2331720"/>
            <a:ext cx="2212848" cy="457200"/>
          </a:xfrm>
          <a:prstGeom prst="rect">
            <a:avLst/>
          </a:prstGeom>
          <a:solidFill>
            <a:srgbClr val="7A9E9A"/>
          </a:solidFill>
          <a:ln/>
        </p:spPr>
      </p:sp>
      <p:sp>
        <p:nvSpPr>
          <p:cNvPr id="7" name="Text 5"/>
          <p:cNvSpPr/>
          <p:nvPr/>
        </p:nvSpPr>
        <p:spPr>
          <a:xfrm>
            <a:off x="731520" y="2377440"/>
            <a:ext cx="202996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Ny henvendelse</a:t>
            </a:r>
            <a:endParaRPr lang="en-US" sz="1200" dirty="0"/>
          </a:p>
        </p:txBody>
      </p:sp>
      <p:sp>
        <p:nvSpPr>
          <p:cNvPr id="8" name="Shape 6"/>
          <p:cNvSpPr/>
          <p:nvPr/>
        </p:nvSpPr>
        <p:spPr>
          <a:xfrm>
            <a:off x="640080" y="2788920"/>
            <a:ext cx="2212848" cy="2468880"/>
          </a:xfrm>
          <a:prstGeom prst="rect">
            <a:avLst/>
          </a:prstGeom>
          <a:solidFill>
            <a:srgbClr val="F1F1EE"/>
          </a:solidFill>
          <a:ln w="6350">
            <a:solidFill>
              <a:srgbClr val="E2E8F0"/>
            </a:solidFill>
            <a:prstDash val="solid"/>
          </a:ln>
        </p:spPr>
      </p:sp>
      <p:sp>
        <p:nvSpPr>
          <p:cNvPr id="9" name="Shape 7"/>
          <p:cNvSpPr/>
          <p:nvPr/>
        </p:nvSpPr>
        <p:spPr>
          <a:xfrm>
            <a:off x="777240" y="2971800"/>
            <a:ext cx="1938528" cy="77724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10" name="Text 8"/>
          <p:cNvSpPr/>
          <p:nvPr/>
        </p:nvSpPr>
        <p:spPr>
          <a:xfrm>
            <a:off x="868680" y="3044952"/>
            <a:ext cx="1755648" cy="274320"/>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Lars Andersen</a:t>
            </a:r>
            <a:endParaRPr lang="en-US" sz="1000" dirty="0"/>
          </a:p>
        </p:txBody>
      </p:sp>
      <p:sp>
        <p:nvSpPr>
          <p:cNvPr id="11" name="Text 9"/>
          <p:cNvSpPr/>
          <p:nvPr/>
        </p:nvSpPr>
        <p:spPr>
          <a:xfrm>
            <a:off x="868680" y="3291840"/>
            <a:ext cx="1755648" cy="274320"/>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Lyngby · indvendig</a:t>
            </a:r>
            <a:endParaRPr lang="en-US" sz="900" dirty="0"/>
          </a:p>
        </p:txBody>
      </p:sp>
      <p:sp>
        <p:nvSpPr>
          <p:cNvPr id="12" name="Text 10"/>
          <p:cNvSpPr/>
          <p:nvPr/>
        </p:nvSpPr>
        <p:spPr>
          <a:xfrm>
            <a:off x="868680" y="3502152"/>
            <a:ext cx="1755648" cy="228600"/>
          </a:xfrm>
          <a:prstGeom prst="rect">
            <a:avLst/>
          </a:prstGeom>
          <a:noFill/>
          <a:ln/>
        </p:spPr>
        <p:txBody>
          <a:bodyPr wrap="square" lIns="0" tIns="0" rIns="0" bIns="0" rtlCol="0" anchor="ctr"/>
          <a:lstStyle/>
          <a:p>
            <a:pPr indent="0" marL="0">
              <a:buNone/>
            </a:pPr>
            <a:r>
              <a:rPr lang="en-US" sz="800" dirty="0">
                <a:solidFill>
                  <a:srgbClr val="A0AEC0"/>
                </a:solidFill>
                <a:latin typeface="Calibri" pitchFamily="34" charset="0"/>
                <a:ea typeface="Calibri" pitchFamily="34" charset="-122"/>
                <a:cs typeface="Calibri" pitchFamily="34" charset="-120"/>
              </a:rPr>
              <a:t>12. maj 2026</a:t>
            </a:r>
            <a:endParaRPr lang="en-US" sz="800" dirty="0"/>
          </a:p>
        </p:txBody>
      </p:sp>
      <p:sp>
        <p:nvSpPr>
          <p:cNvPr id="13" name="Text 11"/>
          <p:cNvSpPr/>
          <p:nvPr/>
        </p:nvSpPr>
        <p:spPr>
          <a:xfrm>
            <a:off x="777240" y="4937760"/>
            <a:ext cx="1938528" cy="228600"/>
          </a:xfrm>
          <a:prstGeom prst="rect">
            <a:avLst/>
          </a:prstGeom>
          <a:noFill/>
          <a:ln/>
        </p:spPr>
        <p:txBody>
          <a:bodyPr wrap="square" lIns="0" tIns="0" rIns="0" bIns="0" rtlCol="0" anchor="ctr"/>
          <a:lstStyle/>
          <a:p>
            <a:pPr algn="r" indent="0" marL="0">
              <a:buNone/>
            </a:pPr>
            <a:r>
              <a:rPr lang="en-US" sz="800" i="1" dirty="0">
                <a:solidFill>
                  <a:srgbClr val="718096"/>
                </a:solidFill>
                <a:latin typeface="Calibri" pitchFamily="34" charset="0"/>
                <a:ea typeface="Calibri" pitchFamily="34" charset="-122"/>
                <a:cs typeface="Calibri" pitchFamily="34" charset="-120"/>
              </a:rPr>
              <a:t>Auto</a:t>
            </a:r>
            <a:endParaRPr lang="en-US" sz="800" dirty="0"/>
          </a:p>
        </p:txBody>
      </p:sp>
      <p:sp>
        <p:nvSpPr>
          <p:cNvPr id="14" name="Shape 12"/>
          <p:cNvSpPr/>
          <p:nvPr/>
        </p:nvSpPr>
        <p:spPr>
          <a:xfrm>
            <a:off x="2990088" y="2331720"/>
            <a:ext cx="2212848" cy="457200"/>
          </a:xfrm>
          <a:prstGeom prst="rect">
            <a:avLst/>
          </a:prstGeom>
          <a:solidFill>
            <a:srgbClr val="5A7E7A"/>
          </a:solidFill>
          <a:ln/>
        </p:spPr>
      </p:sp>
      <p:sp>
        <p:nvSpPr>
          <p:cNvPr id="15" name="Text 13"/>
          <p:cNvSpPr/>
          <p:nvPr/>
        </p:nvSpPr>
        <p:spPr>
          <a:xfrm>
            <a:off x="3081528" y="2377440"/>
            <a:ext cx="202996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Møde afholdt</a:t>
            </a:r>
            <a:endParaRPr lang="en-US" sz="1200" dirty="0"/>
          </a:p>
        </p:txBody>
      </p:sp>
      <p:sp>
        <p:nvSpPr>
          <p:cNvPr id="16" name="Shape 14"/>
          <p:cNvSpPr/>
          <p:nvPr/>
        </p:nvSpPr>
        <p:spPr>
          <a:xfrm>
            <a:off x="2990088" y="2788920"/>
            <a:ext cx="2212848" cy="2468880"/>
          </a:xfrm>
          <a:prstGeom prst="rect">
            <a:avLst/>
          </a:prstGeom>
          <a:solidFill>
            <a:srgbClr val="F1F1EE"/>
          </a:solidFill>
          <a:ln w="6350">
            <a:solidFill>
              <a:srgbClr val="E2E8F0"/>
            </a:solidFill>
            <a:prstDash val="solid"/>
          </a:ln>
        </p:spPr>
      </p:sp>
      <p:sp>
        <p:nvSpPr>
          <p:cNvPr id="17" name="Shape 15"/>
          <p:cNvSpPr/>
          <p:nvPr/>
        </p:nvSpPr>
        <p:spPr>
          <a:xfrm>
            <a:off x="3127248" y="2971800"/>
            <a:ext cx="1938528" cy="77724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18" name="Text 16"/>
          <p:cNvSpPr/>
          <p:nvPr/>
        </p:nvSpPr>
        <p:spPr>
          <a:xfrm>
            <a:off x="3218688" y="3044952"/>
            <a:ext cx="1755648" cy="274320"/>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Lars Andersen</a:t>
            </a:r>
            <a:endParaRPr lang="en-US" sz="1000" dirty="0"/>
          </a:p>
        </p:txBody>
      </p:sp>
      <p:sp>
        <p:nvSpPr>
          <p:cNvPr id="19" name="Text 17"/>
          <p:cNvSpPr/>
          <p:nvPr/>
        </p:nvSpPr>
        <p:spPr>
          <a:xfrm>
            <a:off x="3218688" y="3291840"/>
            <a:ext cx="1755648" cy="274320"/>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Lyngby · indvendig</a:t>
            </a:r>
            <a:endParaRPr lang="en-US" sz="900" dirty="0"/>
          </a:p>
        </p:txBody>
      </p:sp>
      <p:sp>
        <p:nvSpPr>
          <p:cNvPr id="20" name="Text 18"/>
          <p:cNvSpPr/>
          <p:nvPr/>
        </p:nvSpPr>
        <p:spPr>
          <a:xfrm>
            <a:off x="3218688" y="3502152"/>
            <a:ext cx="1755648" cy="228600"/>
          </a:xfrm>
          <a:prstGeom prst="rect">
            <a:avLst/>
          </a:prstGeom>
          <a:noFill/>
          <a:ln/>
        </p:spPr>
        <p:txBody>
          <a:bodyPr wrap="square" lIns="0" tIns="0" rIns="0" bIns="0" rtlCol="0" anchor="ctr"/>
          <a:lstStyle/>
          <a:p>
            <a:pPr indent="0" marL="0">
              <a:buNone/>
            </a:pPr>
            <a:r>
              <a:rPr lang="en-US" sz="800" dirty="0">
                <a:solidFill>
                  <a:srgbClr val="A0AEC0"/>
                </a:solidFill>
                <a:latin typeface="Calibri" pitchFamily="34" charset="0"/>
                <a:ea typeface="Calibri" pitchFamily="34" charset="-122"/>
                <a:cs typeface="Calibri" pitchFamily="34" charset="-120"/>
              </a:rPr>
              <a:t>12. maj 2026</a:t>
            </a:r>
            <a:endParaRPr lang="en-US" sz="800" dirty="0"/>
          </a:p>
        </p:txBody>
      </p:sp>
      <p:sp>
        <p:nvSpPr>
          <p:cNvPr id="21" name="Text 19"/>
          <p:cNvSpPr/>
          <p:nvPr/>
        </p:nvSpPr>
        <p:spPr>
          <a:xfrm>
            <a:off x="3127248" y="4937760"/>
            <a:ext cx="1938528" cy="228600"/>
          </a:xfrm>
          <a:prstGeom prst="rect">
            <a:avLst/>
          </a:prstGeom>
          <a:noFill/>
          <a:ln/>
        </p:spPr>
        <p:txBody>
          <a:bodyPr wrap="square" lIns="0" tIns="0" rIns="0" bIns="0" rtlCol="0" anchor="ctr"/>
          <a:lstStyle/>
          <a:p>
            <a:pPr algn="r" indent="0" marL="0">
              <a:buNone/>
            </a:pPr>
            <a:r>
              <a:rPr lang="en-US" sz="800" i="1" dirty="0">
                <a:solidFill>
                  <a:srgbClr val="718096"/>
                </a:solidFill>
                <a:latin typeface="Calibri" pitchFamily="34" charset="0"/>
                <a:ea typeface="Calibri" pitchFamily="34" charset="-122"/>
                <a:cs typeface="Calibri" pitchFamily="34" charset="-120"/>
              </a:rPr>
              <a:t>Manuel</a:t>
            </a:r>
            <a:endParaRPr lang="en-US" sz="800" dirty="0"/>
          </a:p>
        </p:txBody>
      </p:sp>
      <p:sp>
        <p:nvSpPr>
          <p:cNvPr id="22" name="Shape 20"/>
          <p:cNvSpPr/>
          <p:nvPr/>
        </p:nvSpPr>
        <p:spPr>
          <a:xfrm>
            <a:off x="5340096" y="2331720"/>
            <a:ext cx="2212848" cy="457200"/>
          </a:xfrm>
          <a:prstGeom prst="rect">
            <a:avLst/>
          </a:prstGeom>
          <a:solidFill>
            <a:srgbClr val="C7A560"/>
          </a:solidFill>
          <a:ln/>
        </p:spPr>
      </p:sp>
      <p:sp>
        <p:nvSpPr>
          <p:cNvPr id="23" name="Text 21"/>
          <p:cNvSpPr/>
          <p:nvPr/>
        </p:nvSpPr>
        <p:spPr>
          <a:xfrm>
            <a:off x="5431536" y="2377440"/>
            <a:ext cx="202996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Tilbud sendt</a:t>
            </a:r>
            <a:endParaRPr lang="en-US" sz="1200" dirty="0"/>
          </a:p>
        </p:txBody>
      </p:sp>
      <p:sp>
        <p:nvSpPr>
          <p:cNvPr id="24" name="Shape 22"/>
          <p:cNvSpPr/>
          <p:nvPr/>
        </p:nvSpPr>
        <p:spPr>
          <a:xfrm>
            <a:off x="5340096" y="2788920"/>
            <a:ext cx="2212848" cy="2468880"/>
          </a:xfrm>
          <a:prstGeom prst="rect">
            <a:avLst/>
          </a:prstGeom>
          <a:solidFill>
            <a:srgbClr val="F1F1EE"/>
          </a:solidFill>
          <a:ln w="6350">
            <a:solidFill>
              <a:srgbClr val="E2E8F0"/>
            </a:solidFill>
            <a:prstDash val="solid"/>
          </a:ln>
        </p:spPr>
      </p:sp>
      <p:sp>
        <p:nvSpPr>
          <p:cNvPr id="25" name="Shape 23"/>
          <p:cNvSpPr/>
          <p:nvPr/>
        </p:nvSpPr>
        <p:spPr>
          <a:xfrm>
            <a:off x="5477256" y="2971800"/>
            <a:ext cx="1938528" cy="77724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26" name="Text 24"/>
          <p:cNvSpPr/>
          <p:nvPr/>
        </p:nvSpPr>
        <p:spPr>
          <a:xfrm>
            <a:off x="5568696" y="3044952"/>
            <a:ext cx="1755648" cy="274320"/>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Lars Andersen</a:t>
            </a:r>
            <a:endParaRPr lang="en-US" sz="1000" dirty="0"/>
          </a:p>
        </p:txBody>
      </p:sp>
      <p:sp>
        <p:nvSpPr>
          <p:cNvPr id="27" name="Text 25"/>
          <p:cNvSpPr/>
          <p:nvPr/>
        </p:nvSpPr>
        <p:spPr>
          <a:xfrm>
            <a:off x="5568696" y="3291840"/>
            <a:ext cx="1755648" cy="274320"/>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Lyngby · indvendig</a:t>
            </a:r>
            <a:endParaRPr lang="en-US" sz="900" dirty="0"/>
          </a:p>
        </p:txBody>
      </p:sp>
      <p:sp>
        <p:nvSpPr>
          <p:cNvPr id="28" name="Text 26"/>
          <p:cNvSpPr/>
          <p:nvPr/>
        </p:nvSpPr>
        <p:spPr>
          <a:xfrm>
            <a:off x="5568696" y="3502152"/>
            <a:ext cx="1755648" cy="228600"/>
          </a:xfrm>
          <a:prstGeom prst="rect">
            <a:avLst/>
          </a:prstGeom>
          <a:noFill/>
          <a:ln/>
        </p:spPr>
        <p:txBody>
          <a:bodyPr wrap="square" lIns="0" tIns="0" rIns="0" bIns="0" rtlCol="0" anchor="ctr"/>
          <a:lstStyle/>
          <a:p>
            <a:pPr indent="0" marL="0">
              <a:buNone/>
            </a:pPr>
            <a:r>
              <a:rPr lang="en-US" sz="800" dirty="0">
                <a:solidFill>
                  <a:srgbClr val="A0AEC0"/>
                </a:solidFill>
                <a:latin typeface="Calibri" pitchFamily="34" charset="0"/>
                <a:ea typeface="Calibri" pitchFamily="34" charset="-122"/>
                <a:cs typeface="Calibri" pitchFamily="34" charset="-120"/>
              </a:rPr>
              <a:t>12. maj 2026</a:t>
            </a:r>
            <a:endParaRPr lang="en-US" sz="800" dirty="0"/>
          </a:p>
        </p:txBody>
      </p:sp>
      <p:sp>
        <p:nvSpPr>
          <p:cNvPr id="29" name="Text 27"/>
          <p:cNvSpPr/>
          <p:nvPr/>
        </p:nvSpPr>
        <p:spPr>
          <a:xfrm>
            <a:off x="5477256" y="4937760"/>
            <a:ext cx="1938528" cy="228600"/>
          </a:xfrm>
          <a:prstGeom prst="rect">
            <a:avLst/>
          </a:prstGeom>
          <a:noFill/>
          <a:ln/>
        </p:spPr>
        <p:txBody>
          <a:bodyPr wrap="square" lIns="0" tIns="0" rIns="0" bIns="0" rtlCol="0" anchor="ctr"/>
          <a:lstStyle/>
          <a:p>
            <a:pPr algn="r" indent="0" marL="0">
              <a:buNone/>
            </a:pPr>
            <a:r>
              <a:rPr lang="en-US" sz="800" i="1" dirty="0">
                <a:solidFill>
                  <a:srgbClr val="718096"/>
                </a:solidFill>
                <a:latin typeface="Calibri" pitchFamily="34" charset="0"/>
                <a:ea typeface="Calibri" pitchFamily="34" charset="-122"/>
                <a:cs typeface="Calibri" pitchFamily="34" charset="-120"/>
              </a:rPr>
              <a:t>Manuel</a:t>
            </a:r>
            <a:endParaRPr lang="en-US" sz="800" dirty="0"/>
          </a:p>
        </p:txBody>
      </p:sp>
      <p:sp>
        <p:nvSpPr>
          <p:cNvPr id="30" name="Shape 28"/>
          <p:cNvSpPr/>
          <p:nvPr/>
        </p:nvSpPr>
        <p:spPr>
          <a:xfrm>
            <a:off x="7690104" y="2331720"/>
            <a:ext cx="2212848" cy="457200"/>
          </a:xfrm>
          <a:prstGeom prst="rect">
            <a:avLst/>
          </a:prstGeom>
          <a:solidFill>
            <a:srgbClr val="68A690"/>
          </a:solidFill>
          <a:ln/>
        </p:spPr>
      </p:sp>
      <p:sp>
        <p:nvSpPr>
          <p:cNvPr id="31" name="Text 29"/>
          <p:cNvSpPr/>
          <p:nvPr/>
        </p:nvSpPr>
        <p:spPr>
          <a:xfrm>
            <a:off x="7781544" y="2377440"/>
            <a:ext cx="202996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Vundet</a:t>
            </a:r>
            <a:endParaRPr lang="en-US" sz="1200" dirty="0"/>
          </a:p>
        </p:txBody>
      </p:sp>
      <p:sp>
        <p:nvSpPr>
          <p:cNvPr id="32" name="Shape 30"/>
          <p:cNvSpPr/>
          <p:nvPr/>
        </p:nvSpPr>
        <p:spPr>
          <a:xfrm>
            <a:off x="7690104" y="2788920"/>
            <a:ext cx="2212848" cy="2468880"/>
          </a:xfrm>
          <a:prstGeom prst="rect">
            <a:avLst/>
          </a:prstGeom>
          <a:solidFill>
            <a:srgbClr val="F1F1EE"/>
          </a:solidFill>
          <a:ln w="6350">
            <a:solidFill>
              <a:srgbClr val="E2E8F0"/>
            </a:solidFill>
            <a:prstDash val="solid"/>
          </a:ln>
        </p:spPr>
      </p:sp>
      <p:sp>
        <p:nvSpPr>
          <p:cNvPr id="33" name="Shape 31"/>
          <p:cNvSpPr/>
          <p:nvPr/>
        </p:nvSpPr>
        <p:spPr>
          <a:xfrm>
            <a:off x="7827264" y="2971800"/>
            <a:ext cx="1938528" cy="77724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34" name="Text 32"/>
          <p:cNvSpPr/>
          <p:nvPr/>
        </p:nvSpPr>
        <p:spPr>
          <a:xfrm>
            <a:off x="7918704" y="3044952"/>
            <a:ext cx="1755648" cy="274320"/>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Lars Andersen</a:t>
            </a:r>
            <a:endParaRPr lang="en-US" sz="1000" dirty="0"/>
          </a:p>
        </p:txBody>
      </p:sp>
      <p:sp>
        <p:nvSpPr>
          <p:cNvPr id="35" name="Text 33"/>
          <p:cNvSpPr/>
          <p:nvPr/>
        </p:nvSpPr>
        <p:spPr>
          <a:xfrm>
            <a:off x="7918704" y="3291840"/>
            <a:ext cx="1755648" cy="274320"/>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Lyngby · indvendig</a:t>
            </a:r>
            <a:endParaRPr lang="en-US" sz="900" dirty="0"/>
          </a:p>
        </p:txBody>
      </p:sp>
      <p:sp>
        <p:nvSpPr>
          <p:cNvPr id="36" name="Text 34"/>
          <p:cNvSpPr/>
          <p:nvPr/>
        </p:nvSpPr>
        <p:spPr>
          <a:xfrm>
            <a:off x="7918704" y="3502152"/>
            <a:ext cx="1755648" cy="228600"/>
          </a:xfrm>
          <a:prstGeom prst="rect">
            <a:avLst/>
          </a:prstGeom>
          <a:noFill/>
          <a:ln/>
        </p:spPr>
        <p:txBody>
          <a:bodyPr wrap="square" lIns="0" tIns="0" rIns="0" bIns="0" rtlCol="0" anchor="ctr"/>
          <a:lstStyle/>
          <a:p>
            <a:pPr indent="0" marL="0">
              <a:buNone/>
            </a:pPr>
            <a:r>
              <a:rPr lang="en-US" sz="800" dirty="0">
                <a:solidFill>
                  <a:srgbClr val="A0AEC0"/>
                </a:solidFill>
                <a:latin typeface="Calibri" pitchFamily="34" charset="0"/>
                <a:ea typeface="Calibri" pitchFamily="34" charset="-122"/>
                <a:cs typeface="Calibri" pitchFamily="34" charset="-120"/>
              </a:rPr>
              <a:t>12. maj 2026</a:t>
            </a:r>
            <a:endParaRPr lang="en-US" sz="800" dirty="0"/>
          </a:p>
        </p:txBody>
      </p:sp>
      <p:sp>
        <p:nvSpPr>
          <p:cNvPr id="37" name="Text 35"/>
          <p:cNvSpPr/>
          <p:nvPr/>
        </p:nvSpPr>
        <p:spPr>
          <a:xfrm>
            <a:off x="7827264" y="4937760"/>
            <a:ext cx="1938528" cy="228600"/>
          </a:xfrm>
          <a:prstGeom prst="rect">
            <a:avLst/>
          </a:prstGeom>
          <a:noFill/>
          <a:ln/>
        </p:spPr>
        <p:txBody>
          <a:bodyPr wrap="square" lIns="0" tIns="0" rIns="0" bIns="0" rtlCol="0" anchor="ctr"/>
          <a:lstStyle/>
          <a:p>
            <a:pPr algn="r" indent="0" marL="0">
              <a:buNone/>
            </a:pPr>
            <a:r>
              <a:rPr lang="en-US" sz="800" i="1" dirty="0">
                <a:solidFill>
                  <a:srgbClr val="718096"/>
                </a:solidFill>
                <a:latin typeface="Calibri" pitchFamily="34" charset="0"/>
                <a:ea typeface="Calibri" pitchFamily="34" charset="-122"/>
                <a:cs typeface="Calibri" pitchFamily="34" charset="-120"/>
              </a:rPr>
              <a:t>Manuel</a:t>
            </a:r>
            <a:endParaRPr lang="en-US" sz="800" dirty="0"/>
          </a:p>
        </p:txBody>
      </p:sp>
      <p:sp>
        <p:nvSpPr>
          <p:cNvPr id="38" name="Shape 36"/>
          <p:cNvSpPr/>
          <p:nvPr/>
        </p:nvSpPr>
        <p:spPr>
          <a:xfrm>
            <a:off x="10040112" y="2331720"/>
            <a:ext cx="2212848" cy="457200"/>
          </a:xfrm>
          <a:prstGeom prst="rect">
            <a:avLst/>
          </a:prstGeom>
          <a:solidFill>
            <a:srgbClr val="C76E5B"/>
          </a:solidFill>
          <a:ln/>
        </p:spPr>
      </p:sp>
      <p:sp>
        <p:nvSpPr>
          <p:cNvPr id="39" name="Text 37"/>
          <p:cNvSpPr/>
          <p:nvPr/>
        </p:nvSpPr>
        <p:spPr>
          <a:xfrm>
            <a:off x="10131552" y="2377440"/>
            <a:ext cx="202996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Tabt / Kold</a:t>
            </a:r>
            <a:endParaRPr lang="en-US" sz="1200" dirty="0"/>
          </a:p>
        </p:txBody>
      </p:sp>
      <p:sp>
        <p:nvSpPr>
          <p:cNvPr id="40" name="Shape 38"/>
          <p:cNvSpPr/>
          <p:nvPr/>
        </p:nvSpPr>
        <p:spPr>
          <a:xfrm>
            <a:off x="10040112" y="2788920"/>
            <a:ext cx="2212848" cy="2468880"/>
          </a:xfrm>
          <a:prstGeom prst="rect">
            <a:avLst/>
          </a:prstGeom>
          <a:solidFill>
            <a:srgbClr val="F1F1EE"/>
          </a:solidFill>
          <a:ln w="6350">
            <a:solidFill>
              <a:srgbClr val="E2E8F0"/>
            </a:solidFill>
            <a:prstDash val="solid"/>
          </a:ln>
        </p:spPr>
      </p:sp>
      <p:sp>
        <p:nvSpPr>
          <p:cNvPr id="41" name="Shape 39"/>
          <p:cNvSpPr/>
          <p:nvPr/>
        </p:nvSpPr>
        <p:spPr>
          <a:xfrm>
            <a:off x="10177272" y="2971800"/>
            <a:ext cx="1938528" cy="77724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42" name="Text 40"/>
          <p:cNvSpPr/>
          <p:nvPr/>
        </p:nvSpPr>
        <p:spPr>
          <a:xfrm>
            <a:off x="10268712" y="3044952"/>
            <a:ext cx="1755648" cy="274320"/>
          </a:xfrm>
          <a:prstGeom prst="rect">
            <a:avLst/>
          </a:prstGeom>
          <a:noFill/>
          <a:ln/>
        </p:spPr>
        <p:txBody>
          <a:bodyPr wrap="square" lIns="0" tIns="0" rIns="0" bIns="0" rtlCol="0" anchor="ctr"/>
          <a:lstStyle/>
          <a:p>
            <a:pPr indent="0" marL="0">
              <a:buNone/>
            </a:pPr>
            <a:r>
              <a:rPr lang="en-US" sz="1000" b="1" dirty="0">
                <a:solidFill>
                  <a:srgbClr val="1A202C"/>
                </a:solidFill>
                <a:latin typeface="Calibri" pitchFamily="34" charset="0"/>
                <a:ea typeface="Calibri" pitchFamily="34" charset="-122"/>
                <a:cs typeface="Calibri" pitchFamily="34" charset="-120"/>
              </a:rPr>
              <a:t>Lars Andersen</a:t>
            </a:r>
            <a:endParaRPr lang="en-US" sz="1000" dirty="0"/>
          </a:p>
        </p:txBody>
      </p:sp>
      <p:sp>
        <p:nvSpPr>
          <p:cNvPr id="43" name="Text 41"/>
          <p:cNvSpPr/>
          <p:nvPr/>
        </p:nvSpPr>
        <p:spPr>
          <a:xfrm>
            <a:off x="10268712" y="3291840"/>
            <a:ext cx="1755648" cy="274320"/>
          </a:xfrm>
          <a:prstGeom prst="rect">
            <a:avLst/>
          </a:prstGeom>
          <a:noFill/>
          <a:ln/>
        </p:spPr>
        <p:txBody>
          <a:bodyPr wrap="square" lIns="0" tIns="0" rIns="0" bIns="0" rtlCol="0" anchor="ctr"/>
          <a:lstStyle/>
          <a:p>
            <a:pPr indent="0" marL="0">
              <a:buNone/>
            </a:pPr>
            <a:r>
              <a:rPr lang="en-US" sz="900" i="1" dirty="0">
                <a:solidFill>
                  <a:srgbClr val="718096"/>
                </a:solidFill>
                <a:latin typeface="Calibri" pitchFamily="34" charset="0"/>
                <a:ea typeface="Calibri" pitchFamily="34" charset="-122"/>
                <a:cs typeface="Calibri" pitchFamily="34" charset="-120"/>
              </a:rPr>
              <a:t>Lyngby · indvendig</a:t>
            </a:r>
            <a:endParaRPr lang="en-US" sz="900" dirty="0"/>
          </a:p>
        </p:txBody>
      </p:sp>
      <p:sp>
        <p:nvSpPr>
          <p:cNvPr id="44" name="Text 42"/>
          <p:cNvSpPr/>
          <p:nvPr/>
        </p:nvSpPr>
        <p:spPr>
          <a:xfrm>
            <a:off x="10268712" y="3502152"/>
            <a:ext cx="1755648" cy="228600"/>
          </a:xfrm>
          <a:prstGeom prst="rect">
            <a:avLst/>
          </a:prstGeom>
          <a:noFill/>
          <a:ln/>
        </p:spPr>
        <p:txBody>
          <a:bodyPr wrap="square" lIns="0" tIns="0" rIns="0" bIns="0" rtlCol="0" anchor="ctr"/>
          <a:lstStyle/>
          <a:p>
            <a:pPr indent="0" marL="0">
              <a:buNone/>
            </a:pPr>
            <a:r>
              <a:rPr lang="en-US" sz="800" dirty="0">
                <a:solidFill>
                  <a:srgbClr val="A0AEC0"/>
                </a:solidFill>
                <a:latin typeface="Calibri" pitchFamily="34" charset="0"/>
                <a:ea typeface="Calibri" pitchFamily="34" charset="-122"/>
                <a:cs typeface="Calibri" pitchFamily="34" charset="-120"/>
              </a:rPr>
              <a:t>12. maj 2026</a:t>
            </a:r>
            <a:endParaRPr lang="en-US" sz="800" dirty="0"/>
          </a:p>
        </p:txBody>
      </p:sp>
      <p:sp>
        <p:nvSpPr>
          <p:cNvPr id="45" name="Text 43"/>
          <p:cNvSpPr/>
          <p:nvPr/>
        </p:nvSpPr>
        <p:spPr>
          <a:xfrm>
            <a:off x="10177272" y="4937760"/>
            <a:ext cx="1938528" cy="228600"/>
          </a:xfrm>
          <a:prstGeom prst="rect">
            <a:avLst/>
          </a:prstGeom>
          <a:noFill/>
          <a:ln/>
        </p:spPr>
        <p:txBody>
          <a:bodyPr wrap="square" lIns="0" tIns="0" rIns="0" bIns="0" rtlCol="0" anchor="ctr"/>
          <a:lstStyle/>
          <a:p>
            <a:pPr algn="r" indent="0" marL="0">
              <a:buNone/>
            </a:pPr>
            <a:r>
              <a:rPr lang="en-US" sz="800" i="1" dirty="0">
                <a:solidFill>
                  <a:srgbClr val="718096"/>
                </a:solidFill>
                <a:latin typeface="Calibri" pitchFamily="34" charset="0"/>
                <a:ea typeface="Calibri" pitchFamily="34" charset="-122"/>
                <a:cs typeface="Calibri" pitchFamily="34" charset="-120"/>
              </a:rPr>
              <a:t>Manuel</a:t>
            </a:r>
            <a:endParaRPr lang="en-US" sz="800" dirty="0"/>
          </a:p>
        </p:txBody>
      </p:sp>
      <p:sp>
        <p:nvSpPr>
          <p:cNvPr id="46" name="Shape 44"/>
          <p:cNvSpPr/>
          <p:nvPr/>
        </p:nvSpPr>
        <p:spPr>
          <a:xfrm>
            <a:off x="640080" y="5532120"/>
            <a:ext cx="11091672" cy="914400"/>
          </a:xfrm>
          <a:prstGeom prst="rect">
            <a:avLst/>
          </a:prstGeom>
          <a:solidFill>
            <a:srgbClr val="1A202C"/>
          </a:solidFill>
          <a:ln/>
        </p:spPr>
      </p:sp>
      <p:pic>
        <p:nvPicPr>
          <p:cNvPr id="47" name="Image 0" descr="preencoded.png">    </p:cNvPr>
          <p:cNvPicPr>
            <a:picLocks noChangeAspect="1"/>
          </p:cNvPicPr>
          <p:nvPr/>
        </p:nvPicPr>
        <p:blipFill>
          <a:blip r:embed="rId1"/>
          <a:stretch>
            <a:fillRect/>
          </a:stretch>
        </p:blipFill>
        <p:spPr>
          <a:xfrm>
            <a:off x="868680" y="5779008"/>
            <a:ext cx="411480" cy="411480"/>
          </a:xfrm>
          <a:prstGeom prst="rect">
            <a:avLst/>
          </a:prstGeom>
        </p:spPr>
      </p:pic>
      <p:sp>
        <p:nvSpPr>
          <p:cNvPr id="48" name="Text 45"/>
          <p:cNvSpPr/>
          <p:nvPr/>
        </p:nvSpPr>
        <p:spPr>
          <a:xfrm>
            <a:off x="1417320" y="5650992"/>
            <a:ext cx="4114800" cy="320040"/>
          </a:xfrm>
          <a:prstGeom prst="rect">
            <a:avLst/>
          </a:prstGeom>
          <a:noFill/>
          <a:ln/>
        </p:spPr>
        <p:txBody>
          <a:bodyPr wrap="square" lIns="0" tIns="0" rIns="0" bIns="0" rtlCol="0" anchor="ctr"/>
          <a:lstStyle/>
          <a:p>
            <a:pPr indent="0" marL="0">
              <a:buNone/>
            </a:pPr>
            <a:r>
              <a:rPr lang="en-US" sz="1300" b="1" i="1" dirty="0">
                <a:solidFill>
                  <a:srgbClr val="A8C2BF"/>
                </a:solidFill>
                <a:latin typeface="Georgia" pitchFamily="34" charset="0"/>
                <a:ea typeface="Georgia" pitchFamily="34" charset="-122"/>
                <a:cs typeface="Georgia" pitchFamily="34" charset="-120"/>
              </a:rPr>
              <a:t>Cold lead-nurturing:</a:t>
            </a:r>
            <a:endParaRPr lang="en-US" sz="1300" dirty="0"/>
          </a:p>
        </p:txBody>
      </p:sp>
      <p:sp>
        <p:nvSpPr>
          <p:cNvPr id="49" name="Text 46"/>
          <p:cNvSpPr/>
          <p:nvPr/>
        </p:nvSpPr>
        <p:spPr>
          <a:xfrm>
            <a:off x="1417320" y="5952744"/>
            <a:ext cx="1005840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Leads markeret 'Tabt/Kold' udløser automatisk en påmindelse til Adam efter 3 og 6 måneder — så ingen kunde glemmes.</a:t>
            </a:r>
            <a:endParaRPr lang="en-US" sz="1100" dirty="0"/>
          </a:p>
        </p:txBody>
      </p:sp>
      <p:sp>
        <p:nvSpPr>
          <p:cNvPr id="50" name="Text 47"/>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51" name="Text 48"/>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07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INDHOLDSSTYRING</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200" b="1" dirty="0">
                <a:solidFill>
                  <a:srgbClr val="1A202C"/>
                </a:solidFill>
                <a:latin typeface="Georgia" pitchFamily="34" charset="0"/>
                <a:ea typeface="Georgia" pitchFamily="34" charset="-122"/>
                <a:cs typeface="Georgia" pitchFamily="34" charset="-120"/>
              </a:rPr>
              <a:t>Adam redigerer selv — uden udvikler</a:t>
            </a:r>
            <a:endParaRPr lang="en-US" sz="3200" dirty="0"/>
          </a:p>
        </p:txBody>
      </p:sp>
      <p:sp>
        <p:nvSpPr>
          <p:cNvPr id="5" name="Text 3"/>
          <p:cNvSpPr/>
          <p:nvPr/>
        </p:nvSpPr>
        <p:spPr>
          <a:xfrm>
            <a:off x="640080" y="1645920"/>
            <a:ext cx="10972800" cy="365760"/>
          </a:xfrm>
          <a:prstGeom prst="rect">
            <a:avLst/>
          </a:prstGeom>
          <a:noFill/>
          <a:ln/>
        </p:spPr>
        <p:txBody>
          <a:bodyPr wrap="square" lIns="0" tIns="0" rIns="0" bIns="0"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Sanity CMS giver Adam fuld kontrol over alle tekster, billeder og projekter via et brugervenligt panel.</a:t>
            </a:r>
            <a:endParaRPr lang="en-US" sz="1300" dirty="0"/>
          </a:p>
        </p:txBody>
      </p:sp>
      <p:sp>
        <p:nvSpPr>
          <p:cNvPr id="6" name="Text 4"/>
          <p:cNvSpPr/>
          <p:nvPr/>
        </p:nvSpPr>
        <p:spPr>
          <a:xfrm>
            <a:off x="640080" y="2331720"/>
            <a:ext cx="5486400" cy="365760"/>
          </a:xfrm>
          <a:prstGeom prst="rect">
            <a:avLst/>
          </a:prstGeom>
          <a:noFill/>
          <a:ln/>
        </p:spPr>
        <p:txBody>
          <a:bodyPr wrap="square" lIns="0" tIns="0" rIns="0" bIns="0" rtlCol="0" anchor="ctr"/>
          <a:lstStyle/>
          <a:p>
            <a:pPr indent="0" marL="0">
              <a:buNone/>
            </a:pPr>
            <a:r>
              <a:rPr lang="en-US" sz="1600" b="1" i="1" dirty="0">
                <a:solidFill>
                  <a:srgbClr val="5A7E7A"/>
                </a:solidFill>
                <a:latin typeface="Georgia" pitchFamily="34" charset="0"/>
                <a:ea typeface="Georgia" pitchFamily="34" charset="-122"/>
                <a:cs typeface="Georgia" pitchFamily="34" charset="-120"/>
              </a:rPr>
              <a:t>Hvad Adam kan redigere selv:</a:t>
            </a:r>
            <a:endParaRPr lang="en-US" sz="1600" dirty="0"/>
          </a:p>
        </p:txBody>
      </p:sp>
      <p:pic>
        <p:nvPicPr>
          <p:cNvPr id="7" name="Image 0" descr="preencoded.png">    </p:cNvPr>
          <p:cNvPicPr>
            <a:picLocks noChangeAspect="1"/>
          </p:cNvPicPr>
          <p:nvPr/>
        </p:nvPicPr>
        <p:blipFill>
          <a:blip r:embed="rId1"/>
          <a:stretch>
            <a:fillRect/>
          </a:stretch>
        </p:blipFill>
        <p:spPr>
          <a:xfrm>
            <a:off x="640080" y="2788920"/>
            <a:ext cx="274320" cy="274320"/>
          </a:xfrm>
          <a:prstGeom prst="rect">
            <a:avLst/>
          </a:prstGeom>
        </p:spPr>
      </p:pic>
      <p:sp>
        <p:nvSpPr>
          <p:cNvPr id="8" name="Text 5"/>
          <p:cNvSpPr/>
          <p:nvPr/>
        </p:nvSpPr>
        <p:spPr>
          <a:xfrm>
            <a:off x="1051560" y="2743200"/>
            <a:ext cx="50292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Forsidens overskrifter, brødtekst og CTA'er</a:t>
            </a:r>
            <a:endParaRPr lang="en-US" sz="1200" dirty="0"/>
          </a:p>
        </p:txBody>
      </p:sp>
      <p:pic>
        <p:nvPicPr>
          <p:cNvPr id="9" name="Image 1" descr="preencoded.png">    </p:cNvPr>
          <p:cNvPicPr>
            <a:picLocks noChangeAspect="1"/>
          </p:cNvPicPr>
          <p:nvPr/>
        </p:nvPicPr>
        <p:blipFill>
          <a:blip r:embed="rId2"/>
          <a:stretch>
            <a:fillRect/>
          </a:stretch>
        </p:blipFill>
        <p:spPr>
          <a:xfrm>
            <a:off x="640080" y="3246120"/>
            <a:ext cx="274320" cy="274320"/>
          </a:xfrm>
          <a:prstGeom prst="rect">
            <a:avLst/>
          </a:prstGeom>
        </p:spPr>
      </p:pic>
      <p:sp>
        <p:nvSpPr>
          <p:cNvPr id="10" name="Text 6"/>
          <p:cNvSpPr/>
          <p:nvPr/>
        </p:nvSpPr>
        <p:spPr>
          <a:xfrm>
            <a:off x="1051560" y="3200400"/>
            <a:ext cx="50292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Projektbilleder, før/efter, billedtekster</a:t>
            </a:r>
            <a:endParaRPr lang="en-US" sz="1200" dirty="0"/>
          </a:p>
        </p:txBody>
      </p:sp>
      <p:pic>
        <p:nvPicPr>
          <p:cNvPr id="11" name="Image 2" descr="preencoded.png">    </p:cNvPr>
          <p:cNvPicPr>
            <a:picLocks noChangeAspect="1"/>
          </p:cNvPicPr>
          <p:nvPr/>
        </p:nvPicPr>
        <p:blipFill>
          <a:blip r:embed="rId3"/>
          <a:stretch>
            <a:fillRect/>
          </a:stretch>
        </p:blipFill>
        <p:spPr>
          <a:xfrm>
            <a:off x="640080" y="3703320"/>
            <a:ext cx="274320" cy="274320"/>
          </a:xfrm>
          <a:prstGeom prst="rect">
            <a:avLst/>
          </a:prstGeom>
        </p:spPr>
      </p:pic>
      <p:sp>
        <p:nvSpPr>
          <p:cNvPr id="12" name="Text 7"/>
          <p:cNvSpPr/>
          <p:nvPr/>
        </p:nvSpPr>
        <p:spPr>
          <a:xfrm>
            <a:off x="1051560" y="3657600"/>
            <a:ext cx="50292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Tilføje nye projekter og case-sider</a:t>
            </a:r>
            <a:endParaRPr lang="en-US" sz="1200" dirty="0"/>
          </a:p>
        </p:txBody>
      </p:sp>
      <p:pic>
        <p:nvPicPr>
          <p:cNvPr id="13" name="Image 3" descr="preencoded.png">    </p:cNvPr>
          <p:cNvPicPr>
            <a:picLocks noChangeAspect="1"/>
          </p:cNvPicPr>
          <p:nvPr/>
        </p:nvPicPr>
        <p:blipFill>
          <a:blip r:embed="rId4"/>
          <a:stretch>
            <a:fillRect/>
          </a:stretch>
        </p:blipFill>
        <p:spPr>
          <a:xfrm>
            <a:off x="640080" y="4160520"/>
            <a:ext cx="274320" cy="274320"/>
          </a:xfrm>
          <a:prstGeom prst="rect">
            <a:avLst/>
          </a:prstGeom>
        </p:spPr>
      </p:pic>
      <p:sp>
        <p:nvSpPr>
          <p:cNvPr id="14" name="Text 8"/>
          <p:cNvSpPr/>
          <p:nvPr/>
        </p:nvSpPr>
        <p:spPr>
          <a:xfrm>
            <a:off x="1051560" y="4114800"/>
            <a:ext cx="50292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Kundereferencer, citater og logoer</a:t>
            </a:r>
            <a:endParaRPr lang="en-US" sz="1200" dirty="0"/>
          </a:p>
        </p:txBody>
      </p:sp>
      <p:pic>
        <p:nvPicPr>
          <p:cNvPr id="15" name="Image 4" descr="preencoded.png">    </p:cNvPr>
          <p:cNvPicPr>
            <a:picLocks noChangeAspect="1"/>
          </p:cNvPicPr>
          <p:nvPr/>
        </p:nvPicPr>
        <p:blipFill>
          <a:blip r:embed="rId5"/>
          <a:stretch>
            <a:fillRect/>
          </a:stretch>
        </p:blipFill>
        <p:spPr>
          <a:xfrm>
            <a:off x="640080" y="4617720"/>
            <a:ext cx="274320" cy="274320"/>
          </a:xfrm>
          <a:prstGeom prst="rect">
            <a:avLst/>
          </a:prstGeom>
        </p:spPr>
      </p:pic>
      <p:sp>
        <p:nvSpPr>
          <p:cNvPr id="16" name="Text 9"/>
          <p:cNvSpPr/>
          <p:nvPr/>
        </p:nvSpPr>
        <p:spPr>
          <a:xfrm>
            <a:off x="1051560" y="4572000"/>
            <a:ext cx="50292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FAQ-spørgsmål, services, processtrin</a:t>
            </a:r>
            <a:endParaRPr lang="en-US" sz="1200" dirty="0"/>
          </a:p>
        </p:txBody>
      </p:sp>
      <p:pic>
        <p:nvPicPr>
          <p:cNvPr id="17" name="Image 5" descr="preencoded.png">    </p:cNvPr>
          <p:cNvPicPr>
            <a:picLocks noChangeAspect="1"/>
          </p:cNvPicPr>
          <p:nvPr/>
        </p:nvPicPr>
        <p:blipFill>
          <a:blip r:embed="rId6"/>
          <a:stretch>
            <a:fillRect/>
          </a:stretch>
        </p:blipFill>
        <p:spPr>
          <a:xfrm>
            <a:off x="640080" y="5074920"/>
            <a:ext cx="274320" cy="274320"/>
          </a:xfrm>
          <a:prstGeom prst="rect">
            <a:avLst/>
          </a:prstGeom>
        </p:spPr>
      </p:pic>
      <p:sp>
        <p:nvSpPr>
          <p:cNvPr id="18" name="Text 10"/>
          <p:cNvSpPr/>
          <p:nvPr/>
        </p:nvSpPr>
        <p:spPr>
          <a:xfrm>
            <a:off x="1051560" y="5029200"/>
            <a:ext cx="50292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Privatlivs- og cookiepolitik (juridisk tekst)</a:t>
            </a:r>
            <a:endParaRPr lang="en-US" sz="1200" dirty="0"/>
          </a:p>
        </p:txBody>
      </p:sp>
      <p:pic>
        <p:nvPicPr>
          <p:cNvPr id="19" name="Image 6" descr="preencoded.png">    </p:cNvPr>
          <p:cNvPicPr>
            <a:picLocks noChangeAspect="1"/>
          </p:cNvPicPr>
          <p:nvPr/>
        </p:nvPicPr>
        <p:blipFill>
          <a:blip r:embed="rId7"/>
          <a:stretch>
            <a:fillRect/>
          </a:stretch>
        </p:blipFill>
        <p:spPr>
          <a:xfrm>
            <a:off x="640080" y="5532120"/>
            <a:ext cx="274320" cy="274320"/>
          </a:xfrm>
          <a:prstGeom prst="rect">
            <a:avLst/>
          </a:prstGeom>
        </p:spPr>
      </p:pic>
      <p:sp>
        <p:nvSpPr>
          <p:cNvPr id="20" name="Text 11"/>
          <p:cNvSpPr/>
          <p:nvPr/>
        </p:nvSpPr>
        <p:spPr>
          <a:xfrm>
            <a:off x="1051560" y="5486400"/>
            <a:ext cx="502920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Begge sprog (dansk + engelsk) i samme view</a:t>
            </a:r>
            <a:endParaRPr lang="en-US" sz="1200" dirty="0"/>
          </a:p>
        </p:txBody>
      </p:sp>
      <p:sp>
        <p:nvSpPr>
          <p:cNvPr id="21" name="Shape 12"/>
          <p:cNvSpPr/>
          <p:nvPr/>
        </p:nvSpPr>
        <p:spPr>
          <a:xfrm>
            <a:off x="6766560" y="2331720"/>
            <a:ext cx="4965192" cy="4114800"/>
          </a:xfrm>
          <a:prstGeom prst="rect">
            <a:avLst/>
          </a:prstGeom>
          <a:solidFill>
            <a:srgbClr val="1A202C"/>
          </a:solidFill>
          <a:ln/>
          <a:effectLst>
            <a:outerShdw sx="100000" sy="100000" kx="0" ky="0" algn="bl" rotWithShape="0" blurRad="177800" dist="50800" dir="16200000">
              <a:srgbClr val="000000">
                <a:alpha val="18000"/>
              </a:srgbClr>
            </a:outerShdw>
          </a:effectLst>
        </p:spPr>
      </p:sp>
      <p:sp>
        <p:nvSpPr>
          <p:cNvPr id="22" name="Text 13"/>
          <p:cNvSpPr/>
          <p:nvPr/>
        </p:nvSpPr>
        <p:spPr>
          <a:xfrm>
            <a:off x="7132320" y="2606040"/>
            <a:ext cx="4233672" cy="457200"/>
          </a:xfrm>
          <a:prstGeom prst="rect">
            <a:avLst/>
          </a:prstGeom>
          <a:noFill/>
          <a:ln/>
        </p:spPr>
        <p:txBody>
          <a:bodyPr wrap="square" lIns="0" tIns="0" rIns="0" bIns="0" rtlCol="0" anchor="ctr"/>
          <a:lstStyle/>
          <a:p>
            <a:pPr indent="0" marL="0">
              <a:buNone/>
            </a:pPr>
            <a:r>
              <a:rPr lang="en-US" sz="1600" b="1" i="1" dirty="0">
                <a:solidFill>
                  <a:srgbClr val="A8C2BF"/>
                </a:solidFill>
                <a:latin typeface="Georgia" pitchFamily="34" charset="0"/>
                <a:ea typeface="Georgia" pitchFamily="34" charset="-122"/>
                <a:cs typeface="Georgia" pitchFamily="34" charset="-120"/>
              </a:rPr>
              <a:t>Sådan virker det:</a:t>
            </a:r>
            <a:endParaRPr lang="en-US" sz="1600" dirty="0"/>
          </a:p>
        </p:txBody>
      </p:sp>
      <p:sp>
        <p:nvSpPr>
          <p:cNvPr id="23" name="Shape 14"/>
          <p:cNvSpPr/>
          <p:nvPr/>
        </p:nvSpPr>
        <p:spPr>
          <a:xfrm>
            <a:off x="7132320" y="3154680"/>
            <a:ext cx="502920" cy="502920"/>
          </a:xfrm>
          <a:prstGeom prst="ellipse">
            <a:avLst/>
          </a:prstGeom>
          <a:solidFill>
            <a:srgbClr val="7A9E9A"/>
          </a:solidFill>
          <a:ln/>
        </p:spPr>
      </p:sp>
      <p:sp>
        <p:nvSpPr>
          <p:cNvPr id="24" name="Text 15"/>
          <p:cNvSpPr/>
          <p:nvPr/>
        </p:nvSpPr>
        <p:spPr>
          <a:xfrm>
            <a:off x="7132320" y="3154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25" name="Text 16"/>
          <p:cNvSpPr/>
          <p:nvPr/>
        </p:nvSpPr>
        <p:spPr>
          <a:xfrm>
            <a:off x="7772400" y="3108960"/>
            <a:ext cx="3685032"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Adam logger ind</a:t>
            </a:r>
            <a:endParaRPr lang="en-US" sz="1300" dirty="0"/>
          </a:p>
        </p:txBody>
      </p:sp>
      <p:sp>
        <p:nvSpPr>
          <p:cNvPr id="26" name="Text 17"/>
          <p:cNvSpPr/>
          <p:nvPr/>
        </p:nvSpPr>
        <p:spPr>
          <a:xfrm>
            <a:off x="7772400" y="3429000"/>
            <a:ext cx="3685032" cy="320040"/>
          </a:xfrm>
          <a:prstGeom prst="rect">
            <a:avLst/>
          </a:prstGeom>
          <a:noFill/>
          <a:ln/>
        </p:spPr>
        <p:txBody>
          <a:bodyPr wrap="square" lIns="0" tIns="0" rIns="0" bIns="0" rtlCol="0" anchor="ctr"/>
          <a:lstStyle/>
          <a:p>
            <a:pPr indent="0" marL="0">
              <a:buNone/>
            </a:pPr>
            <a:r>
              <a:rPr lang="en-US" sz="1000" dirty="0">
                <a:solidFill>
                  <a:srgbClr val="A8C2BF"/>
                </a:solidFill>
                <a:latin typeface="Calibri" pitchFamily="34" charset="0"/>
                <a:ea typeface="Calibri" pitchFamily="34" charset="-122"/>
                <a:cs typeface="Calibri" pitchFamily="34" charset="-120"/>
              </a:rPr>
              <a:t>Sanity Studio — sin egen brugerkonto, mobilvenlig</a:t>
            </a:r>
            <a:endParaRPr lang="en-US" sz="1000" dirty="0"/>
          </a:p>
        </p:txBody>
      </p:sp>
      <p:sp>
        <p:nvSpPr>
          <p:cNvPr id="27" name="Shape 18"/>
          <p:cNvSpPr/>
          <p:nvPr/>
        </p:nvSpPr>
        <p:spPr>
          <a:xfrm>
            <a:off x="7132320" y="3931920"/>
            <a:ext cx="502920" cy="502920"/>
          </a:xfrm>
          <a:prstGeom prst="ellipse">
            <a:avLst/>
          </a:prstGeom>
          <a:solidFill>
            <a:srgbClr val="7A9E9A"/>
          </a:solidFill>
          <a:ln/>
        </p:spPr>
      </p:sp>
      <p:sp>
        <p:nvSpPr>
          <p:cNvPr id="28" name="Text 19"/>
          <p:cNvSpPr/>
          <p:nvPr/>
        </p:nvSpPr>
        <p:spPr>
          <a:xfrm>
            <a:off x="7132320" y="3931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29" name="Text 20"/>
          <p:cNvSpPr/>
          <p:nvPr/>
        </p:nvSpPr>
        <p:spPr>
          <a:xfrm>
            <a:off x="7772400" y="3886200"/>
            <a:ext cx="3685032"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Vælger sektion</a:t>
            </a:r>
            <a:endParaRPr lang="en-US" sz="1300" dirty="0"/>
          </a:p>
        </p:txBody>
      </p:sp>
      <p:sp>
        <p:nvSpPr>
          <p:cNvPr id="30" name="Text 21"/>
          <p:cNvSpPr/>
          <p:nvPr/>
        </p:nvSpPr>
        <p:spPr>
          <a:xfrm>
            <a:off x="7772400" y="4206240"/>
            <a:ext cx="3685032" cy="320040"/>
          </a:xfrm>
          <a:prstGeom prst="rect">
            <a:avLst/>
          </a:prstGeom>
          <a:noFill/>
          <a:ln/>
        </p:spPr>
        <p:txBody>
          <a:bodyPr wrap="square" lIns="0" tIns="0" rIns="0" bIns="0" rtlCol="0" anchor="ctr"/>
          <a:lstStyle/>
          <a:p>
            <a:pPr indent="0" marL="0">
              <a:buNone/>
            </a:pPr>
            <a:r>
              <a:rPr lang="en-US" sz="1000" dirty="0">
                <a:solidFill>
                  <a:srgbClr val="A8C2BF"/>
                </a:solidFill>
                <a:latin typeface="Calibri" pitchFamily="34" charset="0"/>
                <a:ea typeface="Calibri" pitchFamily="34" charset="-122"/>
                <a:cs typeface="Calibri" pitchFamily="34" charset="-120"/>
              </a:rPr>
              <a:t>Forside · Projekter · FAQ · m.m.</a:t>
            </a:r>
            <a:endParaRPr lang="en-US" sz="1000" dirty="0"/>
          </a:p>
        </p:txBody>
      </p:sp>
      <p:sp>
        <p:nvSpPr>
          <p:cNvPr id="31" name="Shape 22"/>
          <p:cNvSpPr/>
          <p:nvPr/>
        </p:nvSpPr>
        <p:spPr>
          <a:xfrm>
            <a:off x="7132320" y="4709160"/>
            <a:ext cx="502920" cy="502920"/>
          </a:xfrm>
          <a:prstGeom prst="ellipse">
            <a:avLst/>
          </a:prstGeom>
          <a:solidFill>
            <a:srgbClr val="7A9E9A"/>
          </a:solidFill>
          <a:ln/>
        </p:spPr>
      </p:sp>
      <p:sp>
        <p:nvSpPr>
          <p:cNvPr id="32" name="Text 23"/>
          <p:cNvSpPr/>
          <p:nvPr/>
        </p:nvSpPr>
        <p:spPr>
          <a:xfrm>
            <a:off x="7132320" y="47091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33" name="Text 24"/>
          <p:cNvSpPr/>
          <p:nvPr/>
        </p:nvSpPr>
        <p:spPr>
          <a:xfrm>
            <a:off x="7772400" y="4663440"/>
            <a:ext cx="3685032"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Redigerer indhold</a:t>
            </a:r>
            <a:endParaRPr lang="en-US" sz="1300" dirty="0"/>
          </a:p>
        </p:txBody>
      </p:sp>
      <p:sp>
        <p:nvSpPr>
          <p:cNvPr id="34" name="Text 25"/>
          <p:cNvSpPr/>
          <p:nvPr/>
        </p:nvSpPr>
        <p:spPr>
          <a:xfrm>
            <a:off x="7772400" y="4983480"/>
            <a:ext cx="3685032" cy="320040"/>
          </a:xfrm>
          <a:prstGeom prst="rect">
            <a:avLst/>
          </a:prstGeom>
          <a:noFill/>
          <a:ln/>
        </p:spPr>
        <p:txBody>
          <a:bodyPr wrap="square" lIns="0" tIns="0" rIns="0" bIns="0" rtlCol="0" anchor="ctr"/>
          <a:lstStyle/>
          <a:p>
            <a:pPr indent="0" marL="0">
              <a:buNone/>
            </a:pPr>
            <a:r>
              <a:rPr lang="en-US" sz="1000" dirty="0">
                <a:solidFill>
                  <a:srgbClr val="A8C2BF"/>
                </a:solidFill>
                <a:latin typeface="Calibri" pitchFamily="34" charset="0"/>
                <a:ea typeface="Calibri" pitchFamily="34" charset="-122"/>
                <a:cs typeface="Calibri" pitchFamily="34" charset="-120"/>
              </a:rPr>
              <a:t>Tekst, billeder, oversættelser — Word-lignende</a:t>
            </a:r>
            <a:endParaRPr lang="en-US" sz="1000" dirty="0"/>
          </a:p>
        </p:txBody>
      </p:sp>
      <p:sp>
        <p:nvSpPr>
          <p:cNvPr id="35" name="Shape 26"/>
          <p:cNvSpPr/>
          <p:nvPr/>
        </p:nvSpPr>
        <p:spPr>
          <a:xfrm>
            <a:off x="7132320" y="5486400"/>
            <a:ext cx="502920" cy="502920"/>
          </a:xfrm>
          <a:prstGeom prst="ellipse">
            <a:avLst/>
          </a:prstGeom>
          <a:solidFill>
            <a:srgbClr val="7A9E9A"/>
          </a:solidFill>
          <a:ln/>
        </p:spPr>
      </p:sp>
      <p:sp>
        <p:nvSpPr>
          <p:cNvPr id="36" name="Text 27"/>
          <p:cNvSpPr/>
          <p:nvPr/>
        </p:nvSpPr>
        <p:spPr>
          <a:xfrm>
            <a:off x="7132320" y="54864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37" name="Text 28"/>
          <p:cNvSpPr/>
          <p:nvPr/>
        </p:nvSpPr>
        <p:spPr>
          <a:xfrm>
            <a:off x="7772400" y="5440680"/>
            <a:ext cx="3685032"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Klikker 'Publicér'</a:t>
            </a:r>
            <a:endParaRPr lang="en-US" sz="1300" dirty="0"/>
          </a:p>
        </p:txBody>
      </p:sp>
      <p:sp>
        <p:nvSpPr>
          <p:cNvPr id="38" name="Text 29"/>
          <p:cNvSpPr/>
          <p:nvPr/>
        </p:nvSpPr>
        <p:spPr>
          <a:xfrm>
            <a:off x="7772400" y="5760720"/>
            <a:ext cx="3685032" cy="320040"/>
          </a:xfrm>
          <a:prstGeom prst="rect">
            <a:avLst/>
          </a:prstGeom>
          <a:noFill/>
          <a:ln/>
        </p:spPr>
        <p:txBody>
          <a:bodyPr wrap="square" lIns="0" tIns="0" rIns="0" bIns="0" rtlCol="0" anchor="ctr"/>
          <a:lstStyle/>
          <a:p>
            <a:pPr indent="0" marL="0">
              <a:buNone/>
            </a:pPr>
            <a:r>
              <a:rPr lang="en-US" sz="1000" dirty="0">
                <a:solidFill>
                  <a:srgbClr val="A8C2BF"/>
                </a:solidFill>
                <a:latin typeface="Calibri" pitchFamily="34" charset="0"/>
                <a:ea typeface="Calibri" pitchFamily="34" charset="-122"/>
                <a:cs typeface="Calibri" pitchFamily="34" charset="-120"/>
              </a:rPr>
              <a:t>Hjemmesiden opdateres på under 30 sekunder</a:t>
            </a:r>
            <a:endParaRPr lang="en-US" sz="1000" dirty="0"/>
          </a:p>
        </p:txBody>
      </p:sp>
      <p:sp>
        <p:nvSpPr>
          <p:cNvPr id="39" name="Text 30"/>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40" name="Text 31"/>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08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02C"/>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A8C2BF"/>
                </a:solidFill>
                <a:latin typeface="Calibri" pitchFamily="34" charset="0"/>
                <a:ea typeface="Calibri" pitchFamily="34" charset="-122"/>
                <a:cs typeface="Calibri" pitchFamily="34" charset="-120"/>
              </a:rPr>
              <a:t>TEKNISK FUNDAMENT</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Stack — bygget på enterprise-niveau services</a:t>
            </a:r>
            <a:endParaRPr lang="en-US" sz="3000" dirty="0"/>
          </a:p>
        </p:txBody>
      </p:sp>
      <p:sp>
        <p:nvSpPr>
          <p:cNvPr id="5" name="Text 3"/>
          <p:cNvSpPr/>
          <p:nvPr/>
        </p:nvSpPr>
        <p:spPr>
          <a:xfrm>
            <a:off x="640080" y="1645920"/>
            <a:ext cx="10972800" cy="365760"/>
          </a:xfrm>
          <a:prstGeom prst="rect">
            <a:avLst/>
          </a:prstGeom>
          <a:noFill/>
          <a:ln/>
        </p:spPr>
        <p:txBody>
          <a:bodyPr wrap="square" lIns="0" tIns="0" rIns="0" bIns="0" rtlCol="0" anchor="ctr"/>
          <a:lstStyle/>
          <a:p>
            <a:pPr indent="0" marL="0">
              <a:buNone/>
            </a:pPr>
            <a:r>
              <a:rPr lang="en-US" sz="1300" i="1" dirty="0">
                <a:solidFill>
                  <a:srgbClr val="A0AEC0"/>
                </a:solidFill>
                <a:latin typeface="Calibri" pitchFamily="34" charset="0"/>
                <a:ea typeface="Calibri" pitchFamily="34" charset="-122"/>
                <a:cs typeface="Calibri" pitchFamily="34" charset="-120"/>
              </a:rPr>
              <a:t>Hver komponent er valgt for stabilitet, sikkerhed og fri opskalering — ikke for at imponere.</a:t>
            </a:r>
            <a:endParaRPr lang="en-US" sz="1300" dirty="0"/>
          </a:p>
        </p:txBody>
      </p:sp>
      <p:sp>
        <p:nvSpPr>
          <p:cNvPr id="6" name="Shape 4"/>
          <p:cNvSpPr/>
          <p:nvPr/>
        </p:nvSpPr>
        <p:spPr>
          <a:xfrm>
            <a:off x="640080" y="2286000"/>
            <a:ext cx="1554480" cy="960120"/>
          </a:xfrm>
          <a:prstGeom prst="rect">
            <a:avLst/>
          </a:prstGeom>
          <a:solidFill>
            <a:srgbClr val="7A9E9A"/>
          </a:solidFill>
          <a:ln/>
        </p:spPr>
      </p:sp>
      <p:sp>
        <p:nvSpPr>
          <p:cNvPr id="7" name="Text 5"/>
          <p:cNvSpPr/>
          <p:nvPr/>
        </p:nvSpPr>
        <p:spPr>
          <a:xfrm>
            <a:off x="640080" y="2286000"/>
            <a:ext cx="1554480" cy="96012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Georgia" pitchFamily="34" charset="0"/>
                <a:ea typeface="Georgia" pitchFamily="34" charset="-122"/>
                <a:cs typeface="Georgia" pitchFamily="34" charset="-120"/>
              </a:rPr>
              <a:t>FRONTEND</a:t>
            </a:r>
            <a:endParaRPr lang="en-US" sz="1200" dirty="0"/>
          </a:p>
        </p:txBody>
      </p:sp>
      <p:sp>
        <p:nvSpPr>
          <p:cNvPr id="8" name="Shape 6"/>
          <p:cNvSpPr/>
          <p:nvPr/>
        </p:nvSpPr>
        <p:spPr>
          <a:xfrm>
            <a:off x="2194560" y="2286000"/>
            <a:ext cx="9537192" cy="960120"/>
          </a:xfrm>
          <a:prstGeom prst="rect">
            <a:avLst/>
          </a:prstGeom>
          <a:solidFill>
            <a:srgbClr val="2D3748"/>
          </a:solidFill>
          <a:ln w="6350">
            <a:solidFill>
              <a:srgbClr val="5A7E7A"/>
            </a:solidFill>
            <a:prstDash val="solid"/>
          </a:ln>
        </p:spPr>
      </p:sp>
      <p:sp>
        <p:nvSpPr>
          <p:cNvPr id="9" name="Text 7"/>
          <p:cNvSpPr/>
          <p:nvPr/>
        </p:nvSpPr>
        <p:spPr>
          <a:xfrm>
            <a:off x="2423160" y="2450592"/>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Next.js 14</a:t>
            </a:r>
            <a:endParaRPr lang="en-US" sz="1300" dirty="0"/>
          </a:p>
        </p:txBody>
      </p:sp>
      <p:sp>
        <p:nvSpPr>
          <p:cNvPr id="10" name="Text 8"/>
          <p:cNvSpPr/>
          <p:nvPr/>
        </p:nvSpPr>
        <p:spPr>
          <a:xfrm>
            <a:off x="2423160" y="2788920"/>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React-rammeværk</a:t>
            </a:r>
            <a:endParaRPr lang="en-US" sz="1000" dirty="0"/>
          </a:p>
        </p:txBody>
      </p:sp>
      <p:sp>
        <p:nvSpPr>
          <p:cNvPr id="11" name="Text 9"/>
          <p:cNvSpPr/>
          <p:nvPr/>
        </p:nvSpPr>
        <p:spPr>
          <a:xfrm>
            <a:off x="4716018" y="2450592"/>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Tailwind CSS</a:t>
            </a:r>
            <a:endParaRPr lang="en-US" sz="1300" dirty="0"/>
          </a:p>
        </p:txBody>
      </p:sp>
      <p:sp>
        <p:nvSpPr>
          <p:cNvPr id="12" name="Text 10"/>
          <p:cNvSpPr/>
          <p:nvPr/>
        </p:nvSpPr>
        <p:spPr>
          <a:xfrm>
            <a:off x="4716018" y="2788920"/>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Design</a:t>
            </a:r>
            <a:endParaRPr lang="en-US" sz="1000" dirty="0"/>
          </a:p>
        </p:txBody>
      </p:sp>
      <p:sp>
        <p:nvSpPr>
          <p:cNvPr id="13" name="Text 11"/>
          <p:cNvSpPr/>
          <p:nvPr/>
        </p:nvSpPr>
        <p:spPr>
          <a:xfrm>
            <a:off x="7008876" y="2450592"/>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GSAP + Three.js</a:t>
            </a:r>
            <a:endParaRPr lang="en-US" sz="1300" dirty="0"/>
          </a:p>
        </p:txBody>
      </p:sp>
      <p:sp>
        <p:nvSpPr>
          <p:cNvPr id="14" name="Text 12"/>
          <p:cNvSpPr/>
          <p:nvPr/>
        </p:nvSpPr>
        <p:spPr>
          <a:xfrm>
            <a:off x="7008876" y="2788920"/>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Cinematic-effekter</a:t>
            </a:r>
            <a:endParaRPr lang="en-US" sz="1000" dirty="0"/>
          </a:p>
        </p:txBody>
      </p:sp>
      <p:sp>
        <p:nvSpPr>
          <p:cNvPr id="15" name="Text 13"/>
          <p:cNvSpPr/>
          <p:nvPr/>
        </p:nvSpPr>
        <p:spPr>
          <a:xfrm>
            <a:off x="9301734" y="2450592"/>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TypeScript</a:t>
            </a:r>
            <a:endParaRPr lang="en-US" sz="1300" dirty="0"/>
          </a:p>
        </p:txBody>
      </p:sp>
      <p:sp>
        <p:nvSpPr>
          <p:cNvPr id="16" name="Text 14"/>
          <p:cNvSpPr/>
          <p:nvPr/>
        </p:nvSpPr>
        <p:spPr>
          <a:xfrm>
            <a:off x="9301734" y="2788920"/>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Type-sikkerhed</a:t>
            </a:r>
            <a:endParaRPr lang="en-US" sz="1000" dirty="0"/>
          </a:p>
        </p:txBody>
      </p:sp>
      <p:sp>
        <p:nvSpPr>
          <p:cNvPr id="17" name="Shape 15"/>
          <p:cNvSpPr/>
          <p:nvPr/>
        </p:nvSpPr>
        <p:spPr>
          <a:xfrm>
            <a:off x="640080" y="3364992"/>
            <a:ext cx="1554480" cy="960120"/>
          </a:xfrm>
          <a:prstGeom prst="rect">
            <a:avLst/>
          </a:prstGeom>
          <a:solidFill>
            <a:srgbClr val="7A9E9A"/>
          </a:solidFill>
          <a:ln/>
        </p:spPr>
      </p:sp>
      <p:sp>
        <p:nvSpPr>
          <p:cNvPr id="18" name="Text 16"/>
          <p:cNvSpPr/>
          <p:nvPr/>
        </p:nvSpPr>
        <p:spPr>
          <a:xfrm>
            <a:off x="640080" y="3364992"/>
            <a:ext cx="1554480" cy="96012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Georgia" pitchFamily="34" charset="0"/>
                <a:ea typeface="Georgia" pitchFamily="34" charset="-122"/>
                <a:cs typeface="Georgia" pitchFamily="34" charset="-120"/>
              </a:rPr>
              <a:t>INDHOLD</a:t>
            </a:r>
            <a:endParaRPr lang="en-US" sz="1200" dirty="0"/>
          </a:p>
        </p:txBody>
      </p:sp>
      <p:sp>
        <p:nvSpPr>
          <p:cNvPr id="19" name="Shape 17"/>
          <p:cNvSpPr/>
          <p:nvPr/>
        </p:nvSpPr>
        <p:spPr>
          <a:xfrm>
            <a:off x="2194560" y="3364992"/>
            <a:ext cx="9537192" cy="960120"/>
          </a:xfrm>
          <a:prstGeom prst="rect">
            <a:avLst/>
          </a:prstGeom>
          <a:solidFill>
            <a:srgbClr val="2D3748"/>
          </a:solidFill>
          <a:ln w="6350">
            <a:solidFill>
              <a:srgbClr val="5A7E7A"/>
            </a:solidFill>
            <a:prstDash val="solid"/>
          </a:ln>
        </p:spPr>
      </p:sp>
      <p:sp>
        <p:nvSpPr>
          <p:cNvPr id="20" name="Text 18"/>
          <p:cNvSpPr/>
          <p:nvPr/>
        </p:nvSpPr>
        <p:spPr>
          <a:xfrm>
            <a:off x="2423160" y="3529584"/>
            <a:ext cx="4494276"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Sanity CMS</a:t>
            </a:r>
            <a:endParaRPr lang="en-US" sz="1300" dirty="0"/>
          </a:p>
        </p:txBody>
      </p:sp>
      <p:sp>
        <p:nvSpPr>
          <p:cNvPr id="21" name="Text 19"/>
          <p:cNvSpPr/>
          <p:nvPr/>
        </p:nvSpPr>
        <p:spPr>
          <a:xfrm>
            <a:off x="2423160" y="3867912"/>
            <a:ext cx="4494276"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Indhold &amp; medier</a:t>
            </a:r>
            <a:endParaRPr lang="en-US" sz="1000" dirty="0"/>
          </a:p>
        </p:txBody>
      </p:sp>
      <p:sp>
        <p:nvSpPr>
          <p:cNvPr id="22" name="Text 20"/>
          <p:cNvSpPr/>
          <p:nvPr/>
        </p:nvSpPr>
        <p:spPr>
          <a:xfrm>
            <a:off x="7008876" y="3529584"/>
            <a:ext cx="4494276"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Google Drive</a:t>
            </a:r>
            <a:endParaRPr lang="en-US" sz="1300" dirty="0"/>
          </a:p>
        </p:txBody>
      </p:sp>
      <p:sp>
        <p:nvSpPr>
          <p:cNvPr id="23" name="Text 21"/>
          <p:cNvSpPr/>
          <p:nvPr/>
        </p:nvSpPr>
        <p:spPr>
          <a:xfrm>
            <a:off x="7008876" y="3867912"/>
            <a:ext cx="4494276"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Lead-billeder</a:t>
            </a:r>
            <a:endParaRPr lang="en-US" sz="1000" dirty="0"/>
          </a:p>
        </p:txBody>
      </p:sp>
      <p:sp>
        <p:nvSpPr>
          <p:cNvPr id="24" name="Shape 22"/>
          <p:cNvSpPr/>
          <p:nvPr/>
        </p:nvSpPr>
        <p:spPr>
          <a:xfrm>
            <a:off x="640080" y="4443984"/>
            <a:ext cx="1554480" cy="960120"/>
          </a:xfrm>
          <a:prstGeom prst="rect">
            <a:avLst/>
          </a:prstGeom>
          <a:solidFill>
            <a:srgbClr val="7A9E9A"/>
          </a:solidFill>
          <a:ln/>
        </p:spPr>
      </p:sp>
      <p:sp>
        <p:nvSpPr>
          <p:cNvPr id="25" name="Text 23"/>
          <p:cNvSpPr/>
          <p:nvPr/>
        </p:nvSpPr>
        <p:spPr>
          <a:xfrm>
            <a:off x="640080" y="4443984"/>
            <a:ext cx="1554480" cy="96012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Georgia" pitchFamily="34" charset="0"/>
                <a:ea typeface="Georgia" pitchFamily="34" charset="-122"/>
                <a:cs typeface="Georgia" pitchFamily="34" charset="-120"/>
              </a:rPr>
              <a:t>AUTOMATIK</a:t>
            </a:r>
            <a:endParaRPr lang="en-US" sz="1200" dirty="0"/>
          </a:p>
        </p:txBody>
      </p:sp>
      <p:sp>
        <p:nvSpPr>
          <p:cNvPr id="26" name="Shape 24"/>
          <p:cNvSpPr/>
          <p:nvPr/>
        </p:nvSpPr>
        <p:spPr>
          <a:xfrm>
            <a:off x="2194560" y="4443984"/>
            <a:ext cx="9537192" cy="960120"/>
          </a:xfrm>
          <a:prstGeom prst="rect">
            <a:avLst/>
          </a:prstGeom>
          <a:solidFill>
            <a:srgbClr val="2D3748"/>
          </a:solidFill>
          <a:ln w="6350">
            <a:solidFill>
              <a:srgbClr val="5A7E7A"/>
            </a:solidFill>
            <a:prstDash val="solid"/>
          </a:ln>
        </p:spPr>
      </p:sp>
      <p:sp>
        <p:nvSpPr>
          <p:cNvPr id="27" name="Text 25"/>
          <p:cNvSpPr/>
          <p:nvPr/>
        </p:nvSpPr>
        <p:spPr>
          <a:xfrm>
            <a:off x="2423160" y="4608576"/>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Calendly</a:t>
            </a:r>
            <a:endParaRPr lang="en-US" sz="1300" dirty="0"/>
          </a:p>
        </p:txBody>
      </p:sp>
      <p:sp>
        <p:nvSpPr>
          <p:cNvPr id="28" name="Text 26"/>
          <p:cNvSpPr/>
          <p:nvPr/>
        </p:nvSpPr>
        <p:spPr>
          <a:xfrm>
            <a:off x="2423160" y="4946904"/>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Booking</a:t>
            </a:r>
            <a:endParaRPr lang="en-US" sz="1000" dirty="0"/>
          </a:p>
        </p:txBody>
      </p:sp>
      <p:sp>
        <p:nvSpPr>
          <p:cNvPr id="29" name="Text 27"/>
          <p:cNvSpPr/>
          <p:nvPr/>
        </p:nvSpPr>
        <p:spPr>
          <a:xfrm>
            <a:off x="4716018" y="4608576"/>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Make.com</a:t>
            </a:r>
            <a:endParaRPr lang="en-US" sz="1300" dirty="0"/>
          </a:p>
        </p:txBody>
      </p:sp>
      <p:sp>
        <p:nvSpPr>
          <p:cNvPr id="30" name="Text 28"/>
          <p:cNvSpPr/>
          <p:nvPr/>
        </p:nvSpPr>
        <p:spPr>
          <a:xfrm>
            <a:off x="4716018" y="4946904"/>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Workflow</a:t>
            </a:r>
            <a:endParaRPr lang="en-US" sz="1000" dirty="0"/>
          </a:p>
        </p:txBody>
      </p:sp>
      <p:sp>
        <p:nvSpPr>
          <p:cNvPr id="31" name="Text 29"/>
          <p:cNvSpPr/>
          <p:nvPr/>
        </p:nvSpPr>
        <p:spPr>
          <a:xfrm>
            <a:off x="7008876" y="4608576"/>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Resend</a:t>
            </a:r>
            <a:endParaRPr lang="en-US" sz="1300" dirty="0"/>
          </a:p>
        </p:txBody>
      </p:sp>
      <p:sp>
        <p:nvSpPr>
          <p:cNvPr id="32" name="Text 30"/>
          <p:cNvSpPr/>
          <p:nvPr/>
        </p:nvSpPr>
        <p:spPr>
          <a:xfrm>
            <a:off x="7008876" y="4946904"/>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Transaktionsmail</a:t>
            </a:r>
            <a:endParaRPr lang="en-US" sz="1000" dirty="0"/>
          </a:p>
        </p:txBody>
      </p:sp>
      <p:sp>
        <p:nvSpPr>
          <p:cNvPr id="33" name="Text 31"/>
          <p:cNvSpPr/>
          <p:nvPr/>
        </p:nvSpPr>
        <p:spPr>
          <a:xfrm>
            <a:off x="9301734" y="4608576"/>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Airtable</a:t>
            </a:r>
            <a:endParaRPr lang="en-US" sz="1300" dirty="0"/>
          </a:p>
        </p:txBody>
      </p:sp>
      <p:sp>
        <p:nvSpPr>
          <p:cNvPr id="34" name="Text 32"/>
          <p:cNvSpPr/>
          <p:nvPr/>
        </p:nvSpPr>
        <p:spPr>
          <a:xfrm>
            <a:off x="9301734" y="4946904"/>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Lead-CRM</a:t>
            </a:r>
            <a:endParaRPr lang="en-US" sz="1000" dirty="0"/>
          </a:p>
        </p:txBody>
      </p:sp>
      <p:sp>
        <p:nvSpPr>
          <p:cNvPr id="35" name="Shape 33"/>
          <p:cNvSpPr/>
          <p:nvPr/>
        </p:nvSpPr>
        <p:spPr>
          <a:xfrm>
            <a:off x="640080" y="5522976"/>
            <a:ext cx="1554480" cy="960120"/>
          </a:xfrm>
          <a:prstGeom prst="rect">
            <a:avLst/>
          </a:prstGeom>
          <a:solidFill>
            <a:srgbClr val="7A9E9A"/>
          </a:solidFill>
          <a:ln/>
        </p:spPr>
      </p:sp>
      <p:sp>
        <p:nvSpPr>
          <p:cNvPr id="36" name="Text 34"/>
          <p:cNvSpPr/>
          <p:nvPr/>
        </p:nvSpPr>
        <p:spPr>
          <a:xfrm>
            <a:off x="640080" y="5522976"/>
            <a:ext cx="1554480" cy="960120"/>
          </a:xfrm>
          <a:prstGeom prst="rect">
            <a:avLst/>
          </a:prstGeom>
          <a:noFill/>
          <a:ln/>
        </p:spPr>
        <p:txBody>
          <a:bodyPr wrap="square" lIns="0" tIns="0" rIns="0" bIns="0" rtlCol="0" anchor="ctr"/>
          <a:lstStyle/>
          <a:p>
            <a:pPr algn="ctr" indent="0" marL="0">
              <a:buNone/>
            </a:pPr>
            <a:r>
              <a:rPr lang="en-US" sz="1200" b="1" spc="400" kern="0" dirty="0">
                <a:solidFill>
                  <a:srgbClr val="FFFFFF"/>
                </a:solidFill>
                <a:latin typeface="Georgia" pitchFamily="34" charset="0"/>
                <a:ea typeface="Georgia" pitchFamily="34" charset="-122"/>
                <a:cs typeface="Georgia" pitchFamily="34" charset="-120"/>
              </a:rPr>
              <a:t>DRIFT</a:t>
            </a:r>
            <a:endParaRPr lang="en-US" sz="1200" dirty="0"/>
          </a:p>
        </p:txBody>
      </p:sp>
      <p:sp>
        <p:nvSpPr>
          <p:cNvPr id="37" name="Shape 35"/>
          <p:cNvSpPr/>
          <p:nvPr/>
        </p:nvSpPr>
        <p:spPr>
          <a:xfrm>
            <a:off x="2194560" y="5522976"/>
            <a:ext cx="9537192" cy="960120"/>
          </a:xfrm>
          <a:prstGeom prst="rect">
            <a:avLst/>
          </a:prstGeom>
          <a:solidFill>
            <a:srgbClr val="2D3748"/>
          </a:solidFill>
          <a:ln w="6350">
            <a:solidFill>
              <a:srgbClr val="5A7E7A"/>
            </a:solidFill>
            <a:prstDash val="solid"/>
          </a:ln>
        </p:spPr>
      </p:sp>
      <p:sp>
        <p:nvSpPr>
          <p:cNvPr id="38" name="Text 36"/>
          <p:cNvSpPr/>
          <p:nvPr/>
        </p:nvSpPr>
        <p:spPr>
          <a:xfrm>
            <a:off x="2423160" y="5687568"/>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Vercel</a:t>
            </a:r>
            <a:endParaRPr lang="en-US" sz="1300" dirty="0"/>
          </a:p>
        </p:txBody>
      </p:sp>
      <p:sp>
        <p:nvSpPr>
          <p:cNvPr id="39" name="Text 37"/>
          <p:cNvSpPr/>
          <p:nvPr/>
        </p:nvSpPr>
        <p:spPr>
          <a:xfrm>
            <a:off x="2423160" y="6025896"/>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Hosting (EU)</a:t>
            </a:r>
            <a:endParaRPr lang="en-US" sz="1000" dirty="0"/>
          </a:p>
        </p:txBody>
      </p:sp>
      <p:sp>
        <p:nvSpPr>
          <p:cNvPr id="40" name="Text 38"/>
          <p:cNvSpPr/>
          <p:nvPr/>
        </p:nvSpPr>
        <p:spPr>
          <a:xfrm>
            <a:off x="4716018" y="5687568"/>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GitHub</a:t>
            </a:r>
            <a:endParaRPr lang="en-US" sz="1300" dirty="0"/>
          </a:p>
        </p:txBody>
      </p:sp>
      <p:sp>
        <p:nvSpPr>
          <p:cNvPr id="41" name="Text 39"/>
          <p:cNvSpPr/>
          <p:nvPr/>
        </p:nvSpPr>
        <p:spPr>
          <a:xfrm>
            <a:off x="4716018" y="6025896"/>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Kode-repo</a:t>
            </a:r>
            <a:endParaRPr lang="en-US" sz="1000" dirty="0"/>
          </a:p>
        </p:txBody>
      </p:sp>
      <p:sp>
        <p:nvSpPr>
          <p:cNvPr id="42" name="Text 40"/>
          <p:cNvSpPr/>
          <p:nvPr/>
        </p:nvSpPr>
        <p:spPr>
          <a:xfrm>
            <a:off x="7008876" y="5687568"/>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Google Analytics 4</a:t>
            </a:r>
            <a:endParaRPr lang="en-US" sz="1300" dirty="0"/>
          </a:p>
        </p:txBody>
      </p:sp>
      <p:sp>
        <p:nvSpPr>
          <p:cNvPr id="43" name="Text 41"/>
          <p:cNvSpPr/>
          <p:nvPr/>
        </p:nvSpPr>
        <p:spPr>
          <a:xfrm>
            <a:off x="7008876" y="6025896"/>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Statistik</a:t>
            </a:r>
            <a:endParaRPr lang="en-US" sz="1000" dirty="0"/>
          </a:p>
        </p:txBody>
      </p:sp>
      <p:sp>
        <p:nvSpPr>
          <p:cNvPr id="44" name="Text 42"/>
          <p:cNvSpPr/>
          <p:nvPr/>
        </p:nvSpPr>
        <p:spPr>
          <a:xfrm>
            <a:off x="9301734" y="5687568"/>
            <a:ext cx="2201418" cy="32004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One.com</a:t>
            </a:r>
            <a:endParaRPr lang="en-US" sz="1300" dirty="0"/>
          </a:p>
        </p:txBody>
      </p:sp>
      <p:sp>
        <p:nvSpPr>
          <p:cNvPr id="45" name="Text 43"/>
          <p:cNvSpPr/>
          <p:nvPr/>
        </p:nvSpPr>
        <p:spPr>
          <a:xfrm>
            <a:off x="9301734" y="6025896"/>
            <a:ext cx="2201418" cy="320040"/>
          </a:xfrm>
          <a:prstGeom prst="rect">
            <a:avLst/>
          </a:prstGeom>
          <a:noFill/>
          <a:ln/>
        </p:spPr>
        <p:txBody>
          <a:bodyPr wrap="square" lIns="0" tIns="0" rIns="0" bIns="0" rtlCol="0" anchor="ctr"/>
          <a:lstStyle/>
          <a:p>
            <a:pPr indent="0" marL="0">
              <a:buNone/>
            </a:pPr>
            <a:r>
              <a:rPr lang="en-US" sz="1000" i="1" dirty="0">
                <a:solidFill>
                  <a:srgbClr val="A8C2BF"/>
                </a:solidFill>
                <a:latin typeface="Calibri" pitchFamily="34" charset="0"/>
                <a:ea typeface="Calibri" pitchFamily="34" charset="-122"/>
                <a:cs typeface="Calibri" pitchFamily="34" charset="-120"/>
              </a:rPr>
              <a:t>Domæne &amp; DNS</a:t>
            </a:r>
            <a:endParaRPr lang="en-US" sz="1000" dirty="0"/>
          </a:p>
        </p:txBody>
      </p:sp>
      <p:sp>
        <p:nvSpPr>
          <p:cNvPr id="46" name="Text 44"/>
          <p:cNvSpPr/>
          <p:nvPr/>
        </p:nvSpPr>
        <p:spPr>
          <a:xfrm>
            <a:off x="640080" y="6263640"/>
            <a:ext cx="11091672" cy="365760"/>
          </a:xfrm>
          <a:prstGeom prst="rect">
            <a:avLst/>
          </a:prstGeom>
          <a:noFill/>
          <a:ln/>
        </p:spPr>
        <p:txBody>
          <a:bodyPr wrap="square" lIns="0" tIns="0" rIns="0" bIns="0" rtlCol="0" anchor="ctr"/>
          <a:lstStyle/>
          <a:p>
            <a:pPr algn="ctr" indent="0" marL="0">
              <a:buNone/>
            </a:pPr>
            <a:r>
              <a:rPr lang="en-US" sz="1100" i="1" dirty="0">
                <a:solidFill>
                  <a:srgbClr val="A8C2BF"/>
                </a:solidFill>
                <a:latin typeface="Calibri" pitchFamily="34" charset="0"/>
                <a:ea typeface="Calibri" pitchFamily="34" charset="-122"/>
                <a:cs typeface="Calibri" pitchFamily="34" charset="-120"/>
              </a:rPr>
              <a:t>Alle services er industristandarder med dokumenterede oppetider på 99.9%+ og fuld GDPR-compliance.</a:t>
            </a:r>
            <a:endParaRPr lang="en-US" sz="1100" dirty="0"/>
          </a:p>
        </p:txBody>
      </p:sp>
      <p:sp>
        <p:nvSpPr>
          <p:cNvPr id="47" name="Text 45"/>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A0AEC0"/>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48" name="Text 46"/>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A0AEC0"/>
                </a:solidFill>
                <a:latin typeface="Calibri" pitchFamily="34" charset="0"/>
                <a:ea typeface="Calibri" pitchFamily="34" charset="-122"/>
                <a:cs typeface="Calibri" pitchFamily="34" charset="-120"/>
              </a:rPr>
              <a:t>09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SIKKERHED &amp; PRIVATLIV</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000" b="1" dirty="0">
                <a:solidFill>
                  <a:srgbClr val="1A202C"/>
                </a:solidFill>
                <a:latin typeface="Georgia" pitchFamily="34" charset="0"/>
                <a:ea typeface="Georgia" pitchFamily="34" charset="-122"/>
                <a:cs typeface="Georgia" pitchFamily="34" charset="-120"/>
              </a:rPr>
              <a:t>Bygget GDPR-først — ikke som en eftertanke</a:t>
            </a:r>
            <a:endParaRPr lang="en-US" sz="3000" dirty="0"/>
          </a:p>
        </p:txBody>
      </p:sp>
      <p:sp>
        <p:nvSpPr>
          <p:cNvPr id="5" name="Text 3"/>
          <p:cNvSpPr/>
          <p:nvPr/>
        </p:nvSpPr>
        <p:spPr>
          <a:xfrm>
            <a:off x="640080" y="1645920"/>
            <a:ext cx="10972800" cy="365760"/>
          </a:xfrm>
          <a:prstGeom prst="rect">
            <a:avLst/>
          </a:prstGeom>
          <a:noFill/>
          <a:ln/>
        </p:spPr>
        <p:txBody>
          <a:bodyPr wrap="square" lIns="0" tIns="0" rIns="0" bIns="0"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Persondata behandles efter dansk og europæisk lov. Alle data hostes i EU.</a:t>
            </a:r>
            <a:endParaRPr lang="en-US" sz="1300" dirty="0"/>
          </a:p>
        </p:txBody>
      </p:sp>
      <p:sp>
        <p:nvSpPr>
          <p:cNvPr id="6" name="Shape 4"/>
          <p:cNvSpPr/>
          <p:nvPr/>
        </p:nvSpPr>
        <p:spPr>
          <a:xfrm>
            <a:off x="640080" y="2331720"/>
            <a:ext cx="3657600" cy="141732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7" name="Shape 5"/>
          <p:cNvSpPr/>
          <p:nvPr/>
        </p:nvSpPr>
        <p:spPr>
          <a:xfrm>
            <a:off x="640080" y="2331720"/>
            <a:ext cx="73152" cy="1417320"/>
          </a:xfrm>
          <a:prstGeom prst="rect">
            <a:avLst/>
          </a:prstGeom>
          <a:solidFill>
            <a:srgbClr val="7A9E9A"/>
          </a:solidFill>
          <a:ln/>
        </p:spPr>
      </p:sp>
      <p:pic>
        <p:nvPicPr>
          <p:cNvPr id="8" name="Image 0" descr="preencoded.png">    </p:cNvPr>
          <p:cNvPicPr>
            <a:picLocks noChangeAspect="1"/>
          </p:cNvPicPr>
          <p:nvPr/>
        </p:nvPicPr>
        <p:blipFill>
          <a:blip r:embed="rId1"/>
          <a:stretch>
            <a:fillRect/>
          </a:stretch>
        </p:blipFill>
        <p:spPr>
          <a:xfrm>
            <a:off x="914400" y="2560320"/>
            <a:ext cx="411480" cy="411480"/>
          </a:xfrm>
          <a:prstGeom prst="rect">
            <a:avLst/>
          </a:prstGeom>
        </p:spPr>
      </p:pic>
      <p:sp>
        <p:nvSpPr>
          <p:cNvPr id="9" name="Text 6"/>
          <p:cNvSpPr/>
          <p:nvPr/>
        </p:nvSpPr>
        <p:spPr>
          <a:xfrm>
            <a:off x="1508760" y="2532888"/>
            <a:ext cx="265176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Cookie-samtykke</a:t>
            </a:r>
            <a:endParaRPr lang="en-US" sz="1400" dirty="0"/>
          </a:p>
        </p:txBody>
      </p:sp>
      <p:sp>
        <p:nvSpPr>
          <p:cNvPr id="10" name="Text 7"/>
          <p:cNvSpPr/>
          <p:nvPr/>
        </p:nvSpPr>
        <p:spPr>
          <a:xfrm>
            <a:off x="1508760" y="2880360"/>
            <a:ext cx="2651760" cy="77724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Aktivt samtykke før Google Analytics eller andre tracking-cookies sættes</a:t>
            </a:r>
            <a:endParaRPr lang="en-US" sz="1050" dirty="0"/>
          </a:p>
        </p:txBody>
      </p:sp>
      <p:sp>
        <p:nvSpPr>
          <p:cNvPr id="11" name="Shape 8"/>
          <p:cNvSpPr/>
          <p:nvPr/>
        </p:nvSpPr>
        <p:spPr>
          <a:xfrm>
            <a:off x="4361688" y="2331720"/>
            <a:ext cx="3657600" cy="141732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12" name="Shape 9"/>
          <p:cNvSpPr/>
          <p:nvPr/>
        </p:nvSpPr>
        <p:spPr>
          <a:xfrm>
            <a:off x="4361688" y="2331720"/>
            <a:ext cx="73152" cy="1417320"/>
          </a:xfrm>
          <a:prstGeom prst="rect">
            <a:avLst/>
          </a:prstGeom>
          <a:solidFill>
            <a:srgbClr val="7A9E9A"/>
          </a:solidFill>
          <a:ln/>
        </p:spPr>
      </p:sp>
      <p:pic>
        <p:nvPicPr>
          <p:cNvPr id="13" name="Image 1" descr="preencoded.png">    </p:cNvPr>
          <p:cNvPicPr>
            <a:picLocks noChangeAspect="1"/>
          </p:cNvPicPr>
          <p:nvPr/>
        </p:nvPicPr>
        <p:blipFill>
          <a:blip r:embed="rId2"/>
          <a:stretch>
            <a:fillRect/>
          </a:stretch>
        </p:blipFill>
        <p:spPr>
          <a:xfrm>
            <a:off x="4636008" y="2560320"/>
            <a:ext cx="411480" cy="411480"/>
          </a:xfrm>
          <a:prstGeom prst="rect">
            <a:avLst/>
          </a:prstGeom>
        </p:spPr>
      </p:pic>
      <p:sp>
        <p:nvSpPr>
          <p:cNvPr id="14" name="Text 10"/>
          <p:cNvSpPr/>
          <p:nvPr/>
        </p:nvSpPr>
        <p:spPr>
          <a:xfrm>
            <a:off x="5230368" y="2532888"/>
            <a:ext cx="265176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HTTPS overalt</a:t>
            </a:r>
            <a:endParaRPr lang="en-US" sz="1400" dirty="0"/>
          </a:p>
        </p:txBody>
      </p:sp>
      <p:sp>
        <p:nvSpPr>
          <p:cNvPr id="15" name="Text 11"/>
          <p:cNvSpPr/>
          <p:nvPr/>
        </p:nvSpPr>
        <p:spPr>
          <a:xfrm>
            <a:off x="5230368" y="2880360"/>
            <a:ext cx="2651760" cy="77724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Al kommunikation krypteret med TLS 1.3 — A+ rating på SSL Labs</a:t>
            </a:r>
            <a:endParaRPr lang="en-US" sz="1050" dirty="0"/>
          </a:p>
        </p:txBody>
      </p:sp>
      <p:sp>
        <p:nvSpPr>
          <p:cNvPr id="16" name="Shape 12"/>
          <p:cNvSpPr/>
          <p:nvPr/>
        </p:nvSpPr>
        <p:spPr>
          <a:xfrm>
            <a:off x="8083296" y="2331720"/>
            <a:ext cx="3657600" cy="141732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17" name="Shape 13"/>
          <p:cNvSpPr/>
          <p:nvPr/>
        </p:nvSpPr>
        <p:spPr>
          <a:xfrm>
            <a:off x="8083296" y="2331720"/>
            <a:ext cx="73152" cy="1417320"/>
          </a:xfrm>
          <a:prstGeom prst="rect">
            <a:avLst/>
          </a:prstGeom>
          <a:solidFill>
            <a:srgbClr val="7A9E9A"/>
          </a:solidFill>
          <a:ln/>
        </p:spPr>
      </p:sp>
      <p:pic>
        <p:nvPicPr>
          <p:cNvPr id="18" name="Image 2" descr="preencoded.png">    </p:cNvPr>
          <p:cNvPicPr>
            <a:picLocks noChangeAspect="1"/>
          </p:cNvPicPr>
          <p:nvPr/>
        </p:nvPicPr>
        <p:blipFill>
          <a:blip r:embed="rId3"/>
          <a:stretch>
            <a:fillRect/>
          </a:stretch>
        </p:blipFill>
        <p:spPr>
          <a:xfrm>
            <a:off x="8357616" y="2560320"/>
            <a:ext cx="411480" cy="411480"/>
          </a:xfrm>
          <a:prstGeom prst="rect">
            <a:avLst/>
          </a:prstGeom>
        </p:spPr>
      </p:pic>
      <p:sp>
        <p:nvSpPr>
          <p:cNvPr id="19" name="Text 14"/>
          <p:cNvSpPr/>
          <p:nvPr/>
        </p:nvSpPr>
        <p:spPr>
          <a:xfrm>
            <a:off x="8951976" y="2532888"/>
            <a:ext cx="265176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EU-hosting</a:t>
            </a:r>
            <a:endParaRPr lang="en-US" sz="1400" dirty="0"/>
          </a:p>
        </p:txBody>
      </p:sp>
      <p:sp>
        <p:nvSpPr>
          <p:cNvPr id="20" name="Text 15"/>
          <p:cNvSpPr/>
          <p:nvPr/>
        </p:nvSpPr>
        <p:spPr>
          <a:xfrm>
            <a:off x="8951976" y="2880360"/>
            <a:ext cx="2651760" cy="77724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Vercel + Sanity opererer i EU-regioner, Airtable EU-region tilgængelig</a:t>
            </a:r>
            <a:endParaRPr lang="en-US" sz="1050" dirty="0"/>
          </a:p>
        </p:txBody>
      </p:sp>
      <p:sp>
        <p:nvSpPr>
          <p:cNvPr id="21" name="Shape 16"/>
          <p:cNvSpPr/>
          <p:nvPr/>
        </p:nvSpPr>
        <p:spPr>
          <a:xfrm>
            <a:off x="640080" y="3813048"/>
            <a:ext cx="3657600" cy="141732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22" name="Shape 17"/>
          <p:cNvSpPr/>
          <p:nvPr/>
        </p:nvSpPr>
        <p:spPr>
          <a:xfrm>
            <a:off x="640080" y="3813048"/>
            <a:ext cx="73152" cy="1417320"/>
          </a:xfrm>
          <a:prstGeom prst="rect">
            <a:avLst/>
          </a:prstGeom>
          <a:solidFill>
            <a:srgbClr val="7A9E9A"/>
          </a:solidFill>
          <a:ln/>
        </p:spPr>
      </p:sp>
      <p:pic>
        <p:nvPicPr>
          <p:cNvPr id="23" name="Image 3" descr="preencoded.png">    </p:cNvPr>
          <p:cNvPicPr>
            <a:picLocks noChangeAspect="1"/>
          </p:cNvPicPr>
          <p:nvPr/>
        </p:nvPicPr>
        <p:blipFill>
          <a:blip r:embed="rId4"/>
          <a:stretch>
            <a:fillRect/>
          </a:stretch>
        </p:blipFill>
        <p:spPr>
          <a:xfrm>
            <a:off x="914400" y="4041648"/>
            <a:ext cx="411480" cy="411480"/>
          </a:xfrm>
          <a:prstGeom prst="rect">
            <a:avLst/>
          </a:prstGeom>
        </p:spPr>
      </p:pic>
      <p:sp>
        <p:nvSpPr>
          <p:cNvPr id="24" name="Text 18"/>
          <p:cNvSpPr/>
          <p:nvPr/>
        </p:nvSpPr>
        <p:spPr>
          <a:xfrm>
            <a:off x="1508760" y="4014216"/>
            <a:ext cx="265176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API-nøgler i hvælv</a:t>
            </a:r>
            <a:endParaRPr lang="en-US" sz="1400" dirty="0"/>
          </a:p>
        </p:txBody>
      </p:sp>
      <p:sp>
        <p:nvSpPr>
          <p:cNvPr id="25" name="Text 19"/>
          <p:cNvSpPr/>
          <p:nvPr/>
        </p:nvSpPr>
        <p:spPr>
          <a:xfrm>
            <a:off x="1508760" y="4361688"/>
            <a:ext cx="2651760" cy="77724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Hemmeligheder gemmes som Vercel environment variables — aldrig i kode</a:t>
            </a:r>
            <a:endParaRPr lang="en-US" sz="1050" dirty="0"/>
          </a:p>
        </p:txBody>
      </p:sp>
      <p:sp>
        <p:nvSpPr>
          <p:cNvPr id="26" name="Shape 20"/>
          <p:cNvSpPr/>
          <p:nvPr/>
        </p:nvSpPr>
        <p:spPr>
          <a:xfrm>
            <a:off x="4361688" y="3813048"/>
            <a:ext cx="3657600" cy="141732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27" name="Shape 21"/>
          <p:cNvSpPr/>
          <p:nvPr/>
        </p:nvSpPr>
        <p:spPr>
          <a:xfrm>
            <a:off x="4361688" y="3813048"/>
            <a:ext cx="73152" cy="1417320"/>
          </a:xfrm>
          <a:prstGeom prst="rect">
            <a:avLst/>
          </a:prstGeom>
          <a:solidFill>
            <a:srgbClr val="7A9E9A"/>
          </a:solidFill>
          <a:ln/>
        </p:spPr>
      </p:sp>
      <p:pic>
        <p:nvPicPr>
          <p:cNvPr id="28" name="Image 4" descr="preencoded.png">    </p:cNvPr>
          <p:cNvPicPr>
            <a:picLocks noChangeAspect="1"/>
          </p:cNvPicPr>
          <p:nvPr/>
        </p:nvPicPr>
        <p:blipFill>
          <a:blip r:embed="rId5"/>
          <a:stretch>
            <a:fillRect/>
          </a:stretch>
        </p:blipFill>
        <p:spPr>
          <a:xfrm>
            <a:off x="4636008" y="4041648"/>
            <a:ext cx="411480" cy="411480"/>
          </a:xfrm>
          <a:prstGeom prst="rect">
            <a:avLst/>
          </a:prstGeom>
        </p:spPr>
      </p:pic>
      <p:sp>
        <p:nvSpPr>
          <p:cNvPr id="29" name="Text 22"/>
          <p:cNvSpPr/>
          <p:nvPr/>
        </p:nvSpPr>
        <p:spPr>
          <a:xfrm>
            <a:off x="5230368" y="4014216"/>
            <a:ext cx="265176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Privatlivspolitik</a:t>
            </a:r>
            <a:endParaRPr lang="en-US" sz="1400" dirty="0"/>
          </a:p>
        </p:txBody>
      </p:sp>
      <p:sp>
        <p:nvSpPr>
          <p:cNvPr id="30" name="Text 23"/>
          <p:cNvSpPr/>
          <p:nvPr/>
        </p:nvSpPr>
        <p:spPr>
          <a:xfrm>
            <a:off x="5230368" y="4361688"/>
            <a:ext cx="2651760" cy="77724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Specifikt tilpasset Adams flows: hvilke data, hvor længe, hvilke rettigheder</a:t>
            </a:r>
            <a:endParaRPr lang="en-US" sz="1050" dirty="0"/>
          </a:p>
        </p:txBody>
      </p:sp>
      <p:sp>
        <p:nvSpPr>
          <p:cNvPr id="31" name="Shape 24"/>
          <p:cNvSpPr/>
          <p:nvPr/>
        </p:nvSpPr>
        <p:spPr>
          <a:xfrm>
            <a:off x="8083296" y="3813048"/>
            <a:ext cx="3657600" cy="1417320"/>
          </a:xfrm>
          <a:prstGeom prst="rect">
            <a:avLst/>
          </a:prstGeom>
          <a:solidFill>
            <a:srgbClr val="F7F6F2"/>
          </a:solidFill>
          <a:ln w="6350">
            <a:solidFill>
              <a:srgbClr val="EDF2F1"/>
            </a:solidFill>
            <a:prstDash val="solid"/>
          </a:ln>
          <a:effectLst>
            <a:outerShdw sx="100000" sy="100000" kx="0" ky="0" algn="bl" rotWithShape="0" blurRad="101600" dist="25400" dir="16200000">
              <a:srgbClr val="000000">
                <a:alpha val="10000"/>
              </a:srgbClr>
            </a:outerShdw>
          </a:effectLst>
        </p:spPr>
      </p:sp>
      <p:sp>
        <p:nvSpPr>
          <p:cNvPr id="32" name="Shape 25"/>
          <p:cNvSpPr/>
          <p:nvPr/>
        </p:nvSpPr>
        <p:spPr>
          <a:xfrm>
            <a:off x="8083296" y="3813048"/>
            <a:ext cx="73152" cy="1417320"/>
          </a:xfrm>
          <a:prstGeom prst="rect">
            <a:avLst/>
          </a:prstGeom>
          <a:solidFill>
            <a:srgbClr val="7A9E9A"/>
          </a:solidFill>
          <a:ln/>
        </p:spPr>
      </p:sp>
      <p:pic>
        <p:nvPicPr>
          <p:cNvPr id="33" name="Image 5" descr="preencoded.png">    </p:cNvPr>
          <p:cNvPicPr>
            <a:picLocks noChangeAspect="1"/>
          </p:cNvPicPr>
          <p:nvPr/>
        </p:nvPicPr>
        <p:blipFill>
          <a:blip r:embed="rId6"/>
          <a:stretch>
            <a:fillRect/>
          </a:stretch>
        </p:blipFill>
        <p:spPr>
          <a:xfrm>
            <a:off x="8357616" y="4041648"/>
            <a:ext cx="411480" cy="411480"/>
          </a:xfrm>
          <a:prstGeom prst="rect">
            <a:avLst/>
          </a:prstGeom>
        </p:spPr>
      </p:pic>
      <p:sp>
        <p:nvSpPr>
          <p:cNvPr id="34" name="Text 26"/>
          <p:cNvSpPr/>
          <p:nvPr/>
        </p:nvSpPr>
        <p:spPr>
          <a:xfrm>
            <a:off x="8951976" y="4014216"/>
            <a:ext cx="2651760" cy="365760"/>
          </a:xfrm>
          <a:prstGeom prst="rect">
            <a:avLst/>
          </a:prstGeom>
          <a:noFill/>
          <a:ln/>
        </p:spPr>
        <p:txBody>
          <a:bodyPr wrap="square" lIns="0" tIns="0" rIns="0" bIns="0" rtlCol="0" anchor="ctr"/>
          <a:lstStyle/>
          <a:p>
            <a:pPr indent="0" marL="0">
              <a:buNone/>
            </a:pPr>
            <a:r>
              <a:rPr lang="en-US" sz="1400" b="1" dirty="0">
                <a:solidFill>
                  <a:srgbClr val="1A202C"/>
                </a:solidFill>
                <a:latin typeface="Georgia" pitchFamily="34" charset="0"/>
                <a:ea typeface="Georgia" pitchFamily="34" charset="-122"/>
                <a:cs typeface="Georgia" pitchFamily="34" charset="-120"/>
              </a:rPr>
              <a:t>Ret til sletning</a:t>
            </a:r>
            <a:endParaRPr lang="en-US" sz="1400" dirty="0"/>
          </a:p>
        </p:txBody>
      </p:sp>
      <p:sp>
        <p:nvSpPr>
          <p:cNvPr id="35" name="Text 27"/>
          <p:cNvSpPr/>
          <p:nvPr/>
        </p:nvSpPr>
        <p:spPr>
          <a:xfrm>
            <a:off x="8951976" y="4361688"/>
            <a:ext cx="2651760" cy="777240"/>
          </a:xfrm>
          <a:prstGeom prst="rect">
            <a:avLst/>
          </a:prstGeom>
          <a:noFill/>
          <a:ln/>
        </p:spPr>
        <p:txBody>
          <a:bodyPr wrap="square" lIns="0" tIns="0" rIns="0" bIns="0" rtlCol="0" anchor="t"/>
          <a:lstStyle/>
          <a:p>
            <a:pPr indent="0" marL="0">
              <a:buNone/>
            </a:pPr>
            <a:r>
              <a:rPr lang="en-US" sz="1050" dirty="0">
                <a:solidFill>
                  <a:srgbClr val="718096"/>
                </a:solidFill>
                <a:latin typeface="Calibri" pitchFamily="34" charset="0"/>
                <a:ea typeface="Calibri" pitchFamily="34" charset="-122"/>
                <a:cs typeface="Calibri" pitchFamily="34" charset="-120"/>
              </a:rPr>
              <a:t>Adam kan slette en kundes data fra Airtable + Sanity på under 1 minut</a:t>
            </a:r>
            <a:endParaRPr lang="en-US" sz="1050" dirty="0"/>
          </a:p>
        </p:txBody>
      </p:sp>
      <p:sp>
        <p:nvSpPr>
          <p:cNvPr id="36" name="Shape 28"/>
          <p:cNvSpPr/>
          <p:nvPr/>
        </p:nvSpPr>
        <p:spPr>
          <a:xfrm>
            <a:off x="640080" y="5440680"/>
            <a:ext cx="11091672" cy="960120"/>
          </a:xfrm>
          <a:prstGeom prst="rect">
            <a:avLst/>
          </a:prstGeom>
          <a:solidFill>
            <a:srgbClr val="1A202C"/>
          </a:solidFill>
          <a:ln/>
        </p:spPr>
      </p:sp>
      <p:pic>
        <p:nvPicPr>
          <p:cNvPr id="37" name="Image 6" descr="preencoded.png">    </p:cNvPr>
          <p:cNvPicPr>
            <a:picLocks noChangeAspect="1"/>
          </p:cNvPicPr>
          <p:nvPr/>
        </p:nvPicPr>
        <p:blipFill>
          <a:blip r:embed="rId7"/>
          <a:stretch>
            <a:fillRect/>
          </a:stretch>
        </p:blipFill>
        <p:spPr>
          <a:xfrm>
            <a:off x="914400" y="5687568"/>
            <a:ext cx="457200" cy="457200"/>
          </a:xfrm>
          <a:prstGeom prst="rect">
            <a:avLst/>
          </a:prstGeom>
        </p:spPr>
      </p:pic>
      <p:sp>
        <p:nvSpPr>
          <p:cNvPr id="38" name="Text 29"/>
          <p:cNvSpPr/>
          <p:nvPr/>
        </p:nvSpPr>
        <p:spPr>
          <a:xfrm>
            <a:off x="1508760" y="5559552"/>
            <a:ext cx="2286000" cy="320040"/>
          </a:xfrm>
          <a:prstGeom prst="rect">
            <a:avLst/>
          </a:prstGeom>
          <a:noFill/>
          <a:ln/>
        </p:spPr>
        <p:txBody>
          <a:bodyPr wrap="square" lIns="0" tIns="0" rIns="0" bIns="0" rtlCol="0" anchor="ctr"/>
          <a:lstStyle/>
          <a:p>
            <a:pPr indent="0" marL="0">
              <a:buNone/>
            </a:pPr>
            <a:r>
              <a:rPr lang="en-US" sz="1300" b="1" i="1" dirty="0">
                <a:solidFill>
                  <a:srgbClr val="A8C2BF"/>
                </a:solidFill>
                <a:latin typeface="Georgia" pitchFamily="34" charset="0"/>
                <a:ea typeface="Georgia" pitchFamily="34" charset="-122"/>
                <a:cs typeface="Georgia" pitchFamily="34" charset="-120"/>
              </a:rPr>
              <a:t>Compliance:</a:t>
            </a:r>
            <a:endParaRPr lang="en-US" sz="1300" dirty="0"/>
          </a:p>
        </p:txBody>
      </p:sp>
      <p:sp>
        <p:nvSpPr>
          <p:cNvPr id="39" name="Text 30"/>
          <p:cNvSpPr/>
          <p:nvPr/>
        </p:nvSpPr>
        <p:spPr>
          <a:xfrm>
            <a:off x="1508760" y="5852160"/>
            <a:ext cx="10058400"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GDPR · ePrivacy · Datatilsynets vejledning · WCAG 2.1 AA tilgængelighed · OWASP secure coding-principper</a:t>
            </a:r>
            <a:endParaRPr lang="en-US" sz="1100" dirty="0"/>
          </a:p>
        </p:txBody>
      </p:sp>
      <p:sp>
        <p:nvSpPr>
          <p:cNvPr id="40" name="Text 31"/>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41" name="Text 32"/>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PERFORMANCE · SEO · TILGÆNGELIGHED</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200" b="1" dirty="0">
                <a:solidFill>
                  <a:srgbClr val="1A202C"/>
                </a:solidFill>
                <a:latin typeface="Georgia" pitchFamily="34" charset="0"/>
                <a:ea typeface="Georgia" pitchFamily="34" charset="-122"/>
                <a:cs typeface="Georgia" pitchFamily="34" charset="-120"/>
              </a:rPr>
              <a:t>Hurtig, synlig og tilgængelig</a:t>
            </a:r>
            <a:endParaRPr lang="en-US" sz="3200" dirty="0"/>
          </a:p>
        </p:txBody>
      </p:sp>
      <p:sp>
        <p:nvSpPr>
          <p:cNvPr id="5" name="Shape 3"/>
          <p:cNvSpPr/>
          <p:nvPr/>
        </p:nvSpPr>
        <p:spPr>
          <a:xfrm>
            <a:off x="640080" y="2194560"/>
            <a:ext cx="3703320" cy="4206240"/>
          </a:xfrm>
          <a:prstGeom prst="rect">
            <a:avLst/>
          </a:prstGeom>
          <a:solidFill>
            <a:srgbClr val="FFFFFF"/>
          </a:solidFill>
          <a:ln w="6350">
            <a:solidFill>
              <a:srgbClr val="E2E8F0"/>
            </a:solidFill>
            <a:prstDash val="solid"/>
          </a:ln>
          <a:effectLst>
            <a:outerShdw sx="100000" sy="100000" kx="0" ky="0" algn="bl" rotWithShape="0" blurRad="177800" dist="50800" dir="16200000">
              <a:srgbClr val="000000">
                <a:alpha val="18000"/>
              </a:srgbClr>
            </a:outerShdw>
          </a:effectLst>
        </p:spPr>
      </p:sp>
      <p:sp>
        <p:nvSpPr>
          <p:cNvPr id="6" name="Shape 4"/>
          <p:cNvSpPr/>
          <p:nvPr/>
        </p:nvSpPr>
        <p:spPr>
          <a:xfrm>
            <a:off x="640080" y="2194560"/>
            <a:ext cx="3703320" cy="109728"/>
          </a:xfrm>
          <a:prstGeom prst="rect">
            <a:avLst/>
          </a:prstGeom>
          <a:solidFill>
            <a:srgbClr val="7A9E9A"/>
          </a:solidFill>
          <a:ln/>
        </p:spPr>
      </p:sp>
      <p:pic>
        <p:nvPicPr>
          <p:cNvPr id="7" name="Image 0" descr="preencoded.png">    </p:cNvPr>
          <p:cNvPicPr>
            <a:picLocks noChangeAspect="1"/>
          </p:cNvPicPr>
          <p:nvPr/>
        </p:nvPicPr>
        <p:blipFill>
          <a:blip r:embed="rId1"/>
          <a:stretch>
            <a:fillRect/>
          </a:stretch>
        </p:blipFill>
        <p:spPr>
          <a:xfrm>
            <a:off x="2125980" y="2606040"/>
            <a:ext cx="731520" cy="731520"/>
          </a:xfrm>
          <a:prstGeom prst="rect">
            <a:avLst/>
          </a:prstGeom>
        </p:spPr>
      </p:pic>
      <p:sp>
        <p:nvSpPr>
          <p:cNvPr id="8" name="Text 5"/>
          <p:cNvSpPr/>
          <p:nvPr/>
        </p:nvSpPr>
        <p:spPr>
          <a:xfrm>
            <a:off x="822960" y="3474720"/>
            <a:ext cx="3337560" cy="457200"/>
          </a:xfrm>
          <a:prstGeom prst="rect">
            <a:avLst/>
          </a:prstGeom>
          <a:noFill/>
          <a:ln/>
        </p:spPr>
        <p:txBody>
          <a:bodyPr wrap="square" lIns="0" tIns="0" rIns="0" bIns="0" rtlCol="0" anchor="ctr"/>
          <a:lstStyle/>
          <a:p>
            <a:pPr algn="ctr" indent="0" marL="0">
              <a:buNone/>
            </a:pPr>
            <a:r>
              <a:rPr lang="en-US" sz="2200" b="1" dirty="0">
                <a:solidFill>
                  <a:srgbClr val="1A202C"/>
                </a:solidFill>
                <a:latin typeface="Georgia" pitchFamily="34" charset="0"/>
                <a:ea typeface="Georgia" pitchFamily="34" charset="-122"/>
                <a:cs typeface="Georgia" pitchFamily="34" charset="-120"/>
              </a:rPr>
              <a:t>Performance</a:t>
            </a:r>
            <a:endParaRPr lang="en-US" sz="2200" dirty="0"/>
          </a:p>
        </p:txBody>
      </p:sp>
      <p:sp>
        <p:nvSpPr>
          <p:cNvPr id="9" name="Text 6"/>
          <p:cNvSpPr/>
          <p:nvPr/>
        </p:nvSpPr>
        <p:spPr>
          <a:xfrm>
            <a:off x="822960" y="3977640"/>
            <a:ext cx="3337560" cy="365760"/>
          </a:xfrm>
          <a:prstGeom prst="rect">
            <a:avLst/>
          </a:prstGeom>
          <a:noFill/>
          <a:ln/>
        </p:spPr>
        <p:txBody>
          <a:bodyPr wrap="square" lIns="0" tIns="0" rIns="0" bIns="0" rtlCol="0" anchor="ctr"/>
          <a:lstStyle/>
          <a:p>
            <a:pPr algn="ctr" indent="0" marL="0">
              <a:buNone/>
            </a:pPr>
            <a:r>
              <a:rPr lang="en-US" sz="1400" i="1" dirty="0">
                <a:solidFill>
                  <a:srgbClr val="5A7E7A"/>
                </a:solidFill>
                <a:latin typeface="Georgia" pitchFamily="34" charset="0"/>
                <a:ea typeface="Georgia" pitchFamily="34" charset="-122"/>
                <a:cs typeface="Georgia" pitchFamily="34" charset="-120"/>
              </a:rPr>
              <a:t>Lighthouse 90+</a:t>
            </a:r>
            <a:endParaRPr lang="en-US" sz="1400" dirty="0"/>
          </a:p>
        </p:txBody>
      </p:sp>
      <p:sp>
        <p:nvSpPr>
          <p:cNvPr id="10" name="Shape 7"/>
          <p:cNvSpPr/>
          <p:nvPr/>
        </p:nvSpPr>
        <p:spPr>
          <a:xfrm>
            <a:off x="2034540" y="4434840"/>
            <a:ext cx="914400" cy="0"/>
          </a:xfrm>
          <a:prstGeom prst="line">
            <a:avLst/>
          </a:prstGeom>
          <a:noFill/>
          <a:ln w="12700">
            <a:solidFill>
              <a:srgbClr val="7A9E9A"/>
            </a:solidFill>
            <a:prstDash val="solid"/>
          </a:ln>
        </p:spPr>
      </p:sp>
      <p:sp>
        <p:nvSpPr>
          <p:cNvPr id="11" name="Text 8"/>
          <p:cNvSpPr/>
          <p:nvPr/>
        </p:nvSpPr>
        <p:spPr>
          <a:xfrm>
            <a:off x="914400" y="4617720"/>
            <a:ext cx="315468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Server-side rendering for hurtigste første visning</a:t>
            </a:r>
            <a:endParaRPr lang="en-US" sz="1050" dirty="0"/>
          </a:p>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Billeder optimeres automatisk pr. enhed</a:t>
            </a:r>
            <a:endParaRPr lang="en-US" sz="1050" dirty="0"/>
          </a:p>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Lazy-loading af tunge effekter (GSAP/Three.js)</a:t>
            </a:r>
            <a:endParaRPr lang="en-US" sz="1050" dirty="0"/>
          </a:p>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Caching på Vercel CDN med EU-noder</a:t>
            </a:r>
            <a:endParaRPr lang="en-US" sz="1050" dirty="0"/>
          </a:p>
        </p:txBody>
      </p:sp>
      <p:sp>
        <p:nvSpPr>
          <p:cNvPr id="12" name="Shape 9"/>
          <p:cNvSpPr/>
          <p:nvPr/>
        </p:nvSpPr>
        <p:spPr>
          <a:xfrm>
            <a:off x="4462272" y="2194560"/>
            <a:ext cx="3703320" cy="4206240"/>
          </a:xfrm>
          <a:prstGeom prst="rect">
            <a:avLst/>
          </a:prstGeom>
          <a:solidFill>
            <a:srgbClr val="FFFFFF"/>
          </a:solidFill>
          <a:ln w="6350">
            <a:solidFill>
              <a:srgbClr val="E2E8F0"/>
            </a:solidFill>
            <a:prstDash val="solid"/>
          </a:ln>
          <a:effectLst>
            <a:outerShdw sx="100000" sy="100000" kx="0" ky="0" algn="bl" rotWithShape="0" blurRad="177800" dist="50800" dir="16200000">
              <a:srgbClr val="000000">
                <a:alpha val="18000"/>
              </a:srgbClr>
            </a:outerShdw>
          </a:effectLst>
        </p:spPr>
      </p:sp>
      <p:sp>
        <p:nvSpPr>
          <p:cNvPr id="13" name="Shape 10"/>
          <p:cNvSpPr/>
          <p:nvPr/>
        </p:nvSpPr>
        <p:spPr>
          <a:xfrm>
            <a:off x="4462272" y="2194560"/>
            <a:ext cx="3703320" cy="109728"/>
          </a:xfrm>
          <a:prstGeom prst="rect">
            <a:avLst/>
          </a:prstGeom>
          <a:solidFill>
            <a:srgbClr val="7A9E9A"/>
          </a:solidFill>
          <a:ln/>
        </p:spPr>
      </p:sp>
      <p:pic>
        <p:nvPicPr>
          <p:cNvPr id="14" name="Image 1" descr="preencoded.png">    </p:cNvPr>
          <p:cNvPicPr>
            <a:picLocks noChangeAspect="1"/>
          </p:cNvPicPr>
          <p:nvPr/>
        </p:nvPicPr>
        <p:blipFill>
          <a:blip r:embed="rId2"/>
          <a:stretch>
            <a:fillRect/>
          </a:stretch>
        </p:blipFill>
        <p:spPr>
          <a:xfrm>
            <a:off x="5948172" y="2606040"/>
            <a:ext cx="731520" cy="731520"/>
          </a:xfrm>
          <a:prstGeom prst="rect">
            <a:avLst/>
          </a:prstGeom>
        </p:spPr>
      </p:pic>
      <p:sp>
        <p:nvSpPr>
          <p:cNvPr id="15" name="Text 11"/>
          <p:cNvSpPr/>
          <p:nvPr/>
        </p:nvSpPr>
        <p:spPr>
          <a:xfrm>
            <a:off x="4645152" y="3474720"/>
            <a:ext cx="3337560" cy="457200"/>
          </a:xfrm>
          <a:prstGeom prst="rect">
            <a:avLst/>
          </a:prstGeom>
          <a:noFill/>
          <a:ln/>
        </p:spPr>
        <p:txBody>
          <a:bodyPr wrap="square" lIns="0" tIns="0" rIns="0" bIns="0" rtlCol="0" anchor="ctr"/>
          <a:lstStyle/>
          <a:p>
            <a:pPr algn="ctr" indent="0" marL="0">
              <a:buNone/>
            </a:pPr>
            <a:r>
              <a:rPr lang="en-US" sz="2200" b="1" dirty="0">
                <a:solidFill>
                  <a:srgbClr val="1A202C"/>
                </a:solidFill>
                <a:latin typeface="Georgia" pitchFamily="34" charset="0"/>
                <a:ea typeface="Georgia" pitchFamily="34" charset="-122"/>
                <a:cs typeface="Georgia" pitchFamily="34" charset="-120"/>
              </a:rPr>
              <a:t>SEO</a:t>
            </a:r>
            <a:endParaRPr lang="en-US" sz="2200" dirty="0"/>
          </a:p>
        </p:txBody>
      </p:sp>
      <p:sp>
        <p:nvSpPr>
          <p:cNvPr id="16" name="Text 12"/>
          <p:cNvSpPr/>
          <p:nvPr/>
        </p:nvSpPr>
        <p:spPr>
          <a:xfrm>
            <a:off x="4645152" y="3977640"/>
            <a:ext cx="3337560" cy="365760"/>
          </a:xfrm>
          <a:prstGeom prst="rect">
            <a:avLst/>
          </a:prstGeom>
          <a:noFill/>
          <a:ln/>
        </p:spPr>
        <p:txBody>
          <a:bodyPr wrap="square" lIns="0" tIns="0" rIns="0" bIns="0" rtlCol="0" anchor="ctr"/>
          <a:lstStyle/>
          <a:p>
            <a:pPr algn="ctr" indent="0" marL="0">
              <a:buNone/>
            </a:pPr>
            <a:r>
              <a:rPr lang="en-US" sz="1400" i="1" dirty="0">
                <a:solidFill>
                  <a:srgbClr val="5A7E7A"/>
                </a:solidFill>
                <a:latin typeface="Georgia" pitchFamily="34" charset="0"/>
                <a:ea typeface="Georgia" pitchFamily="34" charset="-122"/>
                <a:cs typeface="Georgia" pitchFamily="34" charset="-120"/>
              </a:rPr>
              <a:t>Synlig på Google</a:t>
            </a:r>
            <a:endParaRPr lang="en-US" sz="1400" dirty="0"/>
          </a:p>
        </p:txBody>
      </p:sp>
      <p:sp>
        <p:nvSpPr>
          <p:cNvPr id="17" name="Shape 13"/>
          <p:cNvSpPr/>
          <p:nvPr/>
        </p:nvSpPr>
        <p:spPr>
          <a:xfrm>
            <a:off x="5856732" y="4434840"/>
            <a:ext cx="914400" cy="0"/>
          </a:xfrm>
          <a:prstGeom prst="line">
            <a:avLst/>
          </a:prstGeom>
          <a:noFill/>
          <a:ln w="12700">
            <a:solidFill>
              <a:srgbClr val="7A9E9A"/>
            </a:solidFill>
            <a:prstDash val="solid"/>
          </a:ln>
        </p:spPr>
      </p:sp>
      <p:sp>
        <p:nvSpPr>
          <p:cNvPr id="18" name="Text 14"/>
          <p:cNvSpPr/>
          <p:nvPr/>
        </p:nvSpPr>
        <p:spPr>
          <a:xfrm>
            <a:off x="4736592" y="4617720"/>
            <a:ext cx="315468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Sitemap.xml + robots.txt automatisk genereret</a:t>
            </a:r>
            <a:endParaRPr lang="en-US" sz="1050" dirty="0"/>
          </a:p>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Open Graph + Twitter Cards til social deling</a:t>
            </a:r>
            <a:endParaRPr lang="en-US" sz="1050" dirty="0"/>
          </a:p>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Schema.org strukturerede data (LocalBusiness)</a:t>
            </a:r>
            <a:endParaRPr lang="en-US" sz="1050" dirty="0"/>
          </a:p>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Begge sprog indekseres — dansk + engelsk</a:t>
            </a:r>
            <a:endParaRPr lang="en-US" sz="1050" dirty="0"/>
          </a:p>
        </p:txBody>
      </p:sp>
      <p:sp>
        <p:nvSpPr>
          <p:cNvPr id="19" name="Shape 15"/>
          <p:cNvSpPr/>
          <p:nvPr/>
        </p:nvSpPr>
        <p:spPr>
          <a:xfrm>
            <a:off x="8284464" y="2194560"/>
            <a:ext cx="3703320" cy="4206240"/>
          </a:xfrm>
          <a:prstGeom prst="rect">
            <a:avLst/>
          </a:prstGeom>
          <a:solidFill>
            <a:srgbClr val="FFFFFF"/>
          </a:solidFill>
          <a:ln w="6350">
            <a:solidFill>
              <a:srgbClr val="E2E8F0"/>
            </a:solidFill>
            <a:prstDash val="solid"/>
          </a:ln>
          <a:effectLst>
            <a:outerShdw sx="100000" sy="100000" kx="0" ky="0" algn="bl" rotWithShape="0" blurRad="177800" dist="50800" dir="16200000">
              <a:srgbClr val="000000">
                <a:alpha val="18000"/>
              </a:srgbClr>
            </a:outerShdw>
          </a:effectLst>
        </p:spPr>
      </p:sp>
      <p:sp>
        <p:nvSpPr>
          <p:cNvPr id="20" name="Shape 16"/>
          <p:cNvSpPr/>
          <p:nvPr/>
        </p:nvSpPr>
        <p:spPr>
          <a:xfrm>
            <a:off x="8284464" y="2194560"/>
            <a:ext cx="3703320" cy="109728"/>
          </a:xfrm>
          <a:prstGeom prst="rect">
            <a:avLst/>
          </a:prstGeom>
          <a:solidFill>
            <a:srgbClr val="7A9E9A"/>
          </a:solidFill>
          <a:ln/>
        </p:spPr>
      </p:sp>
      <p:pic>
        <p:nvPicPr>
          <p:cNvPr id="21" name="Image 2" descr="preencoded.png">    </p:cNvPr>
          <p:cNvPicPr>
            <a:picLocks noChangeAspect="1"/>
          </p:cNvPicPr>
          <p:nvPr/>
        </p:nvPicPr>
        <p:blipFill>
          <a:blip r:embed="rId3"/>
          <a:stretch>
            <a:fillRect/>
          </a:stretch>
        </p:blipFill>
        <p:spPr>
          <a:xfrm>
            <a:off x="9770364" y="2606040"/>
            <a:ext cx="731520" cy="731520"/>
          </a:xfrm>
          <a:prstGeom prst="rect">
            <a:avLst/>
          </a:prstGeom>
        </p:spPr>
      </p:pic>
      <p:sp>
        <p:nvSpPr>
          <p:cNvPr id="22" name="Text 17"/>
          <p:cNvSpPr/>
          <p:nvPr/>
        </p:nvSpPr>
        <p:spPr>
          <a:xfrm>
            <a:off x="8467344" y="3474720"/>
            <a:ext cx="3337560" cy="457200"/>
          </a:xfrm>
          <a:prstGeom prst="rect">
            <a:avLst/>
          </a:prstGeom>
          <a:noFill/>
          <a:ln/>
        </p:spPr>
        <p:txBody>
          <a:bodyPr wrap="square" lIns="0" tIns="0" rIns="0" bIns="0" rtlCol="0" anchor="ctr"/>
          <a:lstStyle/>
          <a:p>
            <a:pPr algn="ctr" indent="0" marL="0">
              <a:buNone/>
            </a:pPr>
            <a:r>
              <a:rPr lang="en-US" sz="2200" b="1" dirty="0">
                <a:solidFill>
                  <a:srgbClr val="1A202C"/>
                </a:solidFill>
                <a:latin typeface="Georgia" pitchFamily="34" charset="0"/>
                <a:ea typeface="Georgia" pitchFamily="34" charset="-122"/>
                <a:cs typeface="Georgia" pitchFamily="34" charset="-120"/>
              </a:rPr>
              <a:t>Tilgængelighed</a:t>
            </a:r>
            <a:endParaRPr lang="en-US" sz="2200" dirty="0"/>
          </a:p>
        </p:txBody>
      </p:sp>
      <p:sp>
        <p:nvSpPr>
          <p:cNvPr id="23" name="Text 18"/>
          <p:cNvSpPr/>
          <p:nvPr/>
        </p:nvSpPr>
        <p:spPr>
          <a:xfrm>
            <a:off x="8467344" y="3977640"/>
            <a:ext cx="3337560" cy="365760"/>
          </a:xfrm>
          <a:prstGeom prst="rect">
            <a:avLst/>
          </a:prstGeom>
          <a:noFill/>
          <a:ln/>
        </p:spPr>
        <p:txBody>
          <a:bodyPr wrap="square" lIns="0" tIns="0" rIns="0" bIns="0" rtlCol="0" anchor="ctr"/>
          <a:lstStyle/>
          <a:p>
            <a:pPr algn="ctr" indent="0" marL="0">
              <a:buNone/>
            </a:pPr>
            <a:r>
              <a:rPr lang="en-US" sz="1400" i="1" dirty="0">
                <a:solidFill>
                  <a:srgbClr val="5A7E7A"/>
                </a:solidFill>
                <a:latin typeface="Georgia" pitchFamily="34" charset="0"/>
                <a:ea typeface="Georgia" pitchFamily="34" charset="-122"/>
                <a:cs typeface="Georgia" pitchFamily="34" charset="-120"/>
              </a:rPr>
              <a:t>WCAG 2.1 AA</a:t>
            </a:r>
            <a:endParaRPr lang="en-US" sz="1400" dirty="0"/>
          </a:p>
        </p:txBody>
      </p:sp>
      <p:sp>
        <p:nvSpPr>
          <p:cNvPr id="24" name="Shape 19"/>
          <p:cNvSpPr/>
          <p:nvPr/>
        </p:nvSpPr>
        <p:spPr>
          <a:xfrm>
            <a:off x="9678924" y="4434840"/>
            <a:ext cx="914400" cy="0"/>
          </a:xfrm>
          <a:prstGeom prst="line">
            <a:avLst/>
          </a:prstGeom>
          <a:noFill/>
          <a:ln w="12700">
            <a:solidFill>
              <a:srgbClr val="7A9E9A"/>
            </a:solidFill>
            <a:prstDash val="solid"/>
          </a:ln>
        </p:spPr>
      </p:sp>
      <p:sp>
        <p:nvSpPr>
          <p:cNvPr id="25" name="Text 20"/>
          <p:cNvSpPr/>
          <p:nvPr/>
        </p:nvSpPr>
        <p:spPr>
          <a:xfrm>
            <a:off x="8558784" y="4617720"/>
            <a:ext cx="315468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Tastatur-navigation på alle interaktive elementer</a:t>
            </a:r>
            <a:endParaRPr lang="en-US" sz="1050" dirty="0"/>
          </a:p>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Skærmlæser-vendlige labels og ARIA-roller</a:t>
            </a:r>
            <a:endParaRPr lang="en-US" sz="1050" dirty="0"/>
          </a:p>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Kontrastforhold mindst 4.5:1 på al tekst</a:t>
            </a:r>
            <a:endParaRPr lang="en-US" sz="1050" dirty="0"/>
          </a:p>
          <a:p>
            <a:pPr marL="342900" indent="-342900">
              <a:spcAft>
                <a:spcPts val="600"/>
              </a:spcAft>
              <a:buSzPct val="100000"/>
              <a:buChar char="●"/>
            </a:pPr>
            <a:r>
              <a:rPr lang="en-US" sz="1050" dirty="0">
                <a:solidFill>
                  <a:srgbClr val="2D3748"/>
                </a:solidFill>
                <a:latin typeface="Calibri" pitchFamily="34" charset="0"/>
                <a:ea typeface="Calibri" pitchFamily="34" charset="-122"/>
                <a:cs typeface="Calibri" pitchFamily="34" charset="-120"/>
              </a:rPr>
              <a:t>Reducerede animationer respekterer brugerens setup</a:t>
            </a:r>
            <a:endParaRPr lang="en-US" sz="1050" dirty="0"/>
          </a:p>
        </p:txBody>
      </p:sp>
      <p:sp>
        <p:nvSpPr>
          <p:cNvPr id="26" name="Text 21"/>
          <p:cNvSpPr/>
          <p:nvPr/>
        </p:nvSpPr>
        <p:spPr>
          <a:xfrm>
            <a:off x="640080" y="6537960"/>
            <a:ext cx="11091672" cy="274320"/>
          </a:xfrm>
          <a:prstGeom prst="rect">
            <a:avLst/>
          </a:prstGeom>
          <a:noFill/>
          <a:ln/>
        </p:spPr>
        <p:txBody>
          <a:bodyPr wrap="square" lIns="0" tIns="0" rIns="0" bIns="0" rtlCol="0" anchor="ctr"/>
          <a:lstStyle/>
          <a:p>
            <a:pPr algn="ctr" indent="0" marL="0">
              <a:buNone/>
            </a:pPr>
            <a:r>
              <a:rPr lang="en-US" sz="1100" i="1" dirty="0">
                <a:solidFill>
                  <a:srgbClr val="5A7E7A"/>
                </a:solidFill>
                <a:latin typeface="Calibri" pitchFamily="34" charset="0"/>
                <a:ea typeface="Calibri" pitchFamily="34" charset="-122"/>
                <a:cs typeface="Calibri" pitchFamily="34" charset="-120"/>
              </a:rPr>
              <a:t>Mobile-first design: 80%+ af trafikken kommer fra mobil — derfor optimeres til den først.</a:t>
            </a:r>
            <a:endParaRPr lang="en-US" sz="1100" dirty="0"/>
          </a:p>
        </p:txBody>
      </p:sp>
      <p:sp>
        <p:nvSpPr>
          <p:cNvPr id="27" name="Text 22"/>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28" name="Text 23"/>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DATA-FLOW</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200" b="1" dirty="0">
                <a:solidFill>
                  <a:srgbClr val="1A202C"/>
                </a:solidFill>
                <a:latin typeface="Georgia" pitchFamily="34" charset="0"/>
                <a:ea typeface="Georgia" pitchFamily="34" charset="-122"/>
                <a:cs typeface="Georgia" pitchFamily="34" charset="-120"/>
              </a:rPr>
              <a:t>Hvordan data gemmes og flyder</a:t>
            </a:r>
            <a:endParaRPr lang="en-US" sz="3200" dirty="0"/>
          </a:p>
        </p:txBody>
      </p:sp>
      <p:sp>
        <p:nvSpPr>
          <p:cNvPr id="5" name="Text 3"/>
          <p:cNvSpPr/>
          <p:nvPr/>
        </p:nvSpPr>
        <p:spPr>
          <a:xfrm>
            <a:off x="640080" y="1645920"/>
            <a:ext cx="10972800" cy="365760"/>
          </a:xfrm>
          <a:prstGeom prst="rect">
            <a:avLst/>
          </a:prstGeom>
          <a:noFill/>
          <a:ln/>
        </p:spPr>
        <p:txBody>
          <a:bodyPr wrap="square" lIns="0" tIns="0" rIns="0" bIns="0"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Hver oplysning har én bestemt vej gennem systemet — fra kundens skærm til Adams hverdagsværktøjer.</a:t>
            </a:r>
            <a:endParaRPr lang="en-US" sz="1300" dirty="0"/>
          </a:p>
        </p:txBody>
      </p:sp>
      <p:sp>
        <p:nvSpPr>
          <p:cNvPr id="6" name="Shape 4"/>
          <p:cNvSpPr/>
          <p:nvPr/>
        </p:nvSpPr>
        <p:spPr>
          <a:xfrm>
            <a:off x="4846320" y="2286000"/>
            <a:ext cx="2468880" cy="685800"/>
          </a:xfrm>
          <a:prstGeom prst="rect">
            <a:avLst/>
          </a:prstGeom>
          <a:solidFill>
            <a:srgbClr val="1A202C"/>
          </a:solidFill>
          <a:ln/>
          <a:effectLst>
            <a:outerShdw sx="100000" sy="100000" kx="0" ky="0" algn="bl" rotWithShape="0" blurRad="101600" dist="25400" dir="162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5029200" y="2450592"/>
            <a:ext cx="365760" cy="365760"/>
          </a:xfrm>
          <a:prstGeom prst="rect">
            <a:avLst/>
          </a:prstGeom>
        </p:spPr>
      </p:pic>
      <p:sp>
        <p:nvSpPr>
          <p:cNvPr id="8" name="Text 5"/>
          <p:cNvSpPr/>
          <p:nvPr/>
        </p:nvSpPr>
        <p:spPr>
          <a:xfrm>
            <a:off x="5486400" y="2450592"/>
            <a:ext cx="1783080" cy="36576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Kunden i browser/mobil</a:t>
            </a:r>
            <a:endParaRPr lang="en-US" sz="1200" dirty="0"/>
          </a:p>
        </p:txBody>
      </p:sp>
      <p:sp>
        <p:nvSpPr>
          <p:cNvPr id="9" name="Shape 6"/>
          <p:cNvSpPr/>
          <p:nvPr/>
        </p:nvSpPr>
        <p:spPr>
          <a:xfrm>
            <a:off x="6080760" y="3063240"/>
            <a:ext cx="0" cy="502920"/>
          </a:xfrm>
          <a:prstGeom prst="line">
            <a:avLst/>
          </a:prstGeom>
          <a:noFill/>
          <a:ln w="19050">
            <a:solidFill>
              <a:srgbClr val="7A9E9A"/>
            </a:solidFill>
            <a:prstDash val="solid"/>
          </a:ln>
        </p:spPr>
      </p:sp>
      <p:sp>
        <p:nvSpPr>
          <p:cNvPr id="10" name="Shape 7"/>
          <p:cNvSpPr/>
          <p:nvPr/>
        </p:nvSpPr>
        <p:spPr>
          <a:xfrm>
            <a:off x="640080" y="3246120"/>
            <a:ext cx="2697480" cy="1554480"/>
          </a:xfrm>
          <a:prstGeom prst="rect">
            <a:avLst/>
          </a:prstGeom>
          <a:solidFill>
            <a:srgbClr val="F7F6F2"/>
          </a:solidFill>
          <a:ln w="8890">
            <a:solidFill>
              <a:srgbClr val="7A9E9A"/>
            </a:solidFill>
            <a:prstDash val="solid"/>
          </a:ln>
          <a:effectLst>
            <a:outerShdw sx="100000" sy="100000" kx="0" ky="0" algn="bl" rotWithShape="0" blurRad="101600" dist="25400" dir="16200000">
              <a:srgbClr val="000000">
                <a:alpha val="10000"/>
              </a:srgbClr>
            </a:outerShdw>
          </a:effectLst>
        </p:spPr>
      </p:sp>
      <p:pic>
        <p:nvPicPr>
          <p:cNvPr id="11" name="Image 1" descr="preencoded.png">    </p:cNvPr>
          <p:cNvPicPr>
            <a:picLocks noChangeAspect="1"/>
          </p:cNvPicPr>
          <p:nvPr/>
        </p:nvPicPr>
        <p:blipFill>
          <a:blip r:embed="rId2"/>
          <a:stretch>
            <a:fillRect/>
          </a:stretch>
        </p:blipFill>
        <p:spPr>
          <a:xfrm>
            <a:off x="1714500" y="3474720"/>
            <a:ext cx="548640" cy="548640"/>
          </a:xfrm>
          <a:prstGeom prst="rect">
            <a:avLst/>
          </a:prstGeom>
        </p:spPr>
      </p:pic>
      <p:sp>
        <p:nvSpPr>
          <p:cNvPr id="12" name="Text 8"/>
          <p:cNvSpPr/>
          <p:nvPr/>
        </p:nvSpPr>
        <p:spPr>
          <a:xfrm>
            <a:off x="822960" y="4114800"/>
            <a:ext cx="2331720" cy="320040"/>
          </a:xfrm>
          <a:prstGeom prst="rect">
            <a:avLst/>
          </a:prstGeom>
          <a:noFill/>
          <a:ln/>
        </p:spPr>
        <p:txBody>
          <a:bodyPr wrap="square" lIns="0" tIns="0" rIns="0" bIns="0" rtlCol="0" anchor="ctr"/>
          <a:lstStyle/>
          <a:p>
            <a:pPr algn="ctr" indent="0" marL="0">
              <a:buNone/>
            </a:pPr>
            <a:r>
              <a:rPr lang="en-US" sz="1300" b="1" dirty="0">
                <a:solidFill>
                  <a:srgbClr val="1A202C"/>
                </a:solidFill>
                <a:latin typeface="Georgia" pitchFamily="34" charset="0"/>
                <a:ea typeface="Georgia" pitchFamily="34" charset="-122"/>
                <a:cs typeface="Georgia" pitchFamily="34" charset="-120"/>
              </a:rPr>
              <a:t>Sanity CMS</a:t>
            </a:r>
            <a:endParaRPr lang="en-US" sz="1300" dirty="0"/>
          </a:p>
        </p:txBody>
      </p:sp>
      <p:sp>
        <p:nvSpPr>
          <p:cNvPr id="13" name="Text 9"/>
          <p:cNvSpPr/>
          <p:nvPr/>
        </p:nvSpPr>
        <p:spPr>
          <a:xfrm>
            <a:off x="822960" y="4434840"/>
            <a:ext cx="2331720" cy="365760"/>
          </a:xfrm>
          <a:prstGeom prst="rect">
            <a:avLst/>
          </a:prstGeom>
          <a:noFill/>
          <a:ln/>
        </p:spPr>
        <p:txBody>
          <a:bodyPr wrap="square" lIns="0" tIns="0" rIns="0" bIns="0" rtlCol="0" anchor="t"/>
          <a:lstStyle/>
          <a:p>
            <a:pPr algn="ctr" indent="0" marL="0">
              <a:buNone/>
            </a:pPr>
            <a:r>
              <a:rPr lang="en-US" sz="1000" dirty="0">
                <a:solidFill>
                  <a:srgbClr val="718096"/>
                </a:solidFill>
                <a:latin typeface="Calibri" pitchFamily="34" charset="0"/>
                <a:ea typeface="Calibri" pitchFamily="34" charset="-122"/>
                <a:cs typeface="Calibri" pitchFamily="34" charset="-120"/>
              </a:rPr>
              <a:t>Side-tekster</a:t>
            </a:r>
            <a:endParaRPr lang="en-US" sz="1000" dirty="0"/>
          </a:p>
          <a:p>
            <a:pPr algn="ctr" indent="0" marL="0">
              <a:buNone/>
            </a:pPr>
            <a:r>
              <a:rPr lang="en-US" sz="1000" dirty="0">
                <a:solidFill>
                  <a:srgbClr val="718096"/>
                </a:solidFill>
                <a:latin typeface="Calibri" pitchFamily="34" charset="0"/>
                <a:ea typeface="Calibri" pitchFamily="34" charset="-122"/>
                <a:cs typeface="Calibri" pitchFamily="34" charset="-120"/>
              </a:rPr>
              <a:t>Projektbilleder</a:t>
            </a:r>
            <a:endParaRPr lang="en-US" sz="1000" dirty="0"/>
          </a:p>
        </p:txBody>
      </p:sp>
      <p:sp>
        <p:nvSpPr>
          <p:cNvPr id="14" name="Shape 10"/>
          <p:cNvSpPr/>
          <p:nvPr/>
        </p:nvSpPr>
        <p:spPr>
          <a:xfrm>
            <a:off x="3456432" y="3246120"/>
            <a:ext cx="2697480" cy="1554480"/>
          </a:xfrm>
          <a:prstGeom prst="rect">
            <a:avLst/>
          </a:prstGeom>
          <a:solidFill>
            <a:srgbClr val="F7F6F2"/>
          </a:solidFill>
          <a:ln w="8890">
            <a:solidFill>
              <a:srgbClr val="7A9E9A"/>
            </a:solidFill>
            <a:prstDash val="solid"/>
          </a:ln>
          <a:effectLst>
            <a:outerShdw sx="100000" sy="100000" kx="0" ky="0" algn="bl" rotWithShape="0" blurRad="101600" dist="25400" dir="16200000">
              <a:srgbClr val="000000">
                <a:alpha val="10000"/>
              </a:srgbClr>
            </a:outerShdw>
          </a:effectLst>
        </p:spPr>
      </p:sp>
      <p:pic>
        <p:nvPicPr>
          <p:cNvPr id="15" name="Image 2" descr="preencoded.png">    </p:cNvPr>
          <p:cNvPicPr>
            <a:picLocks noChangeAspect="1"/>
          </p:cNvPicPr>
          <p:nvPr/>
        </p:nvPicPr>
        <p:blipFill>
          <a:blip r:embed="rId3"/>
          <a:stretch>
            <a:fillRect/>
          </a:stretch>
        </p:blipFill>
        <p:spPr>
          <a:xfrm>
            <a:off x="4530852" y="3474720"/>
            <a:ext cx="548640" cy="548640"/>
          </a:xfrm>
          <a:prstGeom prst="rect">
            <a:avLst/>
          </a:prstGeom>
        </p:spPr>
      </p:pic>
      <p:sp>
        <p:nvSpPr>
          <p:cNvPr id="16" name="Text 11"/>
          <p:cNvSpPr/>
          <p:nvPr/>
        </p:nvSpPr>
        <p:spPr>
          <a:xfrm>
            <a:off x="3639312" y="4114800"/>
            <a:ext cx="2331720" cy="320040"/>
          </a:xfrm>
          <a:prstGeom prst="rect">
            <a:avLst/>
          </a:prstGeom>
          <a:noFill/>
          <a:ln/>
        </p:spPr>
        <p:txBody>
          <a:bodyPr wrap="square" lIns="0" tIns="0" rIns="0" bIns="0" rtlCol="0" anchor="ctr"/>
          <a:lstStyle/>
          <a:p>
            <a:pPr algn="ctr" indent="0" marL="0">
              <a:buNone/>
            </a:pPr>
            <a:r>
              <a:rPr lang="en-US" sz="1300" b="1" dirty="0">
                <a:solidFill>
                  <a:srgbClr val="1A202C"/>
                </a:solidFill>
                <a:latin typeface="Georgia" pitchFamily="34" charset="0"/>
                <a:ea typeface="Georgia" pitchFamily="34" charset="-122"/>
                <a:cs typeface="Georgia" pitchFamily="34" charset="-120"/>
              </a:rPr>
              <a:t>Google Drive</a:t>
            </a:r>
            <a:endParaRPr lang="en-US" sz="1300" dirty="0"/>
          </a:p>
        </p:txBody>
      </p:sp>
      <p:sp>
        <p:nvSpPr>
          <p:cNvPr id="17" name="Text 12"/>
          <p:cNvSpPr/>
          <p:nvPr/>
        </p:nvSpPr>
        <p:spPr>
          <a:xfrm>
            <a:off x="3639312" y="4434840"/>
            <a:ext cx="2331720" cy="365760"/>
          </a:xfrm>
          <a:prstGeom prst="rect">
            <a:avLst/>
          </a:prstGeom>
          <a:noFill/>
          <a:ln/>
        </p:spPr>
        <p:txBody>
          <a:bodyPr wrap="square" lIns="0" tIns="0" rIns="0" bIns="0" rtlCol="0" anchor="t"/>
          <a:lstStyle/>
          <a:p>
            <a:pPr algn="ctr" indent="0" marL="0">
              <a:buNone/>
            </a:pPr>
            <a:r>
              <a:rPr lang="en-US" sz="1000" dirty="0">
                <a:solidFill>
                  <a:srgbClr val="718096"/>
                </a:solidFill>
                <a:latin typeface="Calibri" pitchFamily="34" charset="0"/>
                <a:ea typeface="Calibri" pitchFamily="34" charset="-122"/>
                <a:cs typeface="Calibri" pitchFamily="34" charset="-120"/>
              </a:rPr>
              <a:t>Kunde-uploadede</a:t>
            </a:r>
            <a:endParaRPr lang="en-US" sz="1000" dirty="0"/>
          </a:p>
          <a:p>
            <a:pPr algn="ctr" indent="0" marL="0">
              <a:buNone/>
            </a:pPr>
            <a:r>
              <a:rPr lang="en-US" sz="1000" dirty="0">
                <a:solidFill>
                  <a:srgbClr val="718096"/>
                </a:solidFill>
                <a:latin typeface="Calibri" pitchFamily="34" charset="0"/>
                <a:ea typeface="Calibri" pitchFamily="34" charset="-122"/>
                <a:cs typeface="Calibri" pitchFamily="34" charset="-120"/>
              </a:rPr>
              <a:t>opgavebilleder</a:t>
            </a:r>
            <a:endParaRPr lang="en-US" sz="1000" dirty="0"/>
          </a:p>
        </p:txBody>
      </p:sp>
      <p:sp>
        <p:nvSpPr>
          <p:cNvPr id="18" name="Shape 13"/>
          <p:cNvSpPr/>
          <p:nvPr/>
        </p:nvSpPr>
        <p:spPr>
          <a:xfrm>
            <a:off x="6272784" y="3246120"/>
            <a:ext cx="2697480" cy="1554480"/>
          </a:xfrm>
          <a:prstGeom prst="rect">
            <a:avLst/>
          </a:prstGeom>
          <a:solidFill>
            <a:srgbClr val="F7F6F2"/>
          </a:solidFill>
          <a:ln w="8890">
            <a:solidFill>
              <a:srgbClr val="7A9E9A"/>
            </a:solidFill>
            <a:prstDash val="solid"/>
          </a:ln>
          <a:effectLst>
            <a:outerShdw sx="100000" sy="100000" kx="0" ky="0" algn="bl" rotWithShape="0" blurRad="101600" dist="25400" dir="16200000">
              <a:srgbClr val="000000">
                <a:alpha val="10000"/>
              </a:srgbClr>
            </a:outerShdw>
          </a:effectLst>
        </p:spPr>
      </p:sp>
      <p:pic>
        <p:nvPicPr>
          <p:cNvPr id="19" name="Image 3" descr="preencoded.png">    </p:cNvPr>
          <p:cNvPicPr>
            <a:picLocks noChangeAspect="1"/>
          </p:cNvPicPr>
          <p:nvPr/>
        </p:nvPicPr>
        <p:blipFill>
          <a:blip r:embed="rId4"/>
          <a:stretch>
            <a:fillRect/>
          </a:stretch>
        </p:blipFill>
        <p:spPr>
          <a:xfrm>
            <a:off x="7347204" y="3474720"/>
            <a:ext cx="548640" cy="548640"/>
          </a:xfrm>
          <a:prstGeom prst="rect">
            <a:avLst/>
          </a:prstGeom>
        </p:spPr>
      </p:pic>
      <p:sp>
        <p:nvSpPr>
          <p:cNvPr id="20" name="Text 14"/>
          <p:cNvSpPr/>
          <p:nvPr/>
        </p:nvSpPr>
        <p:spPr>
          <a:xfrm>
            <a:off x="6455664" y="4114800"/>
            <a:ext cx="2331720" cy="320040"/>
          </a:xfrm>
          <a:prstGeom prst="rect">
            <a:avLst/>
          </a:prstGeom>
          <a:noFill/>
          <a:ln/>
        </p:spPr>
        <p:txBody>
          <a:bodyPr wrap="square" lIns="0" tIns="0" rIns="0" bIns="0" rtlCol="0" anchor="ctr"/>
          <a:lstStyle/>
          <a:p>
            <a:pPr algn="ctr" indent="0" marL="0">
              <a:buNone/>
            </a:pPr>
            <a:r>
              <a:rPr lang="en-US" sz="1300" b="1" dirty="0">
                <a:solidFill>
                  <a:srgbClr val="1A202C"/>
                </a:solidFill>
                <a:latin typeface="Georgia" pitchFamily="34" charset="0"/>
                <a:ea typeface="Georgia" pitchFamily="34" charset="-122"/>
                <a:cs typeface="Georgia" pitchFamily="34" charset="-120"/>
              </a:rPr>
              <a:t>Google Calendar</a:t>
            </a:r>
            <a:endParaRPr lang="en-US" sz="1300" dirty="0"/>
          </a:p>
        </p:txBody>
      </p:sp>
      <p:sp>
        <p:nvSpPr>
          <p:cNvPr id="21" name="Text 15"/>
          <p:cNvSpPr/>
          <p:nvPr/>
        </p:nvSpPr>
        <p:spPr>
          <a:xfrm>
            <a:off x="6455664" y="4434840"/>
            <a:ext cx="2331720" cy="365760"/>
          </a:xfrm>
          <a:prstGeom prst="rect">
            <a:avLst/>
          </a:prstGeom>
          <a:noFill/>
          <a:ln/>
        </p:spPr>
        <p:txBody>
          <a:bodyPr wrap="square" lIns="0" tIns="0" rIns="0" bIns="0" rtlCol="0" anchor="t"/>
          <a:lstStyle/>
          <a:p>
            <a:pPr algn="ctr" indent="0" marL="0">
              <a:buNone/>
            </a:pPr>
            <a:r>
              <a:rPr lang="en-US" sz="1000" dirty="0">
                <a:solidFill>
                  <a:srgbClr val="718096"/>
                </a:solidFill>
                <a:latin typeface="Calibri" pitchFamily="34" charset="0"/>
                <a:ea typeface="Calibri" pitchFamily="34" charset="-122"/>
                <a:cs typeface="Calibri" pitchFamily="34" charset="-120"/>
              </a:rPr>
              <a:t>Mødebookinger</a:t>
            </a:r>
            <a:endParaRPr lang="en-US" sz="1000" dirty="0"/>
          </a:p>
          <a:p>
            <a:pPr algn="ctr" indent="0" marL="0">
              <a:buNone/>
            </a:pPr>
            <a:r>
              <a:rPr lang="en-US" sz="1000" dirty="0">
                <a:solidFill>
                  <a:srgbClr val="718096"/>
                </a:solidFill>
                <a:latin typeface="Calibri" pitchFamily="34" charset="0"/>
                <a:ea typeface="Calibri" pitchFamily="34" charset="-122"/>
                <a:cs typeface="Calibri" pitchFamily="34" charset="-120"/>
              </a:rPr>
              <a:t>kalender-events</a:t>
            </a:r>
            <a:endParaRPr lang="en-US" sz="1000" dirty="0"/>
          </a:p>
        </p:txBody>
      </p:sp>
      <p:sp>
        <p:nvSpPr>
          <p:cNvPr id="22" name="Shape 16"/>
          <p:cNvSpPr/>
          <p:nvPr/>
        </p:nvSpPr>
        <p:spPr>
          <a:xfrm>
            <a:off x="9089136" y="3246120"/>
            <a:ext cx="2697480" cy="1554480"/>
          </a:xfrm>
          <a:prstGeom prst="rect">
            <a:avLst/>
          </a:prstGeom>
          <a:solidFill>
            <a:srgbClr val="F7F6F2"/>
          </a:solidFill>
          <a:ln w="8890">
            <a:solidFill>
              <a:srgbClr val="7A9E9A"/>
            </a:solidFill>
            <a:prstDash val="solid"/>
          </a:ln>
          <a:effectLst>
            <a:outerShdw sx="100000" sy="100000" kx="0" ky="0" algn="bl" rotWithShape="0" blurRad="101600" dist="25400" dir="16200000">
              <a:srgbClr val="000000">
                <a:alpha val="10000"/>
              </a:srgbClr>
            </a:outerShdw>
          </a:effectLst>
        </p:spPr>
      </p:sp>
      <p:pic>
        <p:nvPicPr>
          <p:cNvPr id="23" name="Image 4" descr="preencoded.png">    </p:cNvPr>
          <p:cNvPicPr>
            <a:picLocks noChangeAspect="1"/>
          </p:cNvPicPr>
          <p:nvPr/>
        </p:nvPicPr>
        <p:blipFill>
          <a:blip r:embed="rId5"/>
          <a:stretch>
            <a:fillRect/>
          </a:stretch>
        </p:blipFill>
        <p:spPr>
          <a:xfrm>
            <a:off x="10163556" y="3474720"/>
            <a:ext cx="548640" cy="548640"/>
          </a:xfrm>
          <a:prstGeom prst="rect">
            <a:avLst/>
          </a:prstGeom>
        </p:spPr>
      </p:pic>
      <p:sp>
        <p:nvSpPr>
          <p:cNvPr id="24" name="Text 17"/>
          <p:cNvSpPr/>
          <p:nvPr/>
        </p:nvSpPr>
        <p:spPr>
          <a:xfrm>
            <a:off x="9272016" y="4114800"/>
            <a:ext cx="2331720" cy="320040"/>
          </a:xfrm>
          <a:prstGeom prst="rect">
            <a:avLst/>
          </a:prstGeom>
          <a:noFill/>
          <a:ln/>
        </p:spPr>
        <p:txBody>
          <a:bodyPr wrap="square" lIns="0" tIns="0" rIns="0" bIns="0" rtlCol="0" anchor="ctr"/>
          <a:lstStyle/>
          <a:p>
            <a:pPr algn="ctr" indent="0" marL="0">
              <a:buNone/>
            </a:pPr>
            <a:r>
              <a:rPr lang="en-US" sz="1300" b="1" dirty="0">
                <a:solidFill>
                  <a:srgbClr val="1A202C"/>
                </a:solidFill>
                <a:latin typeface="Georgia" pitchFamily="34" charset="0"/>
                <a:ea typeface="Georgia" pitchFamily="34" charset="-122"/>
                <a:cs typeface="Georgia" pitchFamily="34" charset="-120"/>
              </a:rPr>
              <a:t>Airtable</a:t>
            </a:r>
            <a:endParaRPr lang="en-US" sz="1300" dirty="0"/>
          </a:p>
        </p:txBody>
      </p:sp>
      <p:sp>
        <p:nvSpPr>
          <p:cNvPr id="25" name="Text 18"/>
          <p:cNvSpPr/>
          <p:nvPr/>
        </p:nvSpPr>
        <p:spPr>
          <a:xfrm>
            <a:off x="9272016" y="4434840"/>
            <a:ext cx="2331720" cy="365760"/>
          </a:xfrm>
          <a:prstGeom prst="rect">
            <a:avLst/>
          </a:prstGeom>
          <a:noFill/>
          <a:ln/>
        </p:spPr>
        <p:txBody>
          <a:bodyPr wrap="square" lIns="0" tIns="0" rIns="0" bIns="0" rtlCol="0" anchor="t"/>
          <a:lstStyle/>
          <a:p>
            <a:pPr algn="ctr" indent="0" marL="0">
              <a:buNone/>
            </a:pPr>
            <a:r>
              <a:rPr lang="en-US" sz="1000" dirty="0">
                <a:solidFill>
                  <a:srgbClr val="718096"/>
                </a:solidFill>
                <a:latin typeface="Calibri" pitchFamily="34" charset="0"/>
                <a:ea typeface="Calibri" pitchFamily="34" charset="-122"/>
                <a:cs typeface="Calibri" pitchFamily="34" charset="-120"/>
              </a:rPr>
              <a:t>Lead-database</a:t>
            </a:r>
            <a:endParaRPr lang="en-US" sz="1000" dirty="0"/>
          </a:p>
          <a:p>
            <a:pPr algn="ctr" indent="0" marL="0">
              <a:buNone/>
            </a:pPr>
            <a:r>
              <a:rPr lang="en-US" sz="1000" dirty="0">
                <a:solidFill>
                  <a:srgbClr val="718096"/>
                </a:solidFill>
                <a:latin typeface="Calibri" pitchFamily="34" charset="0"/>
                <a:ea typeface="Calibri" pitchFamily="34" charset="-122"/>
                <a:cs typeface="Calibri" pitchFamily="34" charset="-120"/>
              </a:rPr>
              <a:t>status + opfølgning</a:t>
            </a:r>
            <a:endParaRPr lang="en-US" sz="1000" dirty="0"/>
          </a:p>
        </p:txBody>
      </p:sp>
      <p:sp>
        <p:nvSpPr>
          <p:cNvPr id="26" name="Shape 19"/>
          <p:cNvSpPr/>
          <p:nvPr/>
        </p:nvSpPr>
        <p:spPr>
          <a:xfrm>
            <a:off x="6080760" y="4846320"/>
            <a:ext cx="0" cy="411480"/>
          </a:xfrm>
          <a:prstGeom prst="line">
            <a:avLst/>
          </a:prstGeom>
          <a:noFill/>
          <a:ln w="19050">
            <a:solidFill>
              <a:srgbClr val="7A9E9A"/>
            </a:solidFill>
            <a:prstDash val="solid"/>
          </a:ln>
        </p:spPr>
      </p:sp>
      <p:sp>
        <p:nvSpPr>
          <p:cNvPr id="27" name="Shape 20"/>
          <p:cNvSpPr/>
          <p:nvPr/>
        </p:nvSpPr>
        <p:spPr>
          <a:xfrm>
            <a:off x="640080" y="5212080"/>
            <a:ext cx="11091672" cy="914400"/>
          </a:xfrm>
          <a:prstGeom prst="rect">
            <a:avLst/>
          </a:prstGeom>
          <a:solidFill>
            <a:srgbClr val="5A7E7A"/>
          </a:solidFill>
          <a:ln/>
          <a:effectLst>
            <a:outerShdw sx="100000" sy="100000" kx="0" ky="0" algn="bl" rotWithShape="0" blurRad="101600" dist="25400" dir="16200000">
              <a:srgbClr val="000000">
                <a:alpha val="10000"/>
              </a:srgbClr>
            </a:outerShdw>
          </a:effectLst>
        </p:spPr>
      </p:sp>
      <p:pic>
        <p:nvPicPr>
          <p:cNvPr id="28" name="Image 5" descr="preencoded.png">    </p:cNvPr>
          <p:cNvPicPr>
            <a:picLocks noChangeAspect="1"/>
          </p:cNvPicPr>
          <p:nvPr/>
        </p:nvPicPr>
        <p:blipFill>
          <a:blip r:embed="rId6"/>
          <a:stretch>
            <a:fillRect/>
          </a:stretch>
        </p:blipFill>
        <p:spPr>
          <a:xfrm>
            <a:off x="914400" y="5458968"/>
            <a:ext cx="457200" cy="457200"/>
          </a:xfrm>
          <a:prstGeom prst="rect">
            <a:avLst/>
          </a:prstGeom>
        </p:spPr>
      </p:pic>
      <p:sp>
        <p:nvSpPr>
          <p:cNvPr id="29" name="Text 21"/>
          <p:cNvSpPr/>
          <p:nvPr/>
        </p:nvSpPr>
        <p:spPr>
          <a:xfrm>
            <a:off x="1554480" y="5330952"/>
            <a:ext cx="5486400" cy="365760"/>
          </a:xfrm>
          <a:prstGeom prst="rect">
            <a:avLst/>
          </a:prstGeom>
          <a:noFill/>
          <a:ln/>
        </p:spPr>
        <p:txBody>
          <a:bodyPr wrap="square" lIns="0" tIns="0" rIns="0" bIns="0" rtlCol="0" anchor="ctr"/>
          <a:lstStyle/>
          <a:p>
            <a:pPr indent="0" marL="0">
              <a:buNone/>
            </a:pPr>
            <a:r>
              <a:rPr lang="en-US" sz="1400" b="1" i="1" dirty="0">
                <a:solidFill>
                  <a:srgbClr val="FFFFFF"/>
                </a:solidFill>
                <a:latin typeface="Georgia" pitchFamily="34" charset="0"/>
                <a:ea typeface="Georgia" pitchFamily="34" charset="-122"/>
                <a:cs typeface="Georgia" pitchFamily="34" charset="-120"/>
              </a:rPr>
              <a:t>Adam tilgår alt fra ét sted</a:t>
            </a:r>
            <a:endParaRPr lang="en-US" sz="1400" dirty="0"/>
          </a:p>
        </p:txBody>
      </p:sp>
      <p:sp>
        <p:nvSpPr>
          <p:cNvPr id="30" name="Text 22"/>
          <p:cNvSpPr/>
          <p:nvPr/>
        </p:nvSpPr>
        <p:spPr>
          <a:xfrm>
            <a:off x="1554480" y="5669280"/>
            <a:ext cx="10058400" cy="365760"/>
          </a:xfrm>
          <a:prstGeom prst="rect">
            <a:avLst/>
          </a:prstGeom>
          <a:noFill/>
          <a:ln/>
        </p:spPr>
        <p:txBody>
          <a:bodyPr wrap="square" lIns="0" tIns="0" rIns="0" bIns="0" rtlCol="0" anchor="ctr"/>
          <a:lstStyle/>
          <a:p>
            <a:pPr indent="0" marL="0">
              <a:buNone/>
            </a:pPr>
            <a:r>
              <a:rPr lang="en-US" sz="1100" dirty="0">
                <a:solidFill>
                  <a:srgbClr val="A8C2BF"/>
                </a:solidFill>
                <a:latin typeface="Calibri" pitchFamily="34" charset="0"/>
                <a:ea typeface="Calibri" pitchFamily="34" charset="-122"/>
                <a:cs typeface="Calibri" pitchFamily="34" charset="-120"/>
              </a:rPr>
              <a:t>Sanity Studio · Google Drive · Google Calendar · Airtable — alle er tilgængelige fra mobil og desktop med samme login.</a:t>
            </a:r>
            <a:endParaRPr lang="en-US" sz="1100" dirty="0"/>
          </a:p>
        </p:txBody>
      </p:sp>
      <p:sp>
        <p:nvSpPr>
          <p:cNvPr id="31" name="Text 23"/>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32" name="Text 24"/>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DRIFTSØKONOMI</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200" b="1" dirty="0">
                <a:solidFill>
                  <a:srgbClr val="1A202C"/>
                </a:solidFill>
                <a:latin typeface="Georgia" pitchFamily="34" charset="0"/>
                <a:ea typeface="Georgia" pitchFamily="34" charset="-122"/>
                <a:cs typeface="Georgia" pitchFamily="34" charset="-120"/>
              </a:rPr>
              <a:t>Månedlige driftsomkostninger</a:t>
            </a:r>
            <a:endParaRPr lang="en-US" sz="3200" dirty="0"/>
          </a:p>
        </p:txBody>
      </p:sp>
      <p:sp>
        <p:nvSpPr>
          <p:cNvPr id="5" name="Text 3"/>
          <p:cNvSpPr/>
          <p:nvPr/>
        </p:nvSpPr>
        <p:spPr>
          <a:xfrm>
            <a:off x="640080" y="1645920"/>
            <a:ext cx="10972800" cy="365760"/>
          </a:xfrm>
          <a:prstGeom prst="rect">
            <a:avLst/>
          </a:prstGeom>
          <a:noFill/>
          <a:ln/>
        </p:spPr>
        <p:txBody>
          <a:bodyPr wrap="square" lIns="0" tIns="0" rIns="0" bIns="0"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Estimerede løbende udgifter ved opstart. Skalerer med trafik og leads — alle services starter på gratis tier.</a:t>
            </a:r>
            <a:endParaRPr lang="en-US" sz="1300" dirty="0"/>
          </a:p>
        </p:txBody>
      </p:sp>
      <p:sp>
        <p:nvSpPr>
          <p:cNvPr id="6" name="Shape 4"/>
          <p:cNvSpPr/>
          <p:nvPr/>
        </p:nvSpPr>
        <p:spPr>
          <a:xfrm>
            <a:off x="640080" y="2377440"/>
            <a:ext cx="11091672" cy="411480"/>
          </a:xfrm>
          <a:prstGeom prst="rect">
            <a:avLst/>
          </a:prstGeom>
          <a:solidFill>
            <a:srgbClr val="1A202C"/>
          </a:solidFill>
          <a:ln/>
        </p:spPr>
      </p:sp>
      <p:sp>
        <p:nvSpPr>
          <p:cNvPr id="7" name="Text 5"/>
          <p:cNvSpPr/>
          <p:nvPr/>
        </p:nvSpPr>
        <p:spPr>
          <a:xfrm>
            <a:off x="1005840" y="2377440"/>
            <a:ext cx="2743200" cy="411480"/>
          </a:xfrm>
          <a:prstGeom prst="rect">
            <a:avLst/>
          </a:prstGeom>
          <a:noFill/>
          <a:ln/>
        </p:spPr>
        <p:txBody>
          <a:bodyPr wrap="square" lIns="0" tIns="0" rIns="0" bIns="0" rtlCol="0" anchor="ctr"/>
          <a:lstStyle/>
          <a:p>
            <a:pPr indent="0" marL="0">
              <a:buNone/>
            </a:pPr>
            <a:r>
              <a:rPr lang="en-US" sz="1100" b="1" spc="400" kern="0" dirty="0">
                <a:solidFill>
                  <a:srgbClr val="A8C2BF"/>
                </a:solidFill>
                <a:latin typeface="Georgia" pitchFamily="34" charset="0"/>
                <a:ea typeface="Georgia" pitchFamily="34" charset="-122"/>
                <a:cs typeface="Georgia" pitchFamily="34" charset="-120"/>
              </a:rPr>
              <a:t>Service</a:t>
            </a:r>
            <a:endParaRPr lang="en-US" sz="1100" dirty="0"/>
          </a:p>
        </p:txBody>
      </p:sp>
      <p:sp>
        <p:nvSpPr>
          <p:cNvPr id="8" name="Text 6"/>
          <p:cNvSpPr/>
          <p:nvPr/>
        </p:nvSpPr>
        <p:spPr>
          <a:xfrm>
            <a:off x="3749040" y="2377440"/>
            <a:ext cx="2286000" cy="411480"/>
          </a:xfrm>
          <a:prstGeom prst="rect">
            <a:avLst/>
          </a:prstGeom>
          <a:noFill/>
          <a:ln/>
        </p:spPr>
        <p:txBody>
          <a:bodyPr wrap="square" lIns="0" tIns="0" rIns="0" bIns="0" rtlCol="0" anchor="ctr"/>
          <a:lstStyle/>
          <a:p>
            <a:pPr indent="0" marL="0">
              <a:buNone/>
            </a:pPr>
            <a:r>
              <a:rPr lang="en-US" sz="1100" b="1" spc="400" kern="0" dirty="0">
                <a:solidFill>
                  <a:srgbClr val="A8C2BF"/>
                </a:solidFill>
                <a:latin typeface="Georgia" pitchFamily="34" charset="0"/>
                <a:ea typeface="Georgia" pitchFamily="34" charset="-122"/>
                <a:cs typeface="Georgia" pitchFamily="34" charset="-120"/>
              </a:rPr>
              <a:t>Plan</a:t>
            </a:r>
            <a:endParaRPr lang="en-US" sz="1100" dirty="0"/>
          </a:p>
        </p:txBody>
      </p:sp>
      <p:sp>
        <p:nvSpPr>
          <p:cNvPr id="9" name="Text 7"/>
          <p:cNvSpPr/>
          <p:nvPr/>
        </p:nvSpPr>
        <p:spPr>
          <a:xfrm>
            <a:off x="6035040" y="2377440"/>
            <a:ext cx="1463040" cy="411480"/>
          </a:xfrm>
          <a:prstGeom prst="rect">
            <a:avLst/>
          </a:prstGeom>
          <a:noFill/>
          <a:ln/>
        </p:spPr>
        <p:txBody>
          <a:bodyPr wrap="square" lIns="0" tIns="0" rIns="0" bIns="0" rtlCol="0" anchor="ctr"/>
          <a:lstStyle/>
          <a:p>
            <a:pPr indent="0" marL="0">
              <a:buNone/>
            </a:pPr>
            <a:r>
              <a:rPr lang="en-US" sz="1100" b="1" spc="400" kern="0" dirty="0">
                <a:solidFill>
                  <a:srgbClr val="A8C2BF"/>
                </a:solidFill>
                <a:latin typeface="Georgia" pitchFamily="34" charset="0"/>
                <a:ea typeface="Georgia" pitchFamily="34" charset="-122"/>
                <a:cs typeface="Georgia" pitchFamily="34" charset="-120"/>
              </a:rPr>
              <a:t>Pris/md</a:t>
            </a:r>
            <a:endParaRPr lang="en-US" sz="1100" dirty="0"/>
          </a:p>
        </p:txBody>
      </p:sp>
      <p:sp>
        <p:nvSpPr>
          <p:cNvPr id="10" name="Text 8"/>
          <p:cNvSpPr/>
          <p:nvPr/>
        </p:nvSpPr>
        <p:spPr>
          <a:xfrm>
            <a:off x="7498080" y="2377440"/>
            <a:ext cx="5029200" cy="411480"/>
          </a:xfrm>
          <a:prstGeom prst="rect">
            <a:avLst/>
          </a:prstGeom>
          <a:noFill/>
          <a:ln/>
        </p:spPr>
        <p:txBody>
          <a:bodyPr wrap="square" lIns="0" tIns="0" rIns="0" bIns="0" rtlCol="0" anchor="ctr"/>
          <a:lstStyle/>
          <a:p>
            <a:pPr indent="0" marL="0">
              <a:buNone/>
            </a:pPr>
            <a:r>
              <a:rPr lang="en-US" sz="1100" b="1" spc="400" kern="0" dirty="0">
                <a:solidFill>
                  <a:srgbClr val="A8C2BF"/>
                </a:solidFill>
                <a:latin typeface="Georgia" pitchFamily="34" charset="0"/>
                <a:ea typeface="Georgia" pitchFamily="34" charset="-122"/>
                <a:cs typeface="Georgia" pitchFamily="34" charset="-120"/>
              </a:rPr>
              <a:t>Kommentar</a:t>
            </a:r>
            <a:endParaRPr lang="en-US" sz="1100" dirty="0"/>
          </a:p>
        </p:txBody>
      </p:sp>
      <p:sp>
        <p:nvSpPr>
          <p:cNvPr id="11" name="Shape 9"/>
          <p:cNvSpPr/>
          <p:nvPr/>
        </p:nvSpPr>
        <p:spPr>
          <a:xfrm>
            <a:off x="640080" y="2788920"/>
            <a:ext cx="11091672" cy="411480"/>
          </a:xfrm>
          <a:prstGeom prst="rect">
            <a:avLst/>
          </a:prstGeom>
          <a:solidFill>
            <a:srgbClr val="FFFFFF"/>
          </a:solidFill>
          <a:ln w="3810">
            <a:solidFill>
              <a:srgbClr val="E2E8F0"/>
            </a:solidFill>
            <a:prstDash val="solid"/>
          </a:ln>
        </p:spPr>
      </p:sp>
      <p:sp>
        <p:nvSpPr>
          <p:cNvPr id="12" name="Text 10"/>
          <p:cNvSpPr/>
          <p:nvPr/>
        </p:nvSpPr>
        <p:spPr>
          <a:xfrm>
            <a:off x="1005840" y="2788920"/>
            <a:ext cx="2743200" cy="41148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Vercel hosting</a:t>
            </a:r>
            <a:endParaRPr lang="en-US" sz="1100" dirty="0"/>
          </a:p>
        </p:txBody>
      </p:sp>
      <p:sp>
        <p:nvSpPr>
          <p:cNvPr id="13" name="Text 11"/>
          <p:cNvSpPr/>
          <p:nvPr/>
        </p:nvSpPr>
        <p:spPr>
          <a:xfrm>
            <a:off x="3749040" y="2788920"/>
            <a:ext cx="2286000" cy="41148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Hobby plan</a:t>
            </a:r>
            <a:endParaRPr lang="en-US" sz="1100" dirty="0"/>
          </a:p>
        </p:txBody>
      </p:sp>
      <p:sp>
        <p:nvSpPr>
          <p:cNvPr id="14" name="Text 12"/>
          <p:cNvSpPr/>
          <p:nvPr/>
        </p:nvSpPr>
        <p:spPr>
          <a:xfrm>
            <a:off x="6035040" y="2788920"/>
            <a:ext cx="1463040" cy="411480"/>
          </a:xfrm>
          <a:prstGeom prst="rect">
            <a:avLst/>
          </a:prstGeom>
          <a:noFill/>
          <a:ln/>
        </p:spPr>
        <p:txBody>
          <a:bodyPr wrap="square" lIns="0" tIns="0" rIns="0" bIns="0" rtlCol="0" anchor="ctr"/>
          <a:lstStyle/>
          <a:p>
            <a:pPr indent="0" marL="0">
              <a:buNone/>
            </a:pPr>
            <a:r>
              <a:rPr lang="en-US" sz="1100" b="1" dirty="0">
                <a:solidFill>
                  <a:srgbClr val="5A7E7A"/>
                </a:solidFill>
                <a:latin typeface="Calibri" pitchFamily="34" charset="0"/>
                <a:ea typeface="Calibri" pitchFamily="34" charset="-122"/>
                <a:cs typeface="Calibri" pitchFamily="34" charset="-120"/>
              </a:rPr>
              <a:t>0 kr.</a:t>
            </a:r>
            <a:endParaRPr lang="en-US" sz="1100" dirty="0"/>
          </a:p>
        </p:txBody>
      </p:sp>
      <p:sp>
        <p:nvSpPr>
          <p:cNvPr id="15" name="Text 13"/>
          <p:cNvSpPr/>
          <p:nvPr/>
        </p:nvSpPr>
        <p:spPr>
          <a:xfrm>
            <a:off x="7498080" y="2788920"/>
            <a:ext cx="5029200" cy="4114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Gratis indtil ~100k besøg/md</a:t>
            </a:r>
            <a:endParaRPr lang="en-US" sz="1000" dirty="0"/>
          </a:p>
        </p:txBody>
      </p:sp>
      <p:sp>
        <p:nvSpPr>
          <p:cNvPr id="16" name="Shape 14"/>
          <p:cNvSpPr/>
          <p:nvPr/>
        </p:nvSpPr>
        <p:spPr>
          <a:xfrm>
            <a:off x="640080" y="3200400"/>
            <a:ext cx="11091672" cy="411480"/>
          </a:xfrm>
          <a:prstGeom prst="rect">
            <a:avLst/>
          </a:prstGeom>
          <a:solidFill>
            <a:srgbClr val="F1F1EE"/>
          </a:solidFill>
          <a:ln w="3810">
            <a:solidFill>
              <a:srgbClr val="E2E8F0"/>
            </a:solidFill>
            <a:prstDash val="solid"/>
          </a:ln>
        </p:spPr>
      </p:sp>
      <p:sp>
        <p:nvSpPr>
          <p:cNvPr id="17" name="Text 15"/>
          <p:cNvSpPr/>
          <p:nvPr/>
        </p:nvSpPr>
        <p:spPr>
          <a:xfrm>
            <a:off x="1005840" y="3200400"/>
            <a:ext cx="2743200" cy="41148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Sanity CMS</a:t>
            </a:r>
            <a:endParaRPr lang="en-US" sz="1100" dirty="0"/>
          </a:p>
        </p:txBody>
      </p:sp>
      <p:sp>
        <p:nvSpPr>
          <p:cNvPr id="18" name="Text 16"/>
          <p:cNvSpPr/>
          <p:nvPr/>
        </p:nvSpPr>
        <p:spPr>
          <a:xfrm>
            <a:off x="3749040" y="3200400"/>
            <a:ext cx="2286000" cy="41148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Free tier</a:t>
            </a:r>
            <a:endParaRPr lang="en-US" sz="1100" dirty="0"/>
          </a:p>
        </p:txBody>
      </p:sp>
      <p:sp>
        <p:nvSpPr>
          <p:cNvPr id="19" name="Text 17"/>
          <p:cNvSpPr/>
          <p:nvPr/>
        </p:nvSpPr>
        <p:spPr>
          <a:xfrm>
            <a:off x="6035040" y="3200400"/>
            <a:ext cx="1463040" cy="411480"/>
          </a:xfrm>
          <a:prstGeom prst="rect">
            <a:avLst/>
          </a:prstGeom>
          <a:noFill/>
          <a:ln/>
        </p:spPr>
        <p:txBody>
          <a:bodyPr wrap="square" lIns="0" tIns="0" rIns="0" bIns="0" rtlCol="0" anchor="ctr"/>
          <a:lstStyle/>
          <a:p>
            <a:pPr indent="0" marL="0">
              <a:buNone/>
            </a:pPr>
            <a:r>
              <a:rPr lang="en-US" sz="1100" b="1" dirty="0">
                <a:solidFill>
                  <a:srgbClr val="5A7E7A"/>
                </a:solidFill>
                <a:latin typeface="Calibri" pitchFamily="34" charset="0"/>
                <a:ea typeface="Calibri" pitchFamily="34" charset="-122"/>
                <a:cs typeface="Calibri" pitchFamily="34" charset="-120"/>
              </a:rPr>
              <a:t>0 kr.</a:t>
            </a:r>
            <a:endParaRPr lang="en-US" sz="1100" dirty="0"/>
          </a:p>
        </p:txBody>
      </p:sp>
      <p:sp>
        <p:nvSpPr>
          <p:cNvPr id="20" name="Text 18"/>
          <p:cNvSpPr/>
          <p:nvPr/>
        </p:nvSpPr>
        <p:spPr>
          <a:xfrm>
            <a:off x="7498080" y="3200400"/>
            <a:ext cx="5029200" cy="4114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3 brugere, 10k dokumenter</a:t>
            </a:r>
            <a:endParaRPr lang="en-US" sz="1000" dirty="0"/>
          </a:p>
        </p:txBody>
      </p:sp>
      <p:sp>
        <p:nvSpPr>
          <p:cNvPr id="21" name="Shape 19"/>
          <p:cNvSpPr/>
          <p:nvPr/>
        </p:nvSpPr>
        <p:spPr>
          <a:xfrm>
            <a:off x="640080" y="3611880"/>
            <a:ext cx="11091672" cy="411480"/>
          </a:xfrm>
          <a:prstGeom prst="rect">
            <a:avLst/>
          </a:prstGeom>
          <a:solidFill>
            <a:srgbClr val="FFFFFF"/>
          </a:solidFill>
          <a:ln w="3810">
            <a:solidFill>
              <a:srgbClr val="E2E8F0"/>
            </a:solidFill>
            <a:prstDash val="solid"/>
          </a:ln>
        </p:spPr>
      </p:sp>
      <p:sp>
        <p:nvSpPr>
          <p:cNvPr id="22" name="Text 20"/>
          <p:cNvSpPr/>
          <p:nvPr/>
        </p:nvSpPr>
        <p:spPr>
          <a:xfrm>
            <a:off x="1005840" y="3611880"/>
            <a:ext cx="2743200" cy="41148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Calendly</a:t>
            </a:r>
            <a:endParaRPr lang="en-US" sz="1100" dirty="0"/>
          </a:p>
        </p:txBody>
      </p:sp>
      <p:sp>
        <p:nvSpPr>
          <p:cNvPr id="23" name="Text 21"/>
          <p:cNvSpPr/>
          <p:nvPr/>
        </p:nvSpPr>
        <p:spPr>
          <a:xfrm>
            <a:off x="3749040" y="3611880"/>
            <a:ext cx="2286000" cy="41148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Standard plan</a:t>
            </a:r>
            <a:endParaRPr lang="en-US" sz="1100" dirty="0"/>
          </a:p>
        </p:txBody>
      </p:sp>
      <p:sp>
        <p:nvSpPr>
          <p:cNvPr id="24" name="Text 22"/>
          <p:cNvSpPr/>
          <p:nvPr/>
        </p:nvSpPr>
        <p:spPr>
          <a:xfrm>
            <a:off x="6035040" y="3611880"/>
            <a:ext cx="1463040" cy="411480"/>
          </a:xfrm>
          <a:prstGeom prst="rect">
            <a:avLst/>
          </a:prstGeom>
          <a:noFill/>
          <a:ln/>
        </p:spPr>
        <p:txBody>
          <a:bodyPr wrap="square" lIns="0" tIns="0" rIns="0" bIns="0" rtlCol="0" anchor="ctr"/>
          <a:lstStyle/>
          <a:p>
            <a:pPr indent="0" marL="0">
              <a:buNone/>
            </a:pPr>
            <a:r>
              <a:rPr lang="en-US" sz="1100" b="1" dirty="0">
                <a:solidFill>
                  <a:srgbClr val="5A7E7A"/>
                </a:solidFill>
                <a:latin typeface="Calibri" pitchFamily="34" charset="0"/>
                <a:ea typeface="Calibri" pitchFamily="34" charset="-122"/>
                <a:cs typeface="Calibri" pitchFamily="34" charset="-120"/>
              </a:rPr>
              <a:t>~75 kr.</a:t>
            </a:r>
            <a:endParaRPr lang="en-US" sz="1100" dirty="0"/>
          </a:p>
        </p:txBody>
      </p:sp>
      <p:sp>
        <p:nvSpPr>
          <p:cNvPr id="25" name="Text 23"/>
          <p:cNvSpPr/>
          <p:nvPr/>
        </p:nvSpPr>
        <p:spPr>
          <a:xfrm>
            <a:off x="7498080" y="3611880"/>
            <a:ext cx="5029200" cy="4114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Booking + automatisering — kan starte gratis</a:t>
            </a:r>
            <a:endParaRPr lang="en-US" sz="1000" dirty="0"/>
          </a:p>
        </p:txBody>
      </p:sp>
      <p:sp>
        <p:nvSpPr>
          <p:cNvPr id="26" name="Shape 24"/>
          <p:cNvSpPr/>
          <p:nvPr/>
        </p:nvSpPr>
        <p:spPr>
          <a:xfrm>
            <a:off x="640080" y="4023360"/>
            <a:ext cx="11091672" cy="411480"/>
          </a:xfrm>
          <a:prstGeom prst="rect">
            <a:avLst/>
          </a:prstGeom>
          <a:solidFill>
            <a:srgbClr val="F1F1EE"/>
          </a:solidFill>
          <a:ln w="3810">
            <a:solidFill>
              <a:srgbClr val="E2E8F0"/>
            </a:solidFill>
            <a:prstDash val="solid"/>
          </a:ln>
        </p:spPr>
      </p:sp>
      <p:sp>
        <p:nvSpPr>
          <p:cNvPr id="27" name="Text 25"/>
          <p:cNvSpPr/>
          <p:nvPr/>
        </p:nvSpPr>
        <p:spPr>
          <a:xfrm>
            <a:off x="1005840" y="4023360"/>
            <a:ext cx="2743200" cy="41148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Resend</a:t>
            </a:r>
            <a:endParaRPr lang="en-US" sz="1100" dirty="0"/>
          </a:p>
        </p:txBody>
      </p:sp>
      <p:sp>
        <p:nvSpPr>
          <p:cNvPr id="28" name="Text 26"/>
          <p:cNvSpPr/>
          <p:nvPr/>
        </p:nvSpPr>
        <p:spPr>
          <a:xfrm>
            <a:off x="3749040" y="4023360"/>
            <a:ext cx="2286000" cy="41148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Free tier</a:t>
            </a:r>
            <a:endParaRPr lang="en-US" sz="1100" dirty="0"/>
          </a:p>
        </p:txBody>
      </p:sp>
      <p:sp>
        <p:nvSpPr>
          <p:cNvPr id="29" name="Text 27"/>
          <p:cNvSpPr/>
          <p:nvPr/>
        </p:nvSpPr>
        <p:spPr>
          <a:xfrm>
            <a:off x="6035040" y="4023360"/>
            <a:ext cx="1463040" cy="411480"/>
          </a:xfrm>
          <a:prstGeom prst="rect">
            <a:avLst/>
          </a:prstGeom>
          <a:noFill/>
          <a:ln/>
        </p:spPr>
        <p:txBody>
          <a:bodyPr wrap="square" lIns="0" tIns="0" rIns="0" bIns="0" rtlCol="0" anchor="ctr"/>
          <a:lstStyle/>
          <a:p>
            <a:pPr indent="0" marL="0">
              <a:buNone/>
            </a:pPr>
            <a:r>
              <a:rPr lang="en-US" sz="1100" b="1" dirty="0">
                <a:solidFill>
                  <a:srgbClr val="5A7E7A"/>
                </a:solidFill>
                <a:latin typeface="Calibri" pitchFamily="34" charset="0"/>
                <a:ea typeface="Calibri" pitchFamily="34" charset="-122"/>
                <a:cs typeface="Calibri" pitchFamily="34" charset="-120"/>
              </a:rPr>
              <a:t>0 kr.</a:t>
            </a:r>
            <a:endParaRPr lang="en-US" sz="1100" dirty="0"/>
          </a:p>
        </p:txBody>
      </p:sp>
      <p:sp>
        <p:nvSpPr>
          <p:cNvPr id="30" name="Text 28"/>
          <p:cNvSpPr/>
          <p:nvPr/>
        </p:nvSpPr>
        <p:spPr>
          <a:xfrm>
            <a:off x="7498080" y="4023360"/>
            <a:ext cx="5029200" cy="4114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3.000 e-mails/md (rigeligt)</a:t>
            </a:r>
            <a:endParaRPr lang="en-US" sz="1000" dirty="0"/>
          </a:p>
        </p:txBody>
      </p:sp>
      <p:sp>
        <p:nvSpPr>
          <p:cNvPr id="31" name="Shape 29"/>
          <p:cNvSpPr/>
          <p:nvPr/>
        </p:nvSpPr>
        <p:spPr>
          <a:xfrm>
            <a:off x="640080" y="4434840"/>
            <a:ext cx="11091672" cy="411480"/>
          </a:xfrm>
          <a:prstGeom prst="rect">
            <a:avLst/>
          </a:prstGeom>
          <a:solidFill>
            <a:srgbClr val="FFFFFF"/>
          </a:solidFill>
          <a:ln w="3810">
            <a:solidFill>
              <a:srgbClr val="E2E8F0"/>
            </a:solidFill>
            <a:prstDash val="solid"/>
          </a:ln>
        </p:spPr>
      </p:sp>
      <p:sp>
        <p:nvSpPr>
          <p:cNvPr id="32" name="Text 30"/>
          <p:cNvSpPr/>
          <p:nvPr/>
        </p:nvSpPr>
        <p:spPr>
          <a:xfrm>
            <a:off x="1005840" y="4434840"/>
            <a:ext cx="2743200" cy="41148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Make.com</a:t>
            </a:r>
            <a:endParaRPr lang="en-US" sz="1100" dirty="0"/>
          </a:p>
        </p:txBody>
      </p:sp>
      <p:sp>
        <p:nvSpPr>
          <p:cNvPr id="33" name="Text 31"/>
          <p:cNvSpPr/>
          <p:nvPr/>
        </p:nvSpPr>
        <p:spPr>
          <a:xfrm>
            <a:off x="3749040" y="4434840"/>
            <a:ext cx="2286000" cy="41148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Free tier</a:t>
            </a:r>
            <a:endParaRPr lang="en-US" sz="1100" dirty="0"/>
          </a:p>
        </p:txBody>
      </p:sp>
      <p:sp>
        <p:nvSpPr>
          <p:cNvPr id="34" name="Text 32"/>
          <p:cNvSpPr/>
          <p:nvPr/>
        </p:nvSpPr>
        <p:spPr>
          <a:xfrm>
            <a:off x="6035040" y="4434840"/>
            <a:ext cx="1463040" cy="411480"/>
          </a:xfrm>
          <a:prstGeom prst="rect">
            <a:avLst/>
          </a:prstGeom>
          <a:noFill/>
          <a:ln/>
        </p:spPr>
        <p:txBody>
          <a:bodyPr wrap="square" lIns="0" tIns="0" rIns="0" bIns="0" rtlCol="0" anchor="ctr"/>
          <a:lstStyle/>
          <a:p>
            <a:pPr indent="0" marL="0">
              <a:buNone/>
            </a:pPr>
            <a:r>
              <a:rPr lang="en-US" sz="1100" b="1" dirty="0">
                <a:solidFill>
                  <a:srgbClr val="5A7E7A"/>
                </a:solidFill>
                <a:latin typeface="Calibri" pitchFamily="34" charset="0"/>
                <a:ea typeface="Calibri" pitchFamily="34" charset="-122"/>
                <a:cs typeface="Calibri" pitchFamily="34" charset="-120"/>
              </a:rPr>
              <a:t>0 kr.</a:t>
            </a:r>
            <a:endParaRPr lang="en-US" sz="1100" dirty="0"/>
          </a:p>
        </p:txBody>
      </p:sp>
      <p:sp>
        <p:nvSpPr>
          <p:cNvPr id="35" name="Text 33"/>
          <p:cNvSpPr/>
          <p:nvPr/>
        </p:nvSpPr>
        <p:spPr>
          <a:xfrm>
            <a:off x="7498080" y="4434840"/>
            <a:ext cx="5029200" cy="4114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1.000 operationer/md</a:t>
            </a:r>
            <a:endParaRPr lang="en-US" sz="1000" dirty="0"/>
          </a:p>
        </p:txBody>
      </p:sp>
      <p:sp>
        <p:nvSpPr>
          <p:cNvPr id="36" name="Shape 34"/>
          <p:cNvSpPr/>
          <p:nvPr/>
        </p:nvSpPr>
        <p:spPr>
          <a:xfrm>
            <a:off x="640080" y="4846320"/>
            <a:ext cx="11091672" cy="411480"/>
          </a:xfrm>
          <a:prstGeom prst="rect">
            <a:avLst/>
          </a:prstGeom>
          <a:solidFill>
            <a:srgbClr val="F1F1EE"/>
          </a:solidFill>
          <a:ln w="3810">
            <a:solidFill>
              <a:srgbClr val="E2E8F0"/>
            </a:solidFill>
            <a:prstDash val="solid"/>
          </a:ln>
        </p:spPr>
      </p:sp>
      <p:sp>
        <p:nvSpPr>
          <p:cNvPr id="37" name="Text 35"/>
          <p:cNvSpPr/>
          <p:nvPr/>
        </p:nvSpPr>
        <p:spPr>
          <a:xfrm>
            <a:off x="1005840" y="4846320"/>
            <a:ext cx="2743200" cy="41148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Airtable</a:t>
            </a:r>
            <a:endParaRPr lang="en-US" sz="1100" dirty="0"/>
          </a:p>
        </p:txBody>
      </p:sp>
      <p:sp>
        <p:nvSpPr>
          <p:cNvPr id="38" name="Text 36"/>
          <p:cNvSpPr/>
          <p:nvPr/>
        </p:nvSpPr>
        <p:spPr>
          <a:xfrm>
            <a:off x="3749040" y="4846320"/>
            <a:ext cx="2286000" cy="41148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Free / Team</a:t>
            </a:r>
            <a:endParaRPr lang="en-US" sz="1100" dirty="0"/>
          </a:p>
        </p:txBody>
      </p:sp>
      <p:sp>
        <p:nvSpPr>
          <p:cNvPr id="39" name="Text 37"/>
          <p:cNvSpPr/>
          <p:nvPr/>
        </p:nvSpPr>
        <p:spPr>
          <a:xfrm>
            <a:off x="6035040" y="4846320"/>
            <a:ext cx="1463040" cy="411480"/>
          </a:xfrm>
          <a:prstGeom prst="rect">
            <a:avLst/>
          </a:prstGeom>
          <a:noFill/>
          <a:ln/>
        </p:spPr>
        <p:txBody>
          <a:bodyPr wrap="square" lIns="0" tIns="0" rIns="0" bIns="0" rtlCol="0" anchor="ctr"/>
          <a:lstStyle/>
          <a:p>
            <a:pPr indent="0" marL="0">
              <a:buNone/>
            </a:pPr>
            <a:r>
              <a:rPr lang="en-US" sz="1100" b="1" dirty="0">
                <a:solidFill>
                  <a:srgbClr val="5A7E7A"/>
                </a:solidFill>
                <a:latin typeface="Calibri" pitchFamily="34" charset="0"/>
                <a:ea typeface="Calibri" pitchFamily="34" charset="-122"/>
                <a:cs typeface="Calibri" pitchFamily="34" charset="-120"/>
              </a:rPr>
              <a:t>0–140 kr.</a:t>
            </a:r>
            <a:endParaRPr lang="en-US" sz="1100" dirty="0"/>
          </a:p>
        </p:txBody>
      </p:sp>
      <p:sp>
        <p:nvSpPr>
          <p:cNvPr id="40" name="Text 38"/>
          <p:cNvSpPr/>
          <p:nvPr/>
        </p:nvSpPr>
        <p:spPr>
          <a:xfrm>
            <a:off x="7498080" y="4846320"/>
            <a:ext cx="5029200" cy="4114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Free dækker indtil 1.000 leads</a:t>
            </a:r>
            <a:endParaRPr lang="en-US" sz="1000" dirty="0"/>
          </a:p>
        </p:txBody>
      </p:sp>
      <p:sp>
        <p:nvSpPr>
          <p:cNvPr id="41" name="Shape 39"/>
          <p:cNvSpPr/>
          <p:nvPr/>
        </p:nvSpPr>
        <p:spPr>
          <a:xfrm>
            <a:off x="640080" y="5257800"/>
            <a:ext cx="11091672" cy="411480"/>
          </a:xfrm>
          <a:prstGeom prst="rect">
            <a:avLst/>
          </a:prstGeom>
          <a:solidFill>
            <a:srgbClr val="FFFFFF"/>
          </a:solidFill>
          <a:ln w="3810">
            <a:solidFill>
              <a:srgbClr val="E2E8F0"/>
            </a:solidFill>
            <a:prstDash val="solid"/>
          </a:ln>
        </p:spPr>
      </p:sp>
      <p:sp>
        <p:nvSpPr>
          <p:cNvPr id="42" name="Text 40"/>
          <p:cNvSpPr/>
          <p:nvPr/>
        </p:nvSpPr>
        <p:spPr>
          <a:xfrm>
            <a:off x="1005840" y="5257800"/>
            <a:ext cx="2743200" cy="41148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Google Workspace</a:t>
            </a:r>
            <a:endParaRPr lang="en-US" sz="1100" dirty="0"/>
          </a:p>
        </p:txBody>
      </p:sp>
      <p:sp>
        <p:nvSpPr>
          <p:cNvPr id="43" name="Text 41"/>
          <p:cNvSpPr/>
          <p:nvPr/>
        </p:nvSpPr>
        <p:spPr>
          <a:xfrm>
            <a:off x="3749040" y="5257800"/>
            <a:ext cx="2286000" cy="41148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Eksisterende</a:t>
            </a:r>
            <a:endParaRPr lang="en-US" sz="1100" dirty="0"/>
          </a:p>
        </p:txBody>
      </p:sp>
      <p:sp>
        <p:nvSpPr>
          <p:cNvPr id="44" name="Text 42"/>
          <p:cNvSpPr/>
          <p:nvPr/>
        </p:nvSpPr>
        <p:spPr>
          <a:xfrm>
            <a:off x="6035040" y="5257800"/>
            <a:ext cx="1463040" cy="411480"/>
          </a:xfrm>
          <a:prstGeom prst="rect">
            <a:avLst/>
          </a:prstGeom>
          <a:noFill/>
          <a:ln/>
        </p:spPr>
        <p:txBody>
          <a:bodyPr wrap="square" lIns="0" tIns="0" rIns="0" bIns="0" rtlCol="0" anchor="ctr"/>
          <a:lstStyle/>
          <a:p>
            <a:pPr indent="0" marL="0">
              <a:buNone/>
            </a:pPr>
            <a:r>
              <a:rPr lang="en-US" sz="1100" b="1" dirty="0">
                <a:solidFill>
                  <a:srgbClr val="5A7E7A"/>
                </a:solidFill>
                <a:latin typeface="Calibri" pitchFamily="34" charset="0"/>
                <a:ea typeface="Calibri" pitchFamily="34" charset="-122"/>
                <a:cs typeface="Calibri" pitchFamily="34" charset="-120"/>
              </a:rPr>
              <a:t>—</a:t>
            </a:r>
            <a:endParaRPr lang="en-US" sz="1100" dirty="0"/>
          </a:p>
        </p:txBody>
      </p:sp>
      <p:sp>
        <p:nvSpPr>
          <p:cNvPr id="45" name="Text 43"/>
          <p:cNvSpPr/>
          <p:nvPr/>
        </p:nvSpPr>
        <p:spPr>
          <a:xfrm>
            <a:off x="7498080" y="5257800"/>
            <a:ext cx="5029200" cy="4114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Forventes Adam allerede betaler for</a:t>
            </a:r>
            <a:endParaRPr lang="en-US" sz="1000" dirty="0"/>
          </a:p>
        </p:txBody>
      </p:sp>
      <p:sp>
        <p:nvSpPr>
          <p:cNvPr id="46" name="Shape 44"/>
          <p:cNvSpPr/>
          <p:nvPr/>
        </p:nvSpPr>
        <p:spPr>
          <a:xfrm>
            <a:off x="640080" y="5669280"/>
            <a:ext cx="11091672" cy="411480"/>
          </a:xfrm>
          <a:prstGeom prst="rect">
            <a:avLst/>
          </a:prstGeom>
          <a:solidFill>
            <a:srgbClr val="F1F1EE"/>
          </a:solidFill>
          <a:ln w="3810">
            <a:solidFill>
              <a:srgbClr val="E2E8F0"/>
            </a:solidFill>
            <a:prstDash val="solid"/>
          </a:ln>
        </p:spPr>
      </p:sp>
      <p:sp>
        <p:nvSpPr>
          <p:cNvPr id="47" name="Text 45"/>
          <p:cNvSpPr/>
          <p:nvPr/>
        </p:nvSpPr>
        <p:spPr>
          <a:xfrm>
            <a:off x="1005840" y="5669280"/>
            <a:ext cx="2743200" cy="41148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Domæne (One.com)</a:t>
            </a:r>
            <a:endParaRPr lang="en-US" sz="1100" dirty="0"/>
          </a:p>
        </p:txBody>
      </p:sp>
      <p:sp>
        <p:nvSpPr>
          <p:cNvPr id="48" name="Text 46"/>
          <p:cNvSpPr/>
          <p:nvPr/>
        </p:nvSpPr>
        <p:spPr>
          <a:xfrm>
            <a:off x="3749040" y="5669280"/>
            <a:ext cx="2286000" cy="41148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Eksisterende</a:t>
            </a:r>
            <a:endParaRPr lang="en-US" sz="1100" dirty="0"/>
          </a:p>
        </p:txBody>
      </p:sp>
      <p:sp>
        <p:nvSpPr>
          <p:cNvPr id="49" name="Text 47"/>
          <p:cNvSpPr/>
          <p:nvPr/>
        </p:nvSpPr>
        <p:spPr>
          <a:xfrm>
            <a:off x="6035040" y="5669280"/>
            <a:ext cx="1463040" cy="411480"/>
          </a:xfrm>
          <a:prstGeom prst="rect">
            <a:avLst/>
          </a:prstGeom>
          <a:noFill/>
          <a:ln/>
        </p:spPr>
        <p:txBody>
          <a:bodyPr wrap="square" lIns="0" tIns="0" rIns="0" bIns="0" rtlCol="0" anchor="ctr"/>
          <a:lstStyle/>
          <a:p>
            <a:pPr indent="0" marL="0">
              <a:buNone/>
            </a:pPr>
            <a:r>
              <a:rPr lang="en-US" sz="1100" b="1" dirty="0">
                <a:solidFill>
                  <a:srgbClr val="5A7E7A"/>
                </a:solidFill>
                <a:latin typeface="Calibri" pitchFamily="34" charset="0"/>
                <a:ea typeface="Calibri" pitchFamily="34" charset="-122"/>
                <a:cs typeface="Calibri" pitchFamily="34" charset="-120"/>
              </a:rPr>
              <a:t>—</a:t>
            </a:r>
            <a:endParaRPr lang="en-US" sz="1100" dirty="0"/>
          </a:p>
        </p:txBody>
      </p:sp>
      <p:sp>
        <p:nvSpPr>
          <p:cNvPr id="50" name="Text 48"/>
          <p:cNvSpPr/>
          <p:nvPr/>
        </p:nvSpPr>
        <p:spPr>
          <a:xfrm>
            <a:off x="7498080" y="5669280"/>
            <a:ext cx="5029200" cy="4114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Allerede betalt</a:t>
            </a:r>
            <a:endParaRPr lang="en-US" sz="1000" dirty="0"/>
          </a:p>
        </p:txBody>
      </p:sp>
      <p:sp>
        <p:nvSpPr>
          <p:cNvPr id="51" name="Shape 49"/>
          <p:cNvSpPr/>
          <p:nvPr/>
        </p:nvSpPr>
        <p:spPr>
          <a:xfrm>
            <a:off x="640080" y="6080760"/>
            <a:ext cx="11091672" cy="411480"/>
          </a:xfrm>
          <a:prstGeom prst="rect">
            <a:avLst/>
          </a:prstGeom>
          <a:solidFill>
            <a:srgbClr val="FFFFFF"/>
          </a:solidFill>
          <a:ln w="3810">
            <a:solidFill>
              <a:srgbClr val="E2E8F0"/>
            </a:solidFill>
            <a:prstDash val="solid"/>
          </a:ln>
        </p:spPr>
      </p:sp>
      <p:sp>
        <p:nvSpPr>
          <p:cNvPr id="52" name="Text 50"/>
          <p:cNvSpPr/>
          <p:nvPr/>
        </p:nvSpPr>
        <p:spPr>
          <a:xfrm>
            <a:off x="1005840" y="6080760"/>
            <a:ext cx="2743200" cy="411480"/>
          </a:xfrm>
          <a:prstGeom prst="rect">
            <a:avLst/>
          </a:prstGeom>
          <a:noFill/>
          <a:ln/>
        </p:spPr>
        <p:txBody>
          <a:bodyPr wrap="square" lIns="0" tIns="0" rIns="0" bIns="0" rtlCol="0" anchor="ctr"/>
          <a:lstStyle/>
          <a:p>
            <a:pPr indent="0" marL="0">
              <a:buNone/>
            </a:pPr>
            <a:r>
              <a:rPr lang="en-US" sz="1100" b="1" dirty="0">
                <a:solidFill>
                  <a:srgbClr val="1A202C"/>
                </a:solidFill>
                <a:latin typeface="Calibri" pitchFamily="34" charset="0"/>
                <a:ea typeface="Calibri" pitchFamily="34" charset="-122"/>
                <a:cs typeface="Calibri" pitchFamily="34" charset="-120"/>
              </a:rPr>
              <a:t>Google Analytics 4</a:t>
            </a:r>
            <a:endParaRPr lang="en-US" sz="1100" dirty="0"/>
          </a:p>
        </p:txBody>
      </p:sp>
      <p:sp>
        <p:nvSpPr>
          <p:cNvPr id="53" name="Text 51"/>
          <p:cNvSpPr/>
          <p:nvPr/>
        </p:nvSpPr>
        <p:spPr>
          <a:xfrm>
            <a:off x="3749040" y="6080760"/>
            <a:ext cx="2286000" cy="41148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Gratis</a:t>
            </a:r>
            <a:endParaRPr lang="en-US" sz="1100" dirty="0"/>
          </a:p>
        </p:txBody>
      </p:sp>
      <p:sp>
        <p:nvSpPr>
          <p:cNvPr id="54" name="Text 52"/>
          <p:cNvSpPr/>
          <p:nvPr/>
        </p:nvSpPr>
        <p:spPr>
          <a:xfrm>
            <a:off x="6035040" y="6080760"/>
            <a:ext cx="1463040" cy="411480"/>
          </a:xfrm>
          <a:prstGeom prst="rect">
            <a:avLst/>
          </a:prstGeom>
          <a:noFill/>
          <a:ln/>
        </p:spPr>
        <p:txBody>
          <a:bodyPr wrap="square" lIns="0" tIns="0" rIns="0" bIns="0" rtlCol="0" anchor="ctr"/>
          <a:lstStyle/>
          <a:p>
            <a:pPr indent="0" marL="0">
              <a:buNone/>
            </a:pPr>
            <a:r>
              <a:rPr lang="en-US" sz="1100" b="1" dirty="0">
                <a:solidFill>
                  <a:srgbClr val="5A7E7A"/>
                </a:solidFill>
                <a:latin typeface="Calibri" pitchFamily="34" charset="0"/>
                <a:ea typeface="Calibri" pitchFamily="34" charset="-122"/>
                <a:cs typeface="Calibri" pitchFamily="34" charset="-120"/>
              </a:rPr>
              <a:t>0 kr.</a:t>
            </a:r>
            <a:endParaRPr lang="en-US" sz="1100" dirty="0"/>
          </a:p>
        </p:txBody>
      </p:sp>
      <p:sp>
        <p:nvSpPr>
          <p:cNvPr id="55" name="Text 53"/>
          <p:cNvSpPr/>
          <p:nvPr/>
        </p:nvSpPr>
        <p:spPr>
          <a:xfrm>
            <a:off x="7498080" y="6080760"/>
            <a:ext cx="5029200" cy="4114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Standardregler</a:t>
            </a:r>
            <a:endParaRPr lang="en-US" sz="1000" dirty="0"/>
          </a:p>
        </p:txBody>
      </p:sp>
      <p:sp>
        <p:nvSpPr>
          <p:cNvPr id="56" name="Shape 54"/>
          <p:cNvSpPr/>
          <p:nvPr/>
        </p:nvSpPr>
        <p:spPr>
          <a:xfrm>
            <a:off x="640080" y="6629400"/>
            <a:ext cx="11091672" cy="640080"/>
          </a:xfrm>
          <a:prstGeom prst="rect">
            <a:avLst/>
          </a:prstGeom>
          <a:solidFill>
            <a:srgbClr val="7A9E9A"/>
          </a:solidFill>
          <a:ln/>
        </p:spPr>
      </p:sp>
      <p:sp>
        <p:nvSpPr>
          <p:cNvPr id="57" name="Text 55"/>
          <p:cNvSpPr/>
          <p:nvPr/>
        </p:nvSpPr>
        <p:spPr>
          <a:xfrm>
            <a:off x="1005840" y="6629400"/>
            <a:ext cx="4572000" cy="640080"/>
          </a:xfrm>
          <a:prstGeom prst="rect">
            <a:avLst/>
          </a:prstGeom>
          <a:noFill/>
          <a:ln/>
        </p:spPr>
        <p:txBody>
          <a:bodyPr wrap="square" lIns="0" tIns="0" rIns="0" bIns="0" rtlCol="0" anchor="ctr"/>
          <a:lstStyle/>
          <a:p>
            <a:pPr indent="0" marL="0">
              <a:buNone/>
            </a:pPr>
            <a:r>
              <a:rPr lang="en-US" sz="1400" b="1" i="1" dirty="0">
                <a:solidFill>
                  <a:srgbClr val="FFFFFF"/>
                </a:solidFill>
                <a:latin typeface="Georgia" pitchFamily="34" charset="0"/>
                <a:ea typeface="Georgia" pitchFamily="34" charset="-122"/>
                <a:cs typeface="Georgia" pitchFamily="34" charset="-120"/>
              </a:rPr>
              <a:t>Estimeret startbudget:</a:t>
            </a:r>
            <a:endParaRPr lang="en-US" sz="1400" dirty="0"/>
          </a:p>
        </p:txBody>
      </p:sp>
      <p:sp>
        <p:nvSpPr>
          <p:cNvPr id="58" name="Text 56"/>
          <p:cNvSpPr/>
          <p:nvPr/>
        </p:nvSpPr>
        <p:spPr>
          <a:xfrm>
            <a:off x="5669280" y="6629400"/>
            <a:ext cx="5943600" cy="640080"/>
          </a:xfrm>
          <a:prstGeom prst="rect">
            <a:avLst/>
          </a:prstGeom>
          <a:noFill/>
          <a:ln/>
        </p:spPr>
        <p:txBody>
          <a:bodyPr wrap="square" lIns="0" tIns="0" rIns="0" bIns="0" rtlCol="0" anchor="ctr"/>
          <a:lstStyle/>
          <a:p>
            <a:pPr algn="r" indent="0" marL="0">
              <a:buNone/>
            </a:pPr>
            <a:r>
              <a:rPr lang="en-US" sz="1600" b="1" dirty="0">
                <a:solidFill>
                  <a:srgbClr val="FFFFFF"/>
                </a:solidFill>
                <a:latin typeface="Georgia" pitchFamily="34" charset="0"/>
                <a:ea typeface="Georgia" pitchFamily="34" charset="-122"/>
                <a:cs typeface="Georgia" pitchFamily="34" charset="-120"/>
              </a:rPr>
              <a:t>0–215 kr./md (årligt: 0–2.580 kr.)</a:t>
            </a:r>
            <a:endParaRPr lang="en-US" sz="1600" dirty="0"/>
          </a:p>
        </p:txBody>
      </p:sp>
      <p:sp>
        <p:nvSpPr>
          <p:cNvPr id="59" name="Text 57"/>
          <p:cNvSpPr/>
          <p:nvPr/>
        </p:nvSpPr>
        <p:spPr>
          <a:xfrm>
            <a:off x="640080" y="7406640"/>
            <a:ext cx="11091672" cy="365760"/>
          </a:xfrm>
          <a:prstGeom prst="rect">
            <a:avLst/>
          </a:prstGeom>
          <a:noFill/>
          <a:ln/>
        </p:spPr>
        <p:txBody>
          <a:bodyPr wrap="square" lIns="0" tIns="0" rIns="0" bIns="0" rtlCol="0" anchor="ctr"/>
          <a:lstStyle/>
          <a:p>
            <a:pPr algn="ctr" indent="0" marL="0">
              <a:buNone/>
            </a:pPr>
            <a:r>
              <a:rPr lang="en-US" sz="1000" i="1" dirty="0">
                <a:solidFill>
                  <a:srgbClr val="718096"/>
                </a:solidFill>
                <a:latin typeface="Calibri" pitchFamily="34" charset="0"/>
                <a:ea typeface="Calibri" pitchFamily="34" charset="-122"/>
                <a:cs typeface="Calibri" pitchFamily="34" charset="-120"/>
              </a:rPr>
              <a:t>⚙️  Note: Alle services kan starte på gratis tier. Beløb stiger først når lead-volumen vokser betydeligt — en god type "problem" at have.</a:t>
            </a:r>
            <a:endParaRPr lang="en-US" sz="1000" dirty="0"/>
          </a:p>
        </p:txBody>
      </p:sp>
      <p:sp>
        <p:nvSpPr>
          <p:cNvPr id="60" name="Text 58"/>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61" name="Text 59"/>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02C"/>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A8C2BF"/>
                </a:solidFill>
                <a:latin typeface="Calibri" pitchFamily="34" charset="0"/>
                <a:ea typeface="Calibri" pitchFamily="34" charset="-122"/>
                <a:cs typeface="Calibri" pitchFamily="34" charset="-120"/>
              </a:rPr>
              <a:t>PROJEKTTIDSLINJE</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Fra opstart til go-live</a:t>
            </a:r>
            <a:endParaRPr lang="en-US" sz="3200" dirty="0"/>
          </a:p>
        </p:txBody>
      </p:sp>
      <p:sp>
        <p:nvSpPr>
          <p:cNvPr id="5" name="Text 3"/>
          <p:cNvSpPr/>
          <p:nvPr/>
        </p:nvSpPr>
        <p:spPr>
          <a:xfrm>
            <a:off x="640080" y="1645920"/>
            <a:ext cx="10972800" cy="365760"/>
          </a:xfrm>
          <a:prstGeom prst="rect">
            <a:avLst/>
          </a:prstGeom>
          <a:noFill/>
          <a:ln/>
        </p:spPr>
        <p:txBody>
          <a:bodyPr wrap="square" lIns="0" tIns="0" rIns="0" bIns="0" rtlCol="0" anchor="ctr"/>
          <a:lstStyle/>
          <a:p>
            <a:pPr indent="0" marL="0">
              <a:buNone/>
            </a:pPr>
            <a:r>
              <a:rPr lang="en-US" sz="1300" i="1" dirty="0">
                <a:solidFill>
                  <a:srgbClr val="A0AEC0"/>
                </a:solidFill>
                <a:latin typeface="Calibri" pitchFamily="34" charset="0"/>
                <a:ea typeface="Calibri" pitchFamily="34" charset="-122"/>
                <a:cs typeface="Calibri" pitchFamily="34" charset="-120"/>
              </a:rPr>
              <a:t>Indikativ tidslinje. Faser kan overlappe, og deploys sker løbende til staging-URL.</a:t>
            </a:r>
            <a:endParaRPr lang="en-US" sz="1300" dirty="0"/>
          </a:p>
        </p:txBody>
      </p:sp>
      <p:sp>
        <p:nvSpPr>
          <p:cNvPr id="6" name="Shape 4"/>
          <p:cNvSpPr/>
          <p:nvPr/>
        </p:nvSpPr>
        <p:spPr>
          <a:xfrm>
            <a:off x="640080" y="2468880"/>
            <a:ext cx="2697480" cy="3200400"/>
          </a:xfrm>
          <a:prstGeom prst="rect">
            <a:avLst/>
          </a:prstGeom>
          <a:solidFill>
            <a:srgbClr val="2D3748"/>
          </a:solidFill>
          <a:ln w="8890">
            <a:solidFill>
              <a:srgbClr val="7A9E9A"/>
            </a:solidFill>
            <a:prstDash val="solid"/>
          </a:ln>
        </p:spPr>
      </p:sp>
      <p:sp>
        <p:nvSpPr>
          <p:cNvPr id="7" name="Text 5"/>
          <p:cNvSpPr/>
          <p:nvPr/>
        </p:nvSpPr>
        <p:spPr>
          <a:xfrm>
            <a:off x="822960" y="2651760"/>
            <a:ext cx="2331720" cy="914400"/>
          </a:xfrm>
          <a:prstGeom prst="rect">
            <a:avLst/>
          </a:prstGeom>
          <a:noFill/>
          <a:ln/>
        </p:spPr>
        <p:txBody>
          <a:bodyPr wrap="square" lIns="0" tIns="0" rIns="0" bIns="0" rtlCol="0" anchor="t"/>
          <a:lstStyle/>
          <a:p>
            <a:pPr algn="l" indent="0" marL="0">
              <a:buNone/>
            </a:pPr>
            <a:r>
              <a:rPr lang="en-US" sz="9000" b="1" i="1" dirty="0">
                <a:solidFill>
                  <a:srgbClr val="7A9E9A"/>
                </a:solidFill>
                <a:latin typeface="Georgia" pitchFamily="34" charset="0"/>
                <a:ea typeface="Georgia" pitchFamily="34" charset="-122"/>
                <a:cs typeface="Georgia" pitchFamily="34" charset="-120"/>
              </a:rPr>
              <a:t>1</a:t>
            </a:r>
            <a:endParaRPr lang="en-US" sz="9000" dirty="0"/>
          </a:p>
        </p:txBody>
      </p:sp>
      <p:sp>
        <p:nvSpPr>
          <p:cNvPr id="8" name="Text 6"/>
          <p:cNvSpPr/>
          <p:nvPr/>
        </p:nvSpPr>
        <p:spPr>
          <a:xfrm>
            <a:off x="914400" y="3749040"/>
            <a:ext cx="214884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Opsætning</a:t>
            </a:r>
            <a:endParaRPr lang="en-US" sz="1800" dirty="0"/>
          </a:p>
        </p:txBody>
      </p:sp>
      <p:sp>
        <p:nvSpPr>
          <p:cNvPr id="9" name="Shape 7"/>
          <p:cNvSpPr/>
          <p:nvPr/>
        </p:nvSpPr>
        <p:spPr>
          <a:xfrm>
            <a:off x="914400" y="4251960"/>
            <a:ext cx="1097280" cy="292608"/>
          </a:xfrm>
          <a:prstGeom prst="rect">
            <a:avLst/>
          </a:prstGeom>
          <a:solidFill>
            <a:srgbClr val="5A7E7A"/>
          </a:solidFill>
          <a:ln/>
        </p:spPr>
      </p:sp>
      <p:sp>
        <p:nvSpPr>
          <p:cNvPr id="10" name="Text 8"/>
          <p:cNvSpPr/>
          <p:nvPr/>
        </p:nvSpPr>
        <p:spPr>
          <a:xfrm>
            <a:off x="914400" y="4251960"/>
            <a:ext cx="109728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Uge 1</a:t>
            </a:r>
            <a:endParaRPr lang="en-US" sz="1000" dirty="0"/>
          </a:p>
        </p:txBody>
      </p:sp>
      <p:sp>
        <p:nvSpPr>
          <p:cNvPr id="11" name="Text 9"/>
          <p:cNvSpPr/>
          <p:nvPr/>
        </p:nvSpPr>
        <p:spPr>
          <a:xfrm>
            <a:off x="914400" y="4709160"/>
            <a:ext cx="2148840" cy="868680"/>
          </a:xfrm>
          <a:prstGeom prst="rect">
            <a:avLst/>
          </a:prstGeom>
          <a:noFill/>
          <a:ln/>
        </p:spPr>
        <p:txBody>
          <a:bodyPr wrap="square" lIns="0" tIns="0" rIns="0" bIns="0" rtlCol="0" anchor="t"/>
          <a:lstStyle/>
          <a:p>
            <a:pPr indent="0" marL="0">
              <a:buNone/>
            </a:pPr>
            <a:r>
              <a:rPr lang="en-US" sz="1100" dirty="0">
                <a:solidFill>
                  <a:srgbClr val="A8C2BF"/>
                </a:solidFill>
                <a:latin typeface="Calibri" pitchFamily="34" charset="0"/>
                <a:ea typeface="Calibri" pitchFamily="34" charset="-122"/>
                <a:cs typeface="Calibri" pitchFamily="34" charset="-120"/>
              </a:rPr>
              <a:t>Konti, repo, design-tokens, Sanity-skemaer</a:t>
            </a:r>
            <a:endParaRPr lang="en-US" sz="1100" dirty="0"/>
          </a:p>
        </p:txBody>
      </p:sp>
      <p:sp>
        <p:nvSpPr>
          <p:cNvPr id="12" name="Shape 10"/>
          <p:cNvSpPr/>
          <p:nvPr/>
        </p:nvSpPr>
        <p:spPr>
          <a:xfrm>
            <a:off x="3474720" y="2468880"/>
            <a:ext cx="2697480" cy="3200400"/>
          </a:xfrm>
          <a:prstGeom prst="rect">
            <a:avLst/>
          </a:prstGeom>
          <a:solidFill>
            <a:srgbClr val="2D3748"/>
          </a:solidFill>
          <a:ln w="8890">
            <a:solidFill>
              <a:srgbClr val="7A9E9A"/>
            </a:solidFill>
            <a:prstDash val="solid"/>
          </a:ln>
        </p:spPr>
      </p:sp>
      <p:sp>
        <p:nvSpPr>
          <p:cNvPr id="13" name="Text 11"/>
          <p:cNvSpPr/>
          <p:nvPr/>
        </p:nvSpPr>
        <p:spPr>
          <a:xfrm>
            <a:off x="3657600" y="2651760"/>
            <a:ext cx="2331720" cy="914400"/>
          </a:xfrm>
          <a:prstGeom prst="rect">
            <a:avLst/>
          </a:prstGeom>
          <a:noFill/>
          <a:ln/>
        </p:spPr>
        <p:txBody>
          <a:bodyPr wrap="square" lIns="0" tIns="0" rIns="0" bIns="0" rtlCol="0" anchor="t"/>
          <a:lstStyle/>
          <a:p>
            <a:pPr algn="l" indent="0" marL="0">
              <a:buNone/>
            </a:pPr>
            <a:r>
              <a:rPr lang="en-US" sz="9000" b="1" i="1" dirty="0">
                <a:solidFill>
                  <a:srgbClr val="7A9E9A"/>
                </a:solidFill>
                <a:latin typeface="Georgia" pitchFamily="34" charset="0"/>
                <a:ea typeface="Georgia" pitchFamily="34" charset="-122"/>
                <a:cs typeface="Georgia" pitchFamily="34" charset="-120"/>
              </a:rPr>
              <a:t>2</a:t>
            </a:r>
            <a:endParaRPr lang="en-US" sz="9000" dirty="0"/>
          </a:p>
        </p:txBody>
      </p:sp>
      <p:sp>
        <p:nvSpPr>
          <p:cNvPr id="14" name="Text 12"/>
          <p:cNvSpPr/>
          <p:nvPr/>
        </p:nvSpPr>
        <p:spPr>
          <a:xfrm>
            <a:off x="3749040" y="3749040"/>
            <a:ext cx="214884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Kerneside</a:t>
            </a:r>
            <a:endParaRPr lang="en-US" sz="1800" dirty="0"/>
          </a:p>
        </p:txBody>
      </p:sp>
      <p:sp>
        <p:nvSpPr>
          <p:cNvPr id="15" name="Shape 13"/>
          <p:cNvSpPr/>
          <p:nvPr/>
        </p:nvSpPr>
        <p:spPr>
          <a:xfrm>
            <a:off x="3749040" y="4251960"/>
            <a:ext cx="1097280" cy="292608"/>
          </a:xfrm>
          <a:prstGeom prst="rect">
            <a:avLst/>
          </a:prstGeom>
          <a:solidFill>
            <a:srgbClr val="5A7E7A"/>
          </a:solidFill>
          <a:ln/>
        </p:spPr>
      </p:sp>
      <p:sp>
        <p:nvSpPr>
          <p:cNvPr id="16" name="Text 14"/>
          <p:cNvSpPr/>
          <p:nvPr/>
        </p:nvSpPr>
        <p:spPr>
          <a:xfrm>
            <a:off x="3749040" y="4251960"/>
            <a:ext cx="109728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Uge 2–3</a:t>
            </a:r>
            <a:endParaRPr lang="en-US" sz="1000" dirty="0"/>
          </a:p>
        </p:txBody>
      </p:sp>
      <p:sp>
        <p:nvSpPr>
          <p:cNvPr id="17" name="Text 15"/>
          <p:cNvSpPr/>
          <p:nvPr/>
        </p:nvSpPr>
        <p:spPr>
          <a:xfrm>
            <a:off x="3749040" y="4709160"/>
            <a:ext cx="2148840" cy="868680"/>
          </a:xfrm>
          <a:prstGeom prst="rect">
            <a:avLst/>
          </a:prstGeom>
          <a:noFill/>
          <a:ln/>
        </p:spPr>
        <p:txBody>
          <a:bodyPr wrap="square" lIns="0" tIns="0" rIns="0" bIns="0" rtlCol="0" anchor="t"/>
          <a:lstStyle/>
          <a:p>
            <a:pPr indent="0" marL="0">
              <a:buNone/>
            </a:pPr>
            <a:r>
              <a:rPr lang="en-US" sz="1100" dirty="0">
                <a:solidFill>
                  <a:srgbClr val="A8C2BF"/>
                </a:solidFill>
                <a:latin typeface="Calibri" pitchFamily="34" charset="0"/>
                <a:ea typeface="Calibri" pitchFamily="34" charset="-122"/>
                <a:cs typeface="Calibri" pitchFamily="34" charset="-120"/>
              </a:rPr>
              <a:t>Forside, projekter, om os, kontakt — alt CMS-drevet</a:t>
            </a:r>
            <a:endParaRPr lang="en-US" sz="1100" dirty="0"/>
          </a:p>
        </p:txBody>
      </p:sp>
      <p:sp>
        <p:nvSpPr>
          <p:cNvPr id="18" name="Shape 16"/>
          <p:cNvSpPr/>
          <p:nvPr/>
        </p:nvSpPr>
        <p:spPr>
          <a:xfrm>
            <a:off x="6309360" y="2468880"/>
            <a:ext cx="2697480" cy="3200400"/>
          </a:xfrm>
          <a:prstGeom prst="rect">
            <a:avLst/>
          </a:prstGeom>
          <a:solidFill>
            <a:srgbClr val="2D3748"/>
          </a:solidFill>
          <a:ln w="8890">
            <a:solidFill>
              <a:srgbClr val="7A9E9A"/>
            </a:solidFill>
            <a:prstDash val="solid"/>
          </a:ln>
        </p:spPr>
      </p:sp>
      <p:sp>
        <p:nvSpPr>
          <p:cNvPr id="19" name="Text 17"/>
          <p:cNvSpPr/>
          <p:nvPr/>
        </p:nvSpPr>
        <p:spPr>
          <a:xfrm>
            <a:off x="6492240" y="2651760"/>
            <a:ext cx="2331720" cy="914400"/>
          </a:xfrm>
          <a:prstGeom prst="rect">
            <a:avLst/>
          </a:prstGeom>
          <a:noFill/>
          <a:ln/>
        </p:spPr>
        <p:txBody>
          <a:bodyPr wrap="square" lIns="0" tIns="0" rIns="0" bIns="0" rtlCol="0" anchor="t"/>
          <a:lstStyle/>
          <a:p>
            <a:pPr algn="l" indent="0" marL="0">
              <a:buNone/>
            </a:pPr>
            <a:r>
              <a:rPr lang="en-US" sz="9000" b="1" i="1" dirty="0">
                <a:solidFill>
                  <a:srgbClr val="7A9E9A"/>
                </a:solidFill>
                <a:latin typeface="Georgia" pitchFamily="34" charset="0"/>
                <a:ea typeface="Georgia" pitchFamily="34" charset="-122"/>
                <a:cs typeface="Georgia" pitchFamily="34" charset="-120"/>
              </a:rPr>
              <a:t>3</a:t>
            </a:r>
            <a:endParaRPr lang="en-US" sz="9000" dirty="0"/>
          </a:p>
        </p:txBody>
      </p:sp>
      <p:sp>
        <p:nvSpPr>
          <p:cNvPr id="20" name="Text 18"/>
          <p:cNvSpPr/>
          <p:nvPr/>
        </p:nvSpPr>
        <p:spPr>
          <a:xfrm>
            <a:off x="6583680" y="3749040"/>
            <a:ext cx="214884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Cases + Booking</a:t>
            </a:r>
            <a:endParaRPr lang="en-US" sz="1800" dirty="0"/>
          </a:p>
        </p:txBody>
      </p:sp>
      <p:sp>
        <p:nvSpPr>
          <p:cNvPr id="21" name="Shape 19"/>
          <p:cNvSpPr/>
          <p:nvPr/>
        </p:nvSpPr>
        <p:spPr>
          <a:xfrm>
            <a:off x="6583680" y="4251960"/>
            <a:ext cx="1097280" cy="292608"/>
          </a:xfrm>
          <a:prstGeom prst="rect">
            <a:avLst/>
          </a:prstGeom>
          <a:solidFill>
            <a:srgbClr val="5A7E7A"/>
          </a:solidFill>
          <a:ln/>
        </p:spPr>
      </p:sp>
      <p:sp>
        <p:nvSpPr>
          <p:cNvPr id="22" name="Text 20"/>
          <p:cNvSpPr/>
          <p:nvPr/>
        </p:nvSpPr>
        <p:spPr>
          <a:xfrm>
            <a:off x="6583680" y="4251960"/>
            <a:ext cx="109728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Uge 4</a:t>
            </a:r>
            <a:endParaRPr lang="en-US" sz="1000" dirty="0"/>
          </a:p>
        </p:txBody>
      </p:sp>
      <p:sp>
        <p:nvSpPr>
          <p:cNvPr id="23" name="Text 21"/>
          <p:cNvSpPr/>
          <p:nvPr/>
        </p:nvSpPr>
        <p:spPr>
          <a:xfrm>
            <a:off x="6583680" y="4709160"/>
            <a:ext cx="2148840" cy="868680"/>
          </a:xfrm>
          <a:prstGeom prst="rect">
            <a:avLst/>
          </a:prstGeom>
          <a:noFill/>
          <a:ln/>
        </p:spPr>
        <p:txBody>
          <a:bodyPr wrap="square" lIns="0" tIns="0" rIns="0" bIns="0" rtlCol="0" anchor="t"/>
          <a:lstStyle/>
          <a:p>
            <a:pPr indent="0" marL="0">
              <a:buNone/>
            </a:pPr>
            <a:r>
              <a:rPr lang="en-US" sz="1100" dirty="0">
                <a:solidFill>
                  <a:srgbClr val="A8C2BF"/>
                </a:solidFill>
                <a:latin typeface="Calibri" pitchFamily="34" charset="0"/>
                <a:ea typeface="Calibri" pitchFamily="34" charset="-122"/>
                <a:cs typeface="Calibri" pitchFamily="34" charset="-120"/>
              </a:rPr>
              <a:t>7 case-sider, Calendly, Make.com-flows, Airtable</a:t>
            </a:r>
            <a:endParaRPr lang="en-US" sz="1100" dirty="0"/>
          </a:p>
        </p:txBody>
      </p:sp>
      <p:sp>
        <p:nvSpPr>
          <p:cNvPr id="24" name="Shape 22"/>
          <p:cNvSpPr/>
          <p:nvPr/>
        </p:nvSpPr>
        <p:spPr>
          <a:xfrm>
            <a:off x="9144000" y="2468880"/>
            <a:ext cx="2697480" cy="3200400"/>
          </a:xfrm>
          <a:prstGeom prst="rect">
            <a:avLst/>
          </a:prstGeom>
          <a:solidFill>
            <a:srgbClr val="2D3748"/>
          </a:solidFill>
          <a:ln w="8890">
            <a:solidFill>
              <a:srgbClr val="7A9E9A"/>
            </a:solidFill>
            <a:prstDash val="solid"/>
          </a:ln>
        </p:spPr>
      </p:sp>
      <p:sp>
        <p:nvSpPr>
          <p:cNvPr id="25" name="Text 23"/>
          <p:cNvSpPr/>
          <p:nvPr/>
        </p:nvSpPr>
        <p:spPr>
          <a:xfrm>
            <a:off x="9326880" y="2651760"/>
            <a:ext cx="2331720" cy="914400"/>
          </a:xfrm>
          <a:prstGeom prst="rect">
            <a:avLst/>
          </a:prstGeom>
          <a:noFill/>
          <a:ln/>
        </p:spPr>
        <p:txBody>
          <a:bodyPr wrap="square" lIns="0" tIns="0" rIns="0" bIns="0" rtlCol="0" anchor="t"/>
          <a:lstStyle/>
          <a:p>
            <a:pPr algn="l" indent="0" marL="0">
              <a:buNone/>
            </a:pPr>
            <a:r>
              <a:rPr lang="en-US" sz="9000" b="1" i="1" dirty="0">
                <a:solidFill>
                  <a:srgbClr val="7A9E9A"/>
                </a:solidFill>
                <a:latin typeface="Georgia" pitchFamily="34" charset="0"/>
                <a:ea typeface="Georgia" pitchFamily="34" charset="-122"/>
                <a:cs typeface="Georgia" pitchFamily="34" charset="-120"/>
              </a:rPr>
              <a:t>4</a:t>
            </a:r>
            <a:endParaRPr lang="en-US" sz="9000" dirty="0"/>
          </a:p>
        </p:txBody>
      </p:sp>
      <p:sp>
        <p:nvSpPr>
          <p:cNvPr id="26" name="Text 24"/>
          <p:cNvSpPr/>
          <p:nvPr/>
        </p:nvSpPr>
        <p:spPr>
          <a:xfrm>
            <a:off x="9418320" y="3749040"/>
            <a:ext cx="214884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Test + Lancering</a:t>
            </a:r>
            <a:endParaRPr lang="en-US" sz="1800" dirty="0"/>
          </a:p>
        </p:txBody>
      </p:sp>
      <p:sp>
        <p:nvSpPr>
          <p:cNvPr id="27" name="Shape 25"/>
          <p:cNvSpPr/>
          <p:nvPr/>
        </p:nvSpPr>
        <p:spPr>
          <a:xfrm>
            <a:off x="9418320" y="4251960"/>
            <a:ext cx="1097280" cy="292608"/>
          </a:xfrm>
          <a:prstGeom prst="rect">
            <a:avLst/>
          </a:prstGeom>
          <a:solidFill>
            <a:srgbClr val="5A7E7A"/>
          </a:solidFill>
          <a:ln/>
        </p:spPr>
      </p:sp>
      <p:sp>
        <p:nvSpPr>
          <p:cNvPr id="28" name="Text 26"/>
          <p:cNvSpPr/>
          <p:nvPr/>
        </p:nvSpPr>
        <p:spPr>
          <a:xfrm>
            <a:off x="9418320" y="4251960"/>
            <a:ext cx="1097280" cy="292608"/>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Uge 5</a:t>
            </a:r>
            <a:endParaRPr lang="en-US" sz="1000" dirty="0"/>
          </a:p>
        </p:txBody>
      </p:sp>
      <p:sp>
        <p:nvSpPr>
          <p:cNvPr id="29" name="Text 27"/>
          <p:cNvSpPr/>
          <p:nvPr/>
        </p:nvSpPr>
        <p:spPr>
          <a:xfrm>
            <a:off x="9418320" y="4709160"/>
            <a:ext cx="2148840" cy="868680"/>
          </a:xfrm>
          <a:prstGeom prst="rect">
            <a:avLst/>
          </a:prstGeom>
          <a:noFill/>
          <a:ln/>
        </p:spPr>
        <p:txBody>
          <a:bodyPr wrap="square" lIns="0" tIns="0" rIns="0" bIns="0" rtlCol="0" anchor="t"/>
          <a:lstStyle/>
          <a:p>
            <a:pPr indent="0" marL="0">
              <a:buNone/>
            </a:pPr>
            <a:r>
              <a:rPr lang="en-US" sz="1100" dirty="0">
                <a:solidFill>
                  <a:srgbClr val="A8C2BF"/>
                </a:solidFill>
                <a:latin typeface="Calibri" pitchFamily="34" charset="0"/>
                <a:ea typeface="Calibri" pitchFamily="34" charset="-122"/>
                <a:cs typeface="Calibri" pitchFamily="34" charset="-120"/>
              </a:rPr>
              <a:t>QA, performance, GDPR, DNS-skift, go-live</a:t>
            </a:r>
            <a:endParaRPr lang="en-US" sz="1100" dirty="0"/>
          </a:p>
        </p:txBody>
      </p:sp>
      <p:pic>
        <p:nvPicPr>
          <p:cNvPr id="30" name="Image 0" descr="preencoded.png">    </p:cNvPr>
          <p:cNvPicPr>
            <a:picLocks noChangeAspect="1"/>
          </p:cNvPicPr>
          <p:nvPr/>
        </p:nvPicPr>
        <p:blipFill>
          <a:blip r:embed="rId1"/>
          <a:stretch>
            <a:fillRect/>
          </a:stretch>
        </p:blipFill>
        <p:spPr>
          <a:xfrm>
            <a:off x="3291840" y="3931920"/>
            <a:ext cx="228600" cy="228600"/>
          </a:xfrm>
          <a:prstGeom prst="rect">
            <a:avLst/>
          </a:prstGeom>
        </p:spPr>
      </p:pic>
      <p:pic>
        <p:nvPicPr>
          <p:cNvPr id="31" name="Image 1" descr="preencoded.png">    </p:cNvPr>
          <p:cNvPicPr>
            <a:picLocks noChangeAspect="1"/>
          </p:cNvPicPr>
          <p:nvPr/>
        </p:nvPicPr>
        <p:blipFill>
          <a:blip r:embed="rId2"/>
          <a:stretch>
            <a:fillRect/>
          </a:stretch>
        </p:blipFill>
        <p:spPr>
          <a:xfrm>
            <a:off x="6126480" y="3931920"/>
            <a:ext cx="228600" cy="228600"/>
          </a:xfrm>
          <a:prstGeom prst="rect">
            <a:avLst/>
          </a:prstGeom>
        </p:spPr>
      </p:pic>
      <p:pic>
        <p:nvPicPr>
          <p:cNvPr id="32" name="Image 2" descr="preencoded.png">    </p:cNvPr>
          <p:cNvPicPr>
            <a:picLocks noChangeAspect="1"/>
          </p:cNvPicPr>
          <p:nvPr/>
        </p:nvPicPr>
        <p:blipFill>
          <a:blip r:embed="rId3"/>
          <a:stretch>
            <a:fillRect/>
          </a:stretch>
        </p:blipFill>
        <p:spPr>
          <a:xfrm>
            <a:off x="8961120" y="3931920"/>
            <a:ext cx="228600" cy="228600"/>
          </a:xfrm>
          <a:prstGeom prst="rect">
            <a:avLst/>
          </a:prstGeom>
        </p:spPr>
      </p:pic>
      <p:sp>
        <p:nvSpPr>
          <p:cNvPr id="33" name="Shape 28"/>
          <p:cNvSpPr/>
          <p:nvPr/>
        </p:nvSpPr>
        <p:spPr>
          <a:xfrm>
            <a:off x="640080" y="5943600"/>
            <a:ext cx="11091672" cy="594360"/>
          </a:xfrm>
          <a:prstGeom prst="rect">
            <a:avLst/>
          </a:prstGeom>
          <a:solidFill>
            <a:srgbClr val="7A9E9A"/>
          </a:solidFill>
          <a:ln/>
        </p:spPr>
      </p:sp>
      <p:pic>
        <p:nvPicPr>
          <p:cNvPr id="34" name="Image 3" descr="preencoded.png">    </p:cNvPr>
          <p:cNvPicPr>
            <a:picLocks noChangeAspect="1"/>
          </p:cNvPicPr>
          <p:nvPr/>
        </p:nvPicPr>
        <p:blipFill>
          <a:blip r:embed="rId4"/>
          <a:stretch>
            <a:fillRect/>
          </a:stretch>
        </p:blipFill>
        <p:spPr>
          <a:xfrm>
            <a:off x="868680" y="6089904"/>
            <a:ext cx="310896" cy="310896"/>
          </a:xfrm>
          <a:prstGeom prst="rect">
            <a:avLst/>
          </a:prstGeom>
        </p:spPr>
      </p:pic>
      <p:sp>
        <p:nvSpPr>
          <p:cNvPr id="35" name="Text 29"/>
          <p:cNvSpPr/>
          <p:nvPr/>
        </p:nvSpPr>
        <p:spPr>
          <a:xfrm>
            <a:off x="1325880" y="6035040"/>
            <a:ext cx="10058400" cy="457200"/>
          </a:xfrm>
          <a:prstGeom prst="rect">
            <a:avLst/>
          </a:prstGeom>
          <a:noFill/>
          <a:ln/>
        </p:spPr>
        <p:txBody>
          <a:bodyPr wrap="square" lIns="0" tIns="0" rIns="0" bIns="0" rtlCol="0" anchor="ctr"/>
          <a:lstStyle/>
          <a:p>
            <a:pPr indent="0" marL="0">
              <a:buNone/>
            </a:pPr>
            <a:r>
              <a:rPr lang="en-US" sz="1300" b="1" i="1" dirty="0">
                <a:solidFill>
                  <a:srgbClr val="FFFFFF"/>
                </a:solidFill>
                <a:latin typeface="Georgia" pitchFamily="34" charset="0"/>
                <a:ea typeface="Georgia" pitchFamily="34" charset="-122"/>
                <a:cs typeface="Georgia" pitchFamily="34" charset="-120"/>
              </a:rPr>
              <a:t>Go-live målsætning: ca. 4–5 uger fra opstart, afhængigt af adgang til konti og indholdsgodkendelse.</a:t>
            </a:r>
            <a:endParaRPr lang="en-US" sz="1300" dirty="0"/>
          </a:p>
        </p:txBody>
      </p:sp>
      <p:sp>
        <p:nvSpPr>
          <p:cNvPr id="36" name="Text 30"/>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A0AEC0"/>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37" name="Text 31"/>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A0AEC0"/>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40080" y="502920"/>
            <a:ext cx="320040" cy="36576"/>
          </a:xfrm>
          <a:prstGeom prst="rect">
            <a:avLst/>
          </a:prstGeom>
          <a:solidFill>
            <a:srgbClr val="7A9E9A"/>
          </a:solidFill>
          <a:ln/>
        </p:spPr>
      </p:sp>
      <p:sp>
        <p:nvSpPr>
          <p:cNvPr id="3" name="Text 1"/>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5A7E7A"/>
                </a:solidFill>
                <a:latin typeface="Calibri" pitchFamily="34" charset="0"/>
                <a:ea typeface="Calibri" pitchFamily="34" charset="-122"/>
                <a:cs typeface="Calibri" pitchFamily="34" charset="-120"/>
              </a:rPr>
              <a:t>RISICI · HÅNDTERING</a:t>
            </a:r>
            <a:endParaRPr lang="en-US" sz="1000" dirty="0"/>
          </a:p>
        </p:txBody>
      </p:sp>
      <p:sp>
        <p:nvSpPr>
          <p:cNvPr id="4" name="Text 2"/>
          <p:cNvSpPr/>
          <p:nvPr/>
        </p:nvSpPr>
        <p:spPr>
          <a:xfrm>
            <a:off x="640080" y="868680"/>
            <a:ext cx="10972800" cy="822960"/>
          </a:xfrm>
          <a:prstGeom prst="rect">
            <a:avLst/>
          </a:prstGeom>
          <a:noFill/>
          <a:ln/>
        </p:spPr>
        <p:txBody>
          <a:bodyPr wrap="square" lIns="0" tIns="0" rIns="0" bIns="0" rtlCol="0" anchor="ctr"/>
          <a:lstStyle/>
          <a:p>
            <a:pPr indent="0" marL="0">
              <a:buNone/>
            </a:pPr>
            <a:r>
              <a:rPr lang="en-US" sz="3000" b="1" dirty="0">
                <a:solidFill>
                  <a:srgbClr val="1A202C"/>
                </a:solidFill>
                <a:latin typeface="Georgia" pitchFamily="34" charset="0"/>
                <a:ea typeface="Georgia" pitchFamily="34" charset="-122"/>
                <a:cs typeface="Georgia" pitchFamily="34" charset="-120"/>
              </a:rPr>
              <a:t>Hvad kan gå galt — og hvordan vi forhindrer det</a:t>
            </a:r>
            <a:endParaRPr lang="en-US" sz="3000" dirty="0"/>
          </a:p>
        </p:txBody>
      </p:sp>
      <p:sp>
        <p:nvSpPr>
          <p:cNvPr id="5" name="Shape 3"/>
          <p:cNvSpPr/>
          <p:nvPr/>
        </p:nvSpPr>
        <p:spPr>
          <a:xfrm>
            <a:off x="640080" y="2103120"/>
            <a:ext cx="5486400" cy="137160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6" name="Shape 4"/>
          <p:cNvSpPr/>
          <p:nvPr/>
        </p:nvSpPr>
        <p:spPr>
          <a:xfrm>
            <a:off x="640080" y="2103120"/>
            <a:ext cx="73152" cy="1371600"/>
          </a:xfrm>
          <a:prstGeom prst="rect">
            <a:avLst/>
          </a:prstGeom>
          <a:solidFill>
            <a:srgbClr val="C76E5B"/>
          </a:solidFill>
          <a:ln/>
        </p:spPr>
      </p:sp>
      <p:sp>
        <p:nvSpPr>
          <p:cNvPr id="7" name="Text 5"/>
          <p:cNvSpPr/>
          <p:nvPr/>
        </p:nvSpPr>
        <p:spPr>
          <a:xfrm>
            <a:off x="914400" y="2267712"/>
            <a:ext cx="4937760" cy="274320"/>
          </a:xfrm>
          <a:prstGeom prst="rect">
            <a:avLst/>
          </a:prstGeom>
          <a:noFill/>
          <a:ln/>
        </p:spPr>
        <p:txBody>
          <a:bodyPr wrap="square" lIns="0" tIns="0" rIns="0" bIns="0" rtlCol="0" anchor="ctr"/>
          <a:lstStyle/>
          <a:p>
            <a:pPr indent="0" marL="0">
              <a:buNone/>
            </a:pPr>
            <a:r>
              <a:rPr lang="en-US" sz="900" b="1" spc="400" kern="0" dirty="0">
                <a:solidFill>
                  <a:srgbClr val="C76E5B"/>
                </a:solidFill>
                <a:latin typeface="Calibri" pitchFamily="34" charset="0"/>
                <a:ea typeface="Calibri" pitchFamily="34" charset="-122"/>
                <a:cs typeface="Calibri" pitchFamily="34" charset="-120"/>
              </a:rPr>
              <a:t>RISIKO:</a:t>
            </a:r>
            <a:endParaRPr lang="en-US" sz="900" dirty="0"/>
          </a:p>
        </p:txBody>
      </p:sp>
      <p:sp>
        <p:nvSpPr>
          <p:cNvPr id="8" name="Text 6"/>
          <p:cNvSpPr/>
          <p:nvPr/>
        </p:nvSpPr>
        <p:spPr>
          <a:xfrm>
            <a:off x="914400" y="2468880"/>
            <a:ext cx="4937760" cy="365760"/>
          </a:xfrm>
          <a:prstGeom prst="rect">
            <a:avLst/>
          </a:prstGeom>
          <a:noFill/>
          <a:ln/>
        </p:spPr>
        <p:txBody>
          <a:bodyPr wrap="square" lIns="0" tIns="0" rIns="0" bIns="0" rtlCol="0" anchor="ctr"/>
          <a:lstStyle/>
          <a:p>
            <a:pPr indent="0" marL="0">
              <a:buNone/>
            </a:pPr>
            <a:r>
              <a:rPr lang="en-US" sz="1300" b="1" dirty="0">
                <a:solidFill>
                  <a:srgbClr val="1A202C"/>
                </a:solidFill>
                <a:latin typeface="Georgia" pitchFamily="34" charset="0"/>
                <a:ea typeface="Georgia" pitchFamily="34" charset="-122"/>
                <a:cs typeface="Georgia" pitchFamily="34" charset="-120"/>
              </a:rPr>
              <a:t>DNS-skift går galt → site nede</a:t>
            </a:r>
            <a:endParaRPr lang="en-US" sz="1300" dirty="0"/>
          </a:p>
        </p:txBody>
      </p:sp>
      <p:sp>
        <p:nvSpPr>
          <p:cNvPr id="9" name="Shape 7"/>
          <p:cNvSpPr/>
          <p:nvPr/>
        </p:nvSpPr>
        <p:spPr>
          <a:xfrm>
            <a:off x="914400" y="2880360"/>
            <a:ext cx="4937760" cy="0"/>
          </a:xfrm>
          <a:prstGeom prst="line">
            <a:avLst/>
          </a:prstGeom>
          <a:noFill/>
          <a:ln w="6350">
            <a:solidFill>
              <a:srgbClr val="E2E8F0"/>
            </a:solidFill>
            <a:prstDash val="solid"/>
          </a:ln>
        </p:spPr>
      </p:sp>
      <p:sp>
        <p:nvSpPr>
          <p:cNvPr id="10" name="Text 8"/>
          <p:cNvSpPr/>
          <p:nvPr/>
        </p:nvSpPr>
        <p:spPr>
          <a:xfrm>
            <a:off x="914400" y="2944368"/>
            <a:ext cx="4937760" cy="228600"/>
          </a:xfrm>
          <a:prstGeom prst="rect">
            <a:avLst/>
          </a:prstGeom>
          <a:noFill/>
          <a:ln/>
        </p:spPr>
        <p:txBody>
          <a:bodyPr wrap="square" lIns="0" tIns="0" rIns="0" bIns="0" rtlCol="0" anchor="ctr"/>
          <a:lstStyle/>
          <a:p>
            <a:pPr indent="0" marL="0">
              <a:buNone/>
            </a:pPr>
            <a:r>
              <a:rPr lang="en-US" sz="900" b="1" spc="300" kern="0" dirty="0">
                <a:solidFill>
                  <a:srgbClr val="5A7E7A"/>
                </a:solidFill>
                <a:latin typeface="Calibri" pitchFamily="34" charset="0"/>
                <a:ea typeface="Calibri" pitchFamily="34" charset="-122"/>
                <a:cs typeface="Calibri" pitchFamily="34" charset="-120"/>
              </a:rPr>
              <a:t>Håndtering:</a:t>
            </a:r>
            <a:endParaRPr lang="en-US" sz="900" dirty="0"/>
          </a:p>
        </p:txBody>
      </p:sp>
      <p:sp>
        <p:nvSpPr>
          <p:cNvPr id="11" name="Text 9"/>
          <p:cNvSpPr/>
          <p:nvPr/>
        </p:nvSpPr>
        <p:spPr>
          <a:xfrm>
            <a:off x="914400" y="3136392"/>
            <a:ext cx="4937760" cy="320040"/>
          </a:xfrm>
          <a:prstGeom prst="rect">
            <a:avLst/>
          </a:prstGeom>
          <a:noFill/>
          <a:ln/>
        </p:spPr>
        <p:txBody>
          <a:bodyPr wrap="square" lIns="0" tIns="0" rIns="0" bIns="0" rtlCol="0" anchor="t"/>
          <a:lstStyle/>
          <a:p>
            <a:pPr indent="0" marL="0">
              <a:buNone/>
            </a:pPr>
            <a:r>
              <a:rPr lang="en-US" sz="1000" dirty="0">
                <a:solidFill>
                  <a:srgbClr val="718096"/>
                </a:solidFill>
                <a:latin typeface="Calibri" pitchFamily="34" charset="0"/>
                <a:ea typeface="Calibri" pitchFamily="34" charset="-122"/>
                <a:cs typeface="Calibri" pitchFamily="34" charset="-120"/>
              </a:rPr>
              <a:t>Staging-URL valideres 100% før DNS skiftes. Rollback inden for 5 minutter via One.com hvis nødvendigt.</a:t>
            </a:r>
            <a:endParaRPr lang="en-US" sz="1000" dirty="0"/>
          </a:p>
        </p:txBody>
      </p:sp>
      <p:sp>
        <p:nvSpPr>
          <p:cNvPr id="12" name="Shape 10"/>
          <p:cNvSpPr/>
          <p:nvPr/>
        </p:nvSpPr>
        <p:spPr>
          <a:xfrm>
            <a:off x="6245352" y="2103120"/>
            <a:ext cx="5486400" cy="137160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13" name="Shape 11"/>
          <p:cNvSpPr/>
          <p:nvPr/>
        </p:nvSpPr>
        <p:spPr>
          <a:xfrm>
            <a:off x="6245352" y="2103120"/>
            <a:ext cx="73152" cy="1371600"/>
          </a:xfrm>
          <a:prstGeom prst="rect">
            <a:avLst/>
          </a:prstGeom>
          <a:solidFill>
            <a:srgbClr val="C76E5B"/>
          </a:solidFill>
          <a:ln/>
        </p:spPr>
      </p:sp>
      <p:sp>
        <p:nvSpPr>
          <p:cNvPr id="14" name="Text 12"/>
          <p:cNvSpPr/>
          <p:nvPr/>
        </p:nvSpPr>
        <p:spPr>
          <a:xfrm>
            <a:off x="6519672" y="2267712"/>
            <a:ext cx="4937760" cy="274320"/>
          </a:xfrm>
          <a:prstGeom prst="rect">
            <a:avLst/>
          </a:prstGeom>
          <a:noFill/>
          <a:ln/>
        </p:spPr>
        <p:txBody>
          <a:bodyPr wrap="square" lIns="0" tIns="0" rIns="0" bIns="0" rtlCol="0" anchor="ctr"/>
          <a:lstStyle/>
          <a:p>
            <a:pPr indent="0" marL="0">
              <a:buNone/>
            </a:pPr>
            <a:r>
              <a:rPr lang="en-US" sz="900" b="1" spc="400" kern="0" dirty="0">
                <a:solidFill>
                  <a:srgbClr val="C76E5B"/>
                </a:solidFill>
                <a:latin typeface="Calibri" pitchFamily="34" charset="0"/>
                <a:ea typeface="Calibri" pitchFamily="34" charset="-122"/>
                <a:cs typeface="Calibri" pitchFamily="34" charset="-120"/>
              </a:rPr>
              <a:t>RISIKO:</a:t>
            </a:r>
            <a:endParaRPr lang="en-US" sz="900" dirty="0"/>
          </a:p>
        </p:txBody>
      </p:sp>
      <p:sp>
        <p:nvSpPr>
          <p:cNvPr id="15" name="Text 13"/>
          <p:cNvSpPr/>
          <p:nvPr/>
        </p:nvSpPr>
        <p:spPr>
          <a:xfrm>
            <a:off x="6519672" y="2468880"/>
            <a:ext cx="4937760" cy="365760"/>
          </a:xfrm>
          <a:prstGeom prst="rect">
            <a:avLst/>
          </a:prstGeom>
          <a:noFill/>
          <a:ln/>
        </p:spPr>
        <p:txBody>
          <a:bodyPr wrap="square" lIns="0" tIns="0" rIns="0" bIns="0" rtlCol="0" anchor="ctr"/>
          <a:lstStyle/>
          <a:p>
            <a:pPr indent="0" marL="0">
              <a:buNone/>
            </a:pPr>
            <a:r>
              <a:rPr lang="en-US" sz="1300" b="1" dirty="0">
                <a:solidFill>
                  <a:srgbClr val="1A202C"/>
                </a:solidFill>
                <a:latin typeface="Georgia" pitchFamily="34" charset="0"/>
                <a:ea typeface="Georgia" pitchFamily="34" charset="-122"/>
                <a:cs typeface="Georgia" pitchFamily="34" charset="-120"/>
              </a:rPr>
              <a:t>Mail-leverance ender i spam</a:t>
            </a:r>
            <a:endParaRPr lang="en-US" sz="1300" dirty="0"/>
          </a:p>
        </p:txBody>
      </p:sp>
      <p:sp>
        <p:nvSpPr>
          <p:cNvPr id="16" name="Shape 14"/>
          <p:cNvSpPr/>
          <p:nvPr/>
        </p:nvSpPr>
        <p:spPr>
          <a:xfrm>
            <a:off x="6519672" y="2880360"/>
            <a:ext cx="4937760" cy="0"/>
          </a:xfrm>
          <a:prstGeom prst="line">
            <a:avLst/>
          </a:prstGeom>
          <a:noFill/>
          <a:ln w="6350">
            <a:solidFill>
              <a:srgbClr val="E2E8F0"/>
            </a:solidFill>
            <a:prstDash val="solid"/>
          </a:ln>
        </p:spPr>
      </p:sp>
      <p:sp>
        <p:nvSpPr>
          <p:cNvPr id="17" name="Text 15"/>
          <p:cNvSpPr/>
          <p:nvPr/>
        </p:nvSpPr>
        <p:spPr>
          <a:xfrm>
            <a:off x="6519672" y="2944368"/>
            <a:ext cx="4937760" cy="228600"/>
          </a:xfrm>
          <a:prstGeom prst="rect">
            <a:avLst/>
          </a:prstGeom>
          <a:noFill/>
          <a:ln/>
        </p:spPr>
        <p:txBody>
          <a:bodyPr wrap="square" lIns="0" tIns="0" rIns="0" bIns="0" rtlCol="0" anchor="ctr"/>
          <a:lstStyle/>
          <a:p>
            <a:pPr indent="0" marL="0">
              <a:buNone/>
            </a:pPr>
            <a:r>
              <a:rPr lang="en-US" sz="900" b="1" spc="300" kern="0" dirty="0">
                <a:solidFill>
                  <a:srgbClr val="5A7E7A"/>
                </a:solidFill>
                <a:latin typeface="Calibri" pitchFamily="34" charset="0"/>
                <a:ea typeface="Calibri" pitchFamily="34" charset="-122"/>
                <a:cs typeface="Calibri" pitchFamily="34" charset="-120"/>
              </a:rPr>
              <a:t>Håndtering:</a:t>
            </a:r>
            <a:endParaRPr lang="en-US" sz="900" dirty="0"/>
          </a:p>
        </p:txBody>
      </p:sp>
      <p:sp>
        <p:nvSpPr>
          <p:cNvPr id="18" name="Text 16"/>
          <p:cNvSpPr/>
          <p:nvPr/>
        </p:nvSpPr>
        <p:spPr>
          <a:xfrm>
            <a:off x="6519672" y="3136392"/>
            <a:ext cx="4937760" cy="320040"/>
          </a:xfrm>
          <a:prstGeom prst="rect">
            <a:avLst/>
          </a:prstGeom>
          <a:noFill/>
          <a:ln/>
        </p:spPr>
        <p:txBody>
          <a:bodyPr wrap="square" lIns="0" tIns="0" rIns="0" bIns="0" rtlCol="0" anchor="t"/>
          <a:lstStyle/>
          <a:p>
            <a:pPr indent="0" marL="0">
              <a:buNone/>
            </a:pPr>
            <a:r>
              <a:rPr lang="en-US" sz="1000" dirty="0">
                <a:solidFill>
                  <a:srgbClr val="718096"/>
                </a:solidFill>
                <a:latin typeface="Calibri" pitchFamily="34" charset="0"/>
                <a:ea typeface="Calibri" pitchFamily="34" charset="-122"/>
                <a:cs typeface="Calibri" pitchFamily="34" charset="-120"/>
              </a:rPr>
              <a:t>SPF + DKIM + DMARC opsættes på malerfirmaetbach.dk fra dag 1. Resend giver bedst leverance på markedet.</a:t>
            </a:r>
            <a:endParaRPr lang="en-US" sz="1000" dirty="0"/>
          </a:p>
        </p:txBody>
      </p:sp>
      <p:sp>
        <p:nvSpPr>
          <p:cNvPr id="19" name="Shape 17"/>
          <p:cNvSpPr/>
          <p:nvPr/>
        </p:nvSpPr>
        <p:spPr>
          <a:xfrm>
            <a:off x="640080" y="3593592"/>
            <a:ext cx="5486400" cy="137160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20" name="Shape 18"/>
          <p:cNvSpPr/>
          <p:nvPr/>
        </p:nvSpPr>
        <p:spPr>
          <a:xfrm>
            <a:off x="640080" y="3593592"/>
            <a:ext cx="73152" cy="1371600"/>
          </a:xfrm>
          <a:prstGeom prst="rect">
            <a:avLst/>
          </a:prstGeom>
          <a:solidFill>
            <a:srgbClr val="C76E5B"/>
          </a:solidFill>
          <a:ln/>
        </p:spPr>
      </p:sp>
      <p:sp>
        <p:nvSpPr>
          <p:cNvPr id="21" name="Text 19"/>
          <p:cNvSpPr/>
          <p:nvPr/>
        </p:nvSpPr>
        <p:spPr>
          <a:xfrm>
            <a:off x="914400" y="3758184"/>
            <a:ext cx="4937760" cy="274320"/>
          </a:xfrm>
          <a:prstGeom prst="rect">
            <a:avLst/>
          </a:prstGeom>
          <a:noFill/>
          <a:ln/>
        </p:spPr>
        <p:txBody>
          <a:bodyPr wrap="square" lIns="0" tIns="0" rIns="0" bIns="0" rtlCol="0" anchor="ctr"/>
          <a:lstStyle/>
          <a:p>
            <a:pPr indent="0" marL="0">
              <a:buNone/>
            </a:pPr>
            <a:r>
              <a:rPr lang="en-US" sz="900" b="1" spc="400" kern="0" dirty="0">
                <a:solidFill>
                  <a:srgbClr val="C76E5B"/>
                </a:solidFill>
                <a:latin typeface="Calibri" pitchFamily="34" charset="0"/>
                <a:ea typeface="Calibri" pitchFamily="34" charset="-122"/>
                <a:cs typeface="Calibri" pitchFamily="34" charset="-120"/>
              </a:rPr>
              <a:t>RISIKO:</a:t>
            </a:r>
            <a:endParaRPr lang="en-US" sz="900" dirty="0"/>
          </a:p>
        </p:txBody>
      </p:sp>
      <p:sp>
        <p:nvSpPr>
          <p:cNvPr id="22" name="Text 20"/>
          <p:cNvSpPr/>
          <p:nvPr/>
        </p:nvSpPr>
        <p:spPr>
          <a:xfrm>
            <a:off x="914400" y="3959352"/>
            <a:ext cx="4937760" cy="365760"/>
          </a:xfrm>
          <a:prstGeom prst="rect">
            <a:avLst/>
          </a:prstGeom>
          <a:noFill/>
          <a:ln/>
        </p:spPr>
        <p:txBody>
          <a:bodyPr wrap="square" lIns="0" tIns="0" rIns="0" bIns="0" rtlCol="0" anchor="ctr"/>
          <a:lstStyle/>
          <a:p>
            <a:pPr indent="0" marL="0">
              <a:buNone/>
            </a:pPr>
            <a:r>
              <a:rPr lang="en-US" sz="1300" b="1" dirty="0">
                <a:solidFill>
                  <a:srgbClr val="1A202C"/>
                </a:solidFill>
                <a:latin typeface="Georgia" pitchFamily="34" charset="0"/>
                <a:ea typeface="Georgia" pitchFamily="34" charset="-122"/>
                <a:cs typeface="Georgia" pitchFamily="34" charset="-120"/>
              </a:rPr>
              <a:t>Make.com-flow fejler → leads tabes</a:t>
            </a:r>
            <a:endParaRPr lang="en-US" sz="1300" dirty="0"/>
          </a:p>
        </p:txBody>
      </p:sp>
      <p:sp>
        <p:nvSpPr>
          <p:cNvPr id="23" name="Shape 21"/>
          <p:cNvSpPr/>
          <p:nvPr/>
        </p:nvSpPr>
        <p:spPr>
          <a:xfrm>
            <a:off x="914400" y="4370832"/>
            <a:ext cx="4937760" cy="0"/>
          </a:xfrm>
          <a:prstGeom prst="line">
            <a:avLst/>
          </a:prstGeom>
          <a:noFill/>
          <a:ln w="6350">
            <a:solidFill>
              <a:srgbClr val="E2E8F0"/>
            </a:solidFill>
            <a:prstDash val="solid"/>
          </a:ln>
        </p:spPr>
      </p:sp>
      <p:sp>
        <p:nvSpPr>
          <p:cNvPr id="24" name="Text 22"/>
          <p:cNvSpPr/>
          <p:nvPr/>
        </p:nvSpPr>
        <p:spPr>
          <a:xfrm>
            <a:off x="914400" y="4434840"/>
            <a:ext cx="4937760" cy="228600"/>
          </a:xfrm>
          <a:prstGeom prst="rect">
            <a:avLst/>
          </a:prstGeom>
          <a:noFill/>
          <a:ln/>
        </p:spPr>
        <p:txBody>
          <a:bodyPr wrap="square" lIns="0" tIns="0" rIns="0" bIns="0" rtlCol="0" anchor="ctr"/>
          <a:lstStyle/>
          <a:p>
            <a:pPr indent="0" marL="0">
              <a:buNone/>
            </a:pPr>
            <a:r>
              <a:rPr lang="en-US" sz="900" b="1" spc="300" kern="0" dirty="0">
                <a:solidFill>
                  <a:srgbClr val="5A7E7A"/>
                </a:solidFill>
                <a:latin typeface="Calibri" pitchFamily="34" charset="0"/>
                <a:ea typeface="Calibri" pitchFamily="34" charset="-122"/>
                <a:cs typeface="Calibri" pitchFamily="34" charset="-120"/>
              </a:rPr>
              <a:t>Håndtering:</a:t>
            </a:r>
            <a:endParaRPr lang="en-US" sz="900" dirty="0"/>
          </a:p>
        </p:txBody>
      </p:sp>
      <p:sp>
        <p:nvSpPr>
          <p:cNvPr id="25" name="Text 23"/>
          <p:cNvSpPr/>
          <p:nvPr/>
        </p:nvSpPr>
        <p:spPr>
          <a:xfrm>
            <a:off x="914400" y="4626864"/>
            <a:ext cx="4937760" cy="320040"/>
          </a:xfrm>
          <a:prstGeom prst="rect">
            <a:avLst/>
          </a:prstGeom>
          <a:noFill/>
          <a:ln/>
        </p:spPr>
        <p:txBody>
          <a:bodyPr wrap="square" lIns="0" tIns="0" rIns="0" bIns="0" rtlCol="0" anchor="t"/>
          <a:lstStyle/>
          <a:p>
            <a:pPr indent="0" marL="0">
              <a:buNone/>
            </a:pPr>
            <a:r>
              <a:rPr lang="en-US" sz="1000" dirty="0">
                <a:solidFill>
                  <a:srgbClr val="718096"/>
                </a:solidFill>
                <a:latin typeface="Calibri" pitchFamily="34" charset="0"/>
                <a:ea typeface="Calibri" pitchFamily="34" charset="-122"/>
                <a:cs typeface="Calibri" pitchFamily="34" charset="-120"/>
              </a:rPr>
              <a:t>Backup-kopi af lead sendes direkte til Adams e-mail som sikkerhedsnet. Make.com fejlnotifikationer aktiveres.</a:t>
            </a:r>
            <a:endParaRPr lang="en-US" sz="1000" dirty="0"/>
          </a:p>
        </p:txBody>
      </p:sp>
      <p:sp>
        <p:nvSpPr>
          <p:cNvPr id="26" name="Shape 24"/>
          <p:cNvSpPr/>
          <p:nvPr/>
        </p:nvSpPr>
        <p:spPr>
          <a:xfrm>
            <a:off x="6245352" y="3593592"/>
            <a:ext cx="5486400" cy="137160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27" name="Shape 25"/>
          <p:cNvSpPr/>
          <p:nvPr/>
        </p:nvSpPr>
        <p:spPr>
          <a:xfrm>
            <a:off x="6245352" y="3593592"/>
            <a:ext cx="73152" cy="1371600"/>
          </a:xfrm>
          <a:prstGeom prst="rect">
            <a:avLst/>
          </a:prstGeom>
          <a:solidFill>
            <a:srgbClr val="C76E5B"/>
          </a:solidFill>
          <a:ln/>
        </p:spPr>
      </p:sp>
      <p:sp>
        <p:nvSpPr>
          <p:cNvPr id="28" name="Text 26"/>
          <p:cNvSpPr/>
          <p:nvPr/>
        </p:nvSpPr>
        <p:spPr>
          <a:xfrm>
            <a:off x="6519672" y="3758184"/>
            <a:ext cx="4937760" cy="274320"/>
          </a:xfrm>
          <a:prstGeom prst="rect">
            <a:avLst/>
          </a:prstGeom>
          <a:noFill/>
          <a:ln/>
        </p:spPr>
        <p:txBody>
          <a:bodyPr wrap="square" lIns="0" tIns="0" rIns="0" bIns="0" rtlCol="0" anchor="ctr"/>
          <a:lstStyle/>
          <a:p>
            <a:pPr indent="0" marL="0">
              <a:buNone/>
            </a:pPr>
            <a:r>
              <a:rPr lang="en-US" sz="900" b="1" spc="400" kern="0" dirty="0">
                <a:solidFill>
                  <a:srgbClr val="C76E5B"/>
                </a:solidFill>
                <a:latin typeface="Calibri" pitchFamily="34" charset="0"/>
                <a:ea typeface="Calibri" pitchFamily="34" charset="-122"/>
                <a:cs typeface="Calibri" pitchFamily="34" charset="-120"/>
              </a:rPr>
              <a:t>RISIKO:</a:t>
            </a:r>
            <a:endParaRPr lang="en-US" sz="900" dirty="0"/>
          </a:p>
        </p:txBody>
      </p:sp>
      <p:sp>
        <p:nvSpPr>
          <p:cNvPr id="29" name="Text 27"/>
          <p:cNvSpPr/>
          <p:nvPr/>
        </p:nvSpPr>
        <p:spPr>
          <a:xfrm>
            <a:off x="6519672" y="3959352"/>
            <a:ext cx="4937760" cy="365760"/>
          </a:xfrm>
          <a:prstGeom prst="rect">
            <a:avLst/>
          </a:prstGeom>
          <a:noFill/>
          <a:ln/>
        </p:spPr>
        <p:txBody>
          <a:bodyPr wrap="square" lIns="0" tIns="0" rIns="0" bIns="0" rtlCol="0" anchor="ctr"/>
          <a:lstStyle/>
          <a:p>
            <a:pPr indent="0" marL="0">
              <a:buNone/>
            </a:pPr>
            <a:r>
              <a:rPr lang="en-US" sz="1300" b="1" dirty="0">
                <a:solidFill>
                  <a:srgbClr val="1A202C"/>
                </a:solidFill>
                <a:latin typeface="Georgia" pitchFamily="34" charset="0"/>
                <a:ea typeface="Georgia" pitchFamily="34" charset="-122"/>
                <a:cs typeface="Georgia" pitchFamily="34" charset="-120"/>
              </a:rPr>
              <a:t>Adam glemmer Sanity-login</a:t>
            </a:r>
            <a:endParaRPr lang="en-US" sz="1300" dirty="0"/>
          </a:p>
        </p:txBody>
      </p:sp>
      <p:sp>
        <p:nvSpPr>
          <p:cNvPr id="30" name="Shape 28"/>
          <p:cNvSpPr/>
          <p:nvPr/>
        </p:nvSpPr>
        <p:spPr>
          <a:xfrm>
            <a:off x="6519672" y="4370832"/>
            <a:ext cx="4937760" cy="0"/>
          </a:xfrm>
          <a:prstGeom prst="line">
            <a:avLst/>
          </a:prstGeom>
          <a:noFill/>
          <a:ln w="6350">
            <a:solidFill>
              <a:srgbClr val="E2E8F0"/>
            </a:solidFill>
            <a:prstDash val="solid"/>
          </a:ln>
        </p:spPr>
      </p:sp>
      <p:sp>
        <p:nvSpPr>
          <p:cNvPr id="31" name="Text 29"/>
          <p:cNvSpPr/>
          <p:nvPr/>
        </p:nvSpPr>
        <p:spPr>
          <a:xfrm>
            <a:off x="6519672" y="4434840"/>
            <a:ext cx="4937760" cy="228600"/>
          </a:xfrm>
          <a:prstGeom prst="rect">
            <a:avLst/>
          </a:prstGeom>
          <a:noFill/>
          <a:ln/>
        </p:spPr>
        <p:txBody>
          <a:bodyPr wrap="square" lIns="0" tIns="0" rIns="0" bIns="0" rtlCol="0" anchor="ctr"/>
          <a:lstStyle/>
          <a:p>
            <a:pPr indent="0" marL="0">
              <a:buNone/>
            </a:pPr>
            <a:r>
              <a:rPr lang="en-US" sz="900" b="1" spc="300" kern="0" dirty="0">
                <a:solidFill>
                  <a:srgbClr val="5A7E7A"/>
                </a:solidFill>
                <a:latin typeface="Calibri" pitchFamily="34" charset="0"/>
                <a:ea typeface="Calibri" pitchFamily="34" charset="-122"/>
                <a:cs typeface="Calibri" pitchFamily="34" charset="-120"/>
              </a:rPr>
              <a:t>Håndtering:</a:t>
            </a:r>
            <a:endParaRPr lang="en-US" sz="900" dirty="0"/>
          </a:p>
        </p:txBody>
      </p:sp>
      <p:sp>
        <p:nvSpPr>
          <p:cNvPr id="32" name="Text 30"/>
          <p:cNvSpPr/>
          <p:nvPr/>
        </p:nvSpPr>
        <p:spPr>
          <a:xfrm>
            <a:off x="6519672" y="4626864"/>
            <a:ext cx="4937760" cy="320040"/>
          </a:xfrm>
          <a:prstGeom prst="rect">
            <a:avLst/>
          </a:prstGeom>
          <a:noFill/>
          <a:ln/>
        </p:spPr>
        <p:txBody>
          <a:bodyPr wrap="square" lIns="0" tIns="0" rIns="0" bIns="0" rtlCol="0" anchor="t"/>
          <a:lstStyle/>
          <a:p>
            <a:pPr indent="0" marL="0">
              <a:buNone/>
            </a:pPr>
            <a:r>
              <a:rPr lang="en-US" sz="1000" dirty="0">
                <a:solidFill>
                  <a:srgbClr val="718096"/>
                </a:solidFill>
                <a:latin typeface="Calibri" pitchFamily="34" charset="0"/>
                <a:ea typeface="Calibri" pitchFamily="34" charset="-122"/>
                <a:cs typeface="Calibri" pitchFamily="34" charset="-120"/>
              </a:rPr>
              <a:t>Login med Google-konto (Adams eksisterende). Skriftlig CMS-guide vedlagt som PDF + video.</a:t>
            </a:r>
            <a:endParaRPr lang="en-US" sz="1000" dirty="0"/>
          </a:p>
        </p:txBody>
      </p:sp>
      <p:sp>
        <p:nvSpPr>
          <p:cNvPr id="33" name="Shape 31"/>
          <p:cNvSpPr/>
          <p:nvPr/>
        </p:nvSpPr>
        <p:spPr>
          <a:xfrm>
            <a:off x="640080" y="5084064"/>
            <a:ext cx="5486400" cy="137160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34" name="Shape 32"/>
          <p:cNvSpPr/>
          <p:nvPr/>
        </p:nvSpPr>
        <p:spPr>
          <a:xfrm>
            <a:off x="640080" y="5084064"/>
            <a:ext cx="73152" cy="1371600"/>
          </a:xfrm>
          <a:prstGeom prst="rect">
            <a:avLst/>
          </a:prstGeom>
          <a:solidFill>
            <a:srgbClr val="C76E5B"/>
          </a:solidFill>
          <a:ln/>
        </p:spPr>
      </p:sp>
      <p:sp>
        <p:nvSpPr>
          <p:cNvPr id="35" name="Text 33"/>
          <p:cNvSpPr/>
          <p:nvPr/>
        </p:nvSpPr>
        <p:spPr>
          <a:xfrm>
            <a:off x="914400" y="5248656"/>
            <a:ext cx="4937760" cy="274320"/>
          </a:xfrm>
          <a:prstGeom prst="rect">
            <a:avLst/>
          </a:prstGeom>
          <a:noFill/>
          <a:ln/>
        </p:spPr>
        <p:txBody>
          <a:bodyPr wrap="square" lIns="0" tIns="0" rIns="0" bIns="0" rtlCol="0" anchor="ctr"/>
          <a:lstStyle/>
          <a:p>
            <a:pPr indent="0" marL="0">
              <a:buNone/>
            </a:pPr>
            <a:r>
              <a:rPr lang="en-US" sz="900" b="1" spc="400" kern="0" dirty="0">
                <a:solidFill>
                  <a:srgbClr val="C76E5B"/>
                </a:solidFill>
                <a:latin typeface="Calibri" pitchFamily="34" charset="0"/>
                <a:ea typeface="Calibri" pitchFamily="34" charset="-122"/>
                <a:cs typeface="Calibri" pitchFamily="34" charset="-120"/>
              </a:rPr>
              <a:t>RISIKO:</a:t>
            </a:r>
            <a:endParaRPr lang="en-US" sz="900" dirty="0"/>
          </a:p>
        </p:txBody>
      </p:sp>
      <p:sp>
        <p:nvSpPr>
          <p:cNvPr id="36" name="Text 34"/>
          <p:cNvSpPr/>
          <p:nvPr/>
        </p:nvSpPr>
        <p:spPr>
          <a:xfrm>
            <a:off x="914400" y="5449824"/>
            <a:ext cx="4937760" cy="365760"/>
          </a:xfrm>
          <a:prstGeom prst="rect">
            <a:avLst/>
          </a:prstGeom>
          <a:noFill/>
          <a:ln/>
        </p:spPr>
        <p:txBody>
          <a:bodyPr wrap="square" lIns="0" tIns="0" rIns="0" bIns="0" rtlCol="0" anchor="ctr"/>
          <a:lstStyle/>
          <a:p>
            <a:pPr indent="0" marL="0">
              <a:buNone/>
            </a:pPr>
            <a:r>
              <a:rPr lang="en-US" sz="1300" b="1" dirty="0">
                <a:solidFill>
                  <a:srgbClr val="1A202C"/>
                </a:solidFill>
                <a:latin typeface="Georgia" pitchFamily="34" charset="0"/>
                <a:ea typeface="Georgia" pitchFamily="34" charset="-122"/>
                <a:cs typeface="Georgia" pitchFamily="34" charset="-120"/>
              </a:rPr>
              <a:t>GDPR-klage fra besøgende</a:t>
            </a:r>
            <a:endParaRPr lang="en-US" sz="1300" dirty="0"/>
          </a:p>
        </p:txBody>
      </p:sp>
      <p:sp>
        <p:nvSpPr>
          <p:cNvPr id="37" name="Shape 35"/>
          <p:cNvSpPr/>
          <p:nvPr/>
        </p:nvSpPr>
        <p:spPr>
          <a:xfrm>
            <a:off x="914400" y="5861304"/>
            <a:ext cx="4937760" cy="0"/>
          </a:xfrm>
          <a:prstGeom prst="line">
            <a:avLst/>
          </a:prstGeom>
          <a:noFill/>
          <a:ln w="6350">
            <a:solidFill>
              <a:srgbClr val="E2E8F0"/>
            </a:solidFill>
            <a:prstDash val="solid"/>
          </a:ln>
        </p:spPr>
      </p:sp>
      <p:sp>
        <p:nvSpPr>
          <p:cNvPr id="38" name="Text 36"/>
          <p:cNvSpPr/>
          <p:nvPr/>
        </p:nvSpPr>
        <p:spPr>
          <a:xfrm>
            <a:off x="914400" y="5925312"/>
            <a:ext cx="4937760" cy="228600"/>
          </a:xfrm>
          <a:prstGeom prst="rect">
            <a:avLst/>
          </a:prstGeom>
          <a:noFill/>
          <a:ln/>
        </p:spPr>
        <p:txBody>
          <a:bodyPr wrap="square" lIns="0" tIns="0" rIns="0" bIns="0" rtlCol="0" anchor="ctr"/>
          <a:lstStyle/>
          <a:p>
            <a:pPr indent="0" marL="0">
              <a:buNone/>
            </a:pPr>
            <a:r>
              <a:rPr lang="en-US" sz="900" b="1" spc="300" kern="0" dirty="0">
                <a:solidFill>
                  <a:srgbClr val="5A7E7A"/>
                </a:solidFill>
                <a:latin typeface="Calibri" pitchFamily="34" charset="0"/>
                <a:ea typeface="Calibri" pitchFamily="34" charset="-122"/>
                <a:cs typeface="Calibri" pitchFamily="34" charset="-120"/>
              </a:rPr>
              <a:t>Håndtering:</a:t>
            </a:r>
            <a:endParaRPr lang="en-US" sz="900" dirty="0"/>
          </a:p>
        </p:txBody>
      </p:sp>
      <p:sp>
        <p:nvSpPr>
          <p:cNvPr id="39" name="Text 37"/>
          <p:cNvSpPr/>
          <p:nvPr/>
        </p:nvSpPr>
        <p:spPr>
          <a:xfrm>
            <a:off x="914400" y="6117336"/>
            <a:ext cx="4937760" cy="320040"/>
          </a:xfrm>
          <a:prstGeom prst="rect">
            <a:avLst/>
          </a:prstGeom>
          <a:noFill/>
          <a:ln/>
        </p:spPr>
        <p:txBody>
          <a:bodyPr wrap="square" lIns="0" tIns="0" rIns="0" bIns="0" rtlCol="0" anchor="t"/>
          <a:lstStyle/>
          <a:p>
            <a:pPr indent="0" marL="0">
              <a:buNone/>
            </a:pPr>
            <a:r>
              <a:rPr lang="en-US" sz="1000" dirty="0">
                <a:solidFill>
                  <a:srgbClr val="718096"/>
                </a:solidFill>
                <a:latin typeface="Calibri" pitchFamily="34" charset="0"/>
                <a:ea typeface="Calibri" pitchFamily="34" charset="-122"/>
                <a:cs typeface="Calibri" pitchFamily="34" charset="-120"/>
              </a:rPr>
              <a:t>Fuld cookie-samtykke før sporing. Privatlivspolitik tilpasset Datatilsynets vejledning. Ret til indsigt og sletning automatiseret.</a:t>
            </a:r>
            <a:endParaRPr lang="en-US" sz="1000" dirty="0"/>
          </a:p>
        </p:txBody>
      </p:sp>
      <p:sp>
        <p:nvSpPr>
          <p:cNvPr id="40" name="Shape 38"/>
          <p:cNvSpPr/>
          <p:nvPr/>
        </p:nvSpPr>
        <p:spPr>
          <a:xfrm>
            <a:off x="6245352" y="5084064"/>
            <a:ext cx="5486400" cy="1371600"/>
          </a:xfrm>
          <a:prstGeom prst="rect">
            <a:avLst/>
          </a:prstGeom>
          <a:solidFill>
            <a:srgbClr val="FFFFFF"/>
          </a:solidFill>
          <a:ln w="6350">
            <a:solidFill>
              <a:srgbClr val="E2E8F0"/>
            </a:solidFill>
            <a:prstDash val="solid"/>
          </a:ln>
          <a:effectLst>
            <a:outerShdw sx="100000" sy="100000" kx="0" ky="0" algn="bl" rotWithShape="0" blurRad="101600" dist="25400" dir="16200000">
              <a:srgbClr val="000000">
                <a:alpha val="10000"/>
              </a:srgbClr>
            </a:outerShdw>
          </a:effectLst>
        </p:spPr>
      </p:sp>
      <p:sp>
        <p:nvSpPr>
          <p:cNvPr id="41" name="Shape 39"/>
          <p:cNvSpPr/>
          <p:nvPr/>
        </p:nvSpPr>
        <p:spPr>
          <a:xfrm>
            <a:off x="6245352" y="5084064"/>
            <a:ext cx="73152" cy="1371600"/>
          </a:xfrm>
          <a:prstGeom prst="rect">
            <a:avLst/>
          </a:prstGeom>
          <a:solidFill>
            <a:srgbClr val="C76E5B"/>
          </a:solidFill>
          <a:ln/>
        </p:spPr>
      </p:sp>
      <p:sp>
        <p:nvSpPr>
          <p:cNvPr id="42" name="Text 40"/>
          <p:cNvSpPr/>
          <p:nvPr/>
        </p:nvSpPr>
        <p:spPr>
          <a:xfrm>
            <a:off x="6519672" y="5248656"/>
            <a:ext cx="4937760" cy="274320"/>
          </a:xfrm>
          <a:prstGeom prst="rect">
            <a:avLst/>
          </a:prstGeom>
          <a:noFill/>
          <a:ln/>
        </p:spPr>
        <p:txBody>
          <a:bodyPr wrap="square" lIns="0" tIns="0" rIns="0" bIns="0" rtlCol="0" anchor="ctr"/>
          <a:lstStyle/>
          <a:p>
            <a:pPr indent="0" marL="0">
              <a:buNone/>
            </a:pPr>
            <a:r>
              <a:rPr lang="en-US" sz="900" b="1" spc="400" kern="0" dirty="0">
                <a:solidFill>
                  <a:srgbClr val="C76E5B"/>
                </a:solidFill>
                <a:latin typeface="Calibri" pitchFamily="34" charset="0"/>
                <a:ea typeface="Calibri" pitchFamily="34" charset="-122"/>
                <a:cs typeface="Calibri" pitchFamily="34" charset="-120"/>
              </a:rPr>
              <a:t>RISIKO:</a:t>
            </a:r>
            <a:endParaRPr lang="en-US" sz="900" dirty="0"/>
          </a:p>
        </p:txBody>
      </p:sp>
      <p:sp>
        <p:nvSpPr>
          <p:cNvPr id="43" name="Text 41"/>
          <p:cNvSpPr/>
          <p:nvPr/>
        </p:nvSpPr>
        <p:spPr>
          <a:xfrm>
            <a:off x="6519672" y="5449824"/>
            <a:ext cx="4937760" cy="365760"/>
          </a:xfrm>
          <a:prstGeom prst="rect">
            <a:avLst/>
          </a:prstGeom>
          <a:noFill/>
          <a:ln/>
        </p:spPr>
        <p:txBody>
          <a:bodyPr wrap="square" lIns="0" tIns="0" rIns="0" bIns="0" rtlCol="0" anchor="ctr"/>
          <a:lstStyle/>
          <a:p>
            <a:pPr indent="0" marL="0">
              <a:buNone/>
            </a:pPr>
            <a:r>
              <a:rPr lang="en-US" sz="1300" b="1" dirty="0">
                <a:solidFill>
                  <a:srgbClr val="1A202C"/>
                </a:solidFill>
                <a:latin typeface="Georgia" pitchFamily="34" charset="0"/>
                <a:ea typeface="Georgia" pitchFamily="34" charset="-122"/>
                <a:cs typeface="Georgia" pitchFamily="34" charset="-120"/>
              </a:rPr>
              <a:t>Performance falder ved trafik-stigning</a:t>
            </a:r>
            <a:endParaRPr lang="en-US" sz="1300" dirty="0"/>
          </a:p>
        </p:txBody>
      </p:sp>
      <p:sp>
        <p:nvSpPr>
          <p:cNvPr id="44" name="Shape 42"/>
          <p:cNvSpPr/>
          <p:nvPr/>
        </p:nvSpPr>
        <p:spPr>
          <a:xfrm>
            <a:off x="6519672" y="5861304"/>
            <a:ext cx="4937760" cy="0"/>
          </a:xfrm>
          <a:prstGeom prst="line">
            <a:avLst/>
          </a:prstGeom>
          <a:noFill/>
          <a:ln w="6350">
            <a:solidFill>
              <a:srgbClr val="E2E8F0"/>
            </a:solidFill>
            <a:prstDash val="solid"/>
          </a:ln>
        </p:spPr>
      </p:sp>
      <p:sp>
        <p:nvSpPr>
          <p:cNvPr id="45" name="Text 43"/>
          <p:cNvSpPr/>
          <p:nvPr/>
        </p:nvSpPr>
        <p:spPr>
          <a:xfrm>
            <a:off x="6519672" y="5925312"/>
            <a:ext cx="4937760" cy="228600"/>
          </a:xfrm>
          <a:prstGeom prst="rect">
            <a:avLst/>
          </a:prstGeom>
          <a:noFill/>
          <a:ln/>
        </p:spPr>
        <p:txBody>
          <a:bodyPr wrap="square" lIns="0" tIns="0" rIns="0" bIns="0" rtlCol="0" anchor="ctr"/>
          <a:lstStyle/>
          <a:p>
            <a:pPr indent="0" marL="0">
              <a:buNone/>
            </a:pPr>
            <a:r>
              <a:rPr lang="en-US" sz="900" b="1" spc="300" kern="0" dirty="0">
                <a:solidFill>
                  <a:srgbClr val="5A7E7A"/>
                </a:solidFill>
                <a:latin typeface="Calibri" pitchFamily="34" charset="0"/>
                <a:ea typeface="Calibri" pitchFamily="34" charset="-122"/>
                <a:cs typeface="Calibri" pitchFamily="34" charset="-120"/>
              </a:rPr>
              <a:t>Håndtering:</a:t>
            </a:r>
            <a:endParaRPr lang="en-US" sz="900" dirty="0"/>
          </a:p>
        </p:txBody>
      </p:sp>
      <p:sp>
        <p:nvSpPr>
          <p:cNvPr id="46" name="Text 44"/>
          <p:cNvSpPr/>
          <p:nvPr/>
        </p:nvSpPr>
        <p:spPr>
          <a:xfrm>
            <a:off x="6519672" y="6117336"/>
            <a:ext cx="4937760" cy="320040"/>
          </a:xfrm>
          <a:prstGeom prst="rect">
            <a:avLst/>
          </a:prstGeom>
          <a:noFill/>
          <a:ln/>
        </p:spPr>
        <p:txBody>
          <a:bodyPr wrap="square" lIns="0" tIns="0" rIns="0" bIns="0" rtlCol="0" anchor="t"/>
          <a:lstStyle/>
          <a:p>
            <a:pPr indent="0" marL="0">
              <a:buNone/>
            </a:pPr>
            <a:r>
              <a:rPr lang="en-US" sz="1000" dirty="0">
                <a:solidFill>
                  <a:srgbClr val="718096"/>
                </a:solidFill>
                <a:latin typeface="Calibri" pitchFamily="34" charset="0"/>
                <a:ea typeface="Calibri" pitchFamily="34" charset="-122"/>
                <a:cs typeface="Calibri" pitchFamily="34" charset="-120"/>
              </a:rPr>
              <a:t>Vercel CDN skalerer automatisk. Gratis tier dækker ~100k besøg/md. Lighthouse 90+ verificeret før go-live.</a:t>
            </a:r>
            <a:endParaRPr lang="en-US" sz="1000" dirty="0"/>
          </a:p>
        </p:txBody>
      </p:sp>
      <p:sp>
        <p:nvSpPr>
          <p:cNvPr id="47" name="Text 45"/>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718096"/>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48" name="Text 46"/>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718096"/>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02C"/>
        </a:solidFill>
      </p:bgPr>
    </p:bg>
    <p:spTree>
      <p:nvGrpSpPr>
        <p:cNvPr id="1" name=""/>
        <p:cNvGrpSpPr/>
        <p:nvPr/>
      </p:nvGrpSpPr>
      <p:grpSpPr>
        <a:xfrm>
          <a:off x="0" y="0"/>
          <a:ext cx="0" cy="0"/>
          <a:chOff x="0" y="0"/>
          <a:chExt cx="0" cy="0"/>
        </a:xfrm>
      </p:grpSpPr>
      <p:pic>
        <p:nvPicPr>
          <p:cNvPr id="2" name="Image 0" descr="img2.jpg">    </p:cNvPr>
          <p:cNvPicPr>
            <a:picLocks noChangeAspect="1"/>
          </p:cNvPicPr>
          <p:nvPr/>
        </p:nvPicPr>
        <p:blipFill>
          <a:blip r:embed="rId1"/>
          <a:srcRect l="0" r="0" t="0" b="0"/>
          <a:stretch/>
        </p:blipFill>
        <p:spPr>
          <a:xfrm>
            <a:off x="6126480" y="0"/>
            <a:ext cx="6080760" cy="6858000"/>
          </a:xfrm>
          <a:prstGeom prst="rect">
            <a:avLst/>
          </a:prstGeom>
        </p:spPr>
      </p:pic>
      <p:sp>
        <p:nvSpPr>
          <p:cNvPr id="3" name="Shape 0"/>
          <p:cNvSpPr/>
          <p:nvPr/>
        </p:nvSpPr>
        <p:spPr>
          <a:xfrm>
            <a:off x="6126480" y="0"/>
            <a:ext cx="6080760" cy="6858000"/>
          </a:xfrm>
          <a:prstGeom prst="rect">
            <a:avLst/>
          </a:prstGeom>
          <a:solidFill>
            <a:srgbClr val="1A202C">
              <a:alpha val="50000"/>
            </a:srgbClr>
          </a:solidFill>
          <a:ln/>
        </p:spPr>
      </p:sp>
      <p:sp>
        <p:nvSpPr>
          <p:cNvPr id="4" name="Shape 1"/>
          <p:cNvSpPr/>
          <p:nvPr/>
        </p:nvSpPr>
        <p:spPr>
          <a:xfrm>
            <a:off x="640080" y="502920"/>
            <a:ext cx="320040" cy="36576"/>
          </a:xfrm>
          <a:prstGeom prst="rect">
            <a:avLst/>
          </a:prstGeom>
          <a:solidFill>
            <a:srgbClr val="7A9E9A"/>
          </a:solidFill>
          <a:ln/>
        </p:spPr>
      </p:sp>
      <p:sp>
        <p:nvSpPr>
          <p:cNvPr id="5" name="Text 2"/>
          <p:cNvSpPr/>
          <p:nvPr/>
        </p:nvSpPr>
        <p:spPr>
          <a:xfrm>
            <a:off x="1051560" y="365760"/>
            <a:ext cx="10058400" cy="274320"/>
          </a:xfrm>
          <a:prstGeom prst="rect">
            <a:avLst/>
          </a:prstGeom>
          <a:noFill/>
          <a:ln/>
        </p:spPr>
        <p:txBody>
          <a:bodyPr wrap="square" lIns="0" tIns="0" rIns="0" bIns="0" rtlCol="0" anchor="ctr"/>
          <a:lstStyle/>
          <a:p>
            <a:pPr indent="0" marL="0">
              <a:buNone/>
            </a:pPr>
            <a:r>
              <a:rPr lang="en-US" sz="1000" b="1" spc="600" kern="0" dirty="0">
                <a:solidFill>
                  <a:srgbClr val="A8C2BF"/>
                </a:solidFill>
                <a:latin typeface="Calibri" pitchFamily="34" charset="0"/>
                <a:ea typeface="Calibri" pitchFamily="34" charset="-122"/>
                <a:cs typeface="Calibri" pitchFamily="34" charset="-120"/>
              </a:rPr>
              <a:t>BESLUTNING</a:t>
            </a:r>
            <a:endParaRPr lang="en-US" sz="1000" dirty="0"/>
          </a:p>
        </p:txBody>
      </p:sp>
      <p:sp>
        <p:nvSpPr>
          <p:cNvPr id="6" name="Text 3"/>
          <p:cNvSpPr/>
          <p:nvPr/>
        </p:nvSpPr>
        <p:spPr>
          <a:xfrm>
            <a:off x="640080" y="868680"/>
            <a:ext cx="5486400" cy="82296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Næste skridt</a:t>
            </a:r>
            <a:endParaRPr lang="en-US" sz="4400" dirty="0"/>
          </a:p>
        </p:txBody>
      </p:sp>
      <p:sp>
        <p:nvSpPr>
          <p:cNvPr id="7" name="Text 4"/>
          <p:cNvSpPr/>
          <p:nvPr/>
        </p:nvSpPr>
        <p:spPr>
          <a:xfrm>
            <a:off x="640080" y="1691640"/>
            <a:ext cx="5486400" cy="365760"/>
          </a:xfrm>
          <a:prstGeom prst="rect">
            <a:avLst/>
          </a:prstGeom>
          <a:noFill/>
          <a:ln/>
        </p:spPr>
        <p:txBody>
          <a:bodyPr wrap="square" lIns="0" tIns="0" rIns="0" bIns="0" rtlCol="0" anchor="ctr"/>
          <a:lstStyle/>
          <a:p>
            <a:pPr indent="0" marL="0">
              <a:buNone/>
            </a:pPr>
            <a:r>
              <a:rPr lang="en-US" sz="1400" i="1" dirty="0">
                <a:solidFill>
                  <a:srgbClr val="A8C2BF"/>
                </a:solidFill>
                <a:latin typeface="Calibri" pitchFamily="34" charset="0"/>
                <a:ea typeface="Calibri" pitchFamily="34" charset="-122"/>
                <a:cs typeface="Calibri" pitchFamily="34" charset="-120"/>
              </a:rPr>
              <a:t>Fra godkendelse til lancering på 4–5 uger.</a:t>
            </a:r>
            <a:endParaRPr lang="en-US" sz="1400" dirty="0"/>
          </a:p>
        </p:txBody>
      </p:sp>
      <p:sp>
        <p:nvSpPr>
          <p:cNvPr id="8" name="Text 5"/>
          <p:cNvSpPr/>
          <p:nvPr/>
        </p:nvSpPr>
        <p:spPr>
          <a:xfrm>
            <a:off x="640080" y="2377440"/>
            <a:ext cx="822960" cy="640080"/>
          </a:xfrm>
          <a:prstGeom prst="rect">
            <a:avLst/>
          </a:prstGeom>
          <a:noFill/>
          <a:ln/>
        </p:spPr>
        <p:txBody>
          <a:bodyPr wrap="square" lIns="0" tIns="0" rIns="0" bIns="0" rtlCol="0" anchor="t"/>
          <a:lstStyle/>
          <a:p>
            <a:pPr indent="0" marL="0">
              <a:buNone/>
            </a:pPr>
            <a:r>
              <a:rPr lang="en-US" sz="3000" b="1" i="1" dirty="0">
                <a:solidFill>
                  <a:srgbClr val="7A9E9A"/>
                </a:solidFill>
                <a:latin typeface="Georgia" pitchFamily="34" charset="0"/>
                <a:ea typeface="Georgia" pitchFamily="34" charset="-122"/>
                <a:cs typeface="Georgia" pitchFamily="34" charset="-120"/>
              </a:rPr>
              <a:t>01</a:t>
            </a:r>
            <a:endParaRPr lang="en-US" sz="3000" dirty="0"/>
          </a:p>
        </p:txBody>
      </p:sp>
      <p:sp>
        <p:nvSpPr>
          <p:cNvPr id="9" name="Text 6"/>
          <p:cNvSpPr/>
          <p:nvPr/>
        </p:nvSpPr>
        <p:spPr>
          <a:xfrm>
            <a:off x="1554480" y="2377440"/>
            <a:ext cx="429768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Shareholder-godkendelse</a:t>
            </a:r>
            <a:endParaRPr lang="en-US" sz="1400" dirty="0"/>
          </a:p>
        </p:txBody>
      </p:sp>
      <p:sp>
        <p:nvSpPr>
          <p:cNvPr id="10" name="Text 7"/>
          <p:cNvSpPr/>
          <p:nvPr/>
        </p:nvSpPr>
        <p:spPr>
          <a:xfrm>
            <a:off x="1554480" y="2697480"/>
            <a:ext cx="4297680" cy="365760"/>
          </a:xfrm>
          <a:prstGeom prst="rect">
            <a:avLst/>
          </a:prstGeom>
          <a:noFill/>
          <a:ln/>
        </p:spPr>
        <p:txBody>
          <a:bodyPr wrap="square" lIns="0" tIns="0" rIns="0" bIns="0" rtlCol="0" anchor="t"/>
          <a:lstStyle/>
          <a:p>
            <a:pPr indent="0" marL="0">
              <a:buNone/>
            </a:pPr>
            <a:r>
              <a:rPr lang="en-US" sz="1050" dirty="0">
                <a:solidFill>
                  <a:srgbClr val="A8C2BF"/>
                </a:solidFill>
                <a:latin typeface="Calibri" pitchFamily="34" charset="0"/>
                <a:ea typeface="Calibri" pitchFamily="34" charset="-122"/>
                <a:cs typeface="Calibri" pitchFamily="34" charset="-120"/>
              </a:rPr>
              <a:t>Af stack, omkostninger og tidslinje</a:t>
            </a:r>
            <a:endParaRPr lang="en-US" sz="1050" dirty="0"/>
          </a:p>
        </p:txBody>
      </p:sp>
      <p:sp>
        <p:nvSpPr>
          <p:cNvPr id="11" name="Text 8"/>
          <p:cNvSpPr/>
          <p:nvPr/>
        </p:nvSpPr>
        <p:spPr>
          <a:xfrm>
            <a:off x="640080" y="3154680"/>
            <a:ext cx="822960" cy="640080"/>
          </a:xfrm>
          <a:prstGeom prst="rect">
            <a:avLst/>
          </a:prstGeom>
          <a:noFill/>
          <a:ln/>
        </p:spPr>
        <p:txBody>
          <a:bodyPr wrap="square" lIns="0" tIns="0" rIns="0" bIns="0" rtlCol="0" anchor="t"/>
          <a:lstStyle/>
          <a:p>
            <a:pPr indent="0" marL="0">
              <a:buNone/>
            </a:pPr>
            <a:r>
              <a:rPr lang="en-US" sz="3000" b="1" i="1" dirty="0">
                <a:solidFill>
                  <a:srgbClr val="7A9E9A"/>
                </a:solidFill>
                <a:latin typeface="Georgia" pitchFamily="34" charset="0"/>
                <a:ea typeface="Georgia" pitchFamily="34" charset="-122"/>
                <a:cs typeface="Georgia" pitchFamily="34" charset="-120"/>
              </a:rPr>
              <a:t>02</a:t>
            </a:r>
            <a:endParaRPr lang="en-US" sz="3000" dirty="0"/>
          </a:p>
        </p:txBody>
      </p:sp>
      <p:sp>
        <p:nvSpPr>
          <p:cNvPr id="12" name="Text 9"/>
          <p:cNvSpPr/>
          <p:nvPr/>
        </p:nvSpPr>
        <p:spPr>
          <a:xfrm>
            <a:off x="1554480" y="3154680"/>
            <a:ext cx="429768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Adgangsnøgler</a:t>
            </a:r>
            <a:endParaRPr lang="en-US" sz="1400" dirty="0"/>
          </a:p>
        </p:txBody>
      </p:sp>
      <p:sp>
        <p:nvSpPr>
          <p:cNvPr id="13" name="Text 10"/>
          <p:cNvSpPr/>
          <p:nvPr/>
        </p:nvSpPr>
        <p:spPr>
          <a:xfrm>
            <a:off x="1554480" y="3474720"/>
            <a:ext cx="4297680" cy="365760"/>
          </a:xfrm>
          <a:prstGeom prst="rect">
            <a:avLst/>
          </a:prstGeom>
          <a:noFill/>
          <a:ln/>
        </p:spPr>
        <p:txBody>
          <a:bodyPr wrap="square" lIns="0" tIns="0" rIns="0" bIns="0" rtlCol="0" anchor="t"/>
          <a:lstStyle/>
          <a:p>
            <a:pPr indent="0" marL="0">
              <a:buNone/>
            </a:pPr>
            <a:r>
              <a:rPr lang="en-US" sz="1050" dirty="0">
                <a:solidFill>
                  <a:srgbClr val="A8C2BF"/>
                </a:solidFill>
                <a:latin typeface="Calibri" pitchFamily="34" charset="0"/>
                <a:ea typeface="Calibri" pitchFamily="34" charset="-122"/>
                <a:cs typeface="Calibri" pitchFamily="34" charset="-120"/>
              </a:rPr>
              <a:t>Login til GitHub, Vercel, Sanity, Resend, Calendly, Make.com, Airtable</a:t>
            </a:r>
            <a:endParaRPr lang="en-US" sz="1050" dirty="0"/>
          </a:p>
        </p:txBody>
      </p:sp>
      <p:sp>
        <p:nvSpPr>
          <p:cNvPr id="14" name="Text 11"/>
          <p:cNvSpPr/>
          <p:nvPr/>
        </p:nvSpPr>
        <p:spPr>
          <a:xfrm>
            <a:off x="640080" y="3931920"/>
            <a:ext cx="822960" cy="640080"/>
          </a:xfrm>
          <a:prstGeom prst="rect">
            <a:avLst/>
          </a:prstGeom>
          <a:noFill/>
          <a:ln/>
        </p:spPr>
        <p:txBody>
          <a:bodyPr wrap="square" lIns="0" tIns="0" rIns="0" bIns="0" rtlCol="0" anchor="t"/>
          <a:lstStyle/>
          <a:p>
            <a:pPr indent="0" marL="0">
              <a:buNone/>
            </a:pPr>
            <a:r>
              <a:rPr lang="en-US" sz="3000" b="1" i="1" dirty="0">
                <a:solidFill>
                  <a:srgbClr val="7A9E9A"/>
                </a:solidFill>
                <a:latin typeface="Georgia" pitchFamily="34" charset="0"/>
                <a:ea typeface="Georgia" pitchFamily="34" charset="-122"/>
                <a:cs typeface="Georgia" pitchFamily="34" charset="-120"/>
              </a:rPr>
              <a:t>03</a:t>
            </a:r>
            <a:endParaRPr lang="en-US" sz="3000" dirty="0"/>
          </a:p>
        </p:txBody>
      </p:sp>
      <p:sp>
        <p:nvSpPr>
          <p:cNvPr id="15" name="Text 12"/>
          <p:cNvSpPr/>
          <p:nvPr/>
        </p:nvSpPr>
        <p:spPr>
          <a:xfrm>
            <a:off x="1554480" y="3931920"/>
            <a:ext cx="429768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Indhold &amp; billeder</a:t>
            </a:r>
            <a:endParaRPr lang="en-US" sz="1400" dirty="0"/>
          </a:p>
        </p:txBody>
      </p:sp>
      <p:sp>
        <p:nvSpPr>
          <p:cNvPr id="16" name="Text 13"/>
          <p:cNvSpPr/>
          <p:nvPr/>
        </p:nvSpPr>
        <p:spPr>
          <a:xfrm>
            <a:off x="1554480" y="4251960"/>
            <a:ext cx="4297680" cy="365760"/>
          </a:xfrm>
          <a:prstGeom prst="rect">
            <a:avLst/>
          </a:prstGeom>
          <a:noFill/>
          <a:ln/>
        </p:spPr>
        <p:txBody>
          <a:bodyPr wrap="square" lIns="0" tIns="0" rIns="0" bIns="0" rtlCol="0" anchor="t"/>
          <a:lstStyle/>
          <a:p>
            <a:pPr indent="0" marL="0">
              <a:buNone/>
            </a:pPr>
            <a:r>
              <a:rPr lang="en-US" sz="1050" dirty="0">
                <a:solidFill>
                  <a:srgbClr val="A8C2BF"/>
                </a:solidFill>
                <a:latin typeface="Calibri" pitchFamily="34" charset="0"/>
                <a:ea typeface="Calibri" pitchFamily="34" charset="-122"/>
                <a:cs typeface="Calibri" pitchFamily="34" charset="-120"/>
              </a:rPr>
              <a:t>Endelig korrekturlæsning af tekster og udvælgelse af projekt-billeder</a:t>
            </a:r>
            <a:endParaRPr lang="en-US" sz="1050" dirty="0"/>
          </a:p>
        </p:txBody>
      </p:sp>
      <p:sp>
        <p:nvSpPr>
          <p:cNvPr id="17" name="Text 14"/>
          <p:cNvSpPr/>
          <p:nvPr/>
        </p:nvSpPr>
        <p:spPr>
          <a:xfrm>
            <a:off x="640080" y="4709160"/>
            <a:ext cx="822960" cy="640080"/>
          </a:xfrm>
          <a:prstGeom prst="rect">
            <a:avLst/>
          </a:prstGeom>
          <a:noFill/>
          <a:ln/>
        </p:spPr>
        <p:txBody>
          <a:bodyPr wrap="square" lIns="0" tIns="0" rIns="0" bIns="0" rtlCol="0" anchor="t"/>
          <a:lstStyle/>
          <a:p>
            <a:pPr indent="0" marL="0">
              <a:buNone/>
            </a:pPr>
            <a:r>
              <a:rPr lang="en-US" sz="3000" b="1" i="1" dirty="0">
                <a:solidFill>
                  <a:srgbClr val="7A9E9A"/>
                </a:solidFill>
                <a:latin typeface="Georgia" pitchFamily="34" charset="0"/>
                <a:ea typeface="Georgia" pitchFamily="34" charset="-122"/>
                <a:cs typeface="Georgia" pitchFamily="34" charset="-120"/>
              </a:rPr>
              <a:t>04</a:t>
            </a:r>
            <a:endParaRPr lang="en-US" sz="3000" dirty="0"/>
          </a:p>
        </p:txBody>
      </p:sp>
      <p:sp>
        <p:nvSpPr>
          <p:cNvPr id="18" name="Text 15"/>
          <p:cNvSpPr/>
          <p:nvPr/>
        </p:nvSpPr>
        <p:spPr>
          <a:xfrm>
            <a:off x="1554480" y="4709160"/>
            <a:ext cx="429768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Udvikling starter</a:t>
            </a:r>
            <a:endParaRPr lang="en-US" sz="1400" dirty="0"/>
          </a:p>
        </p:txBody>
      </p:sp>
      <p:sp>
        <p:nvSpPr>
          <p:cNvPr id="19" name="Text 16"/>
          <p:cNvSpPr/>
          <p:nvPr/>
        </p:nvSpPr>
        <p:spPr>
          <a:xfrm>
            <a:off x="1554480" y="5029200"/>
            <a:ext cx="4297680" cy="365760"/>
          </a:xfrm>
          <a:prstGeom prst="rect">
            <a:avLst/>
          </a:prstGeom>
          <a:noFill/>
          <a:ln/>
        </p:spPr>
        <p:txBody>
          <a:bodyPr wrap="square" lIns="0" tIns="0" rIns="0" bIns="0" rtlCol="0" anchor="t"/>
          <a:lstStyle/>
          <a:p>
            <a:pPr indent="0" marL="0">
              <a:buNone/>
            </a:pPr>
            <a:r>
              <a:rPr lang="en-US" sz="1050" dirty="0">
                <a:solidFill>
                  <a:srgbClr val="A8C2BF"/>
                </a:solidFill>
                <a:latin typeface="Calibri" pitchFamily="34" charset="0"/>
                <a:ea typeface="Calibri" pitchFamily="34" charset="-122"/>
                <a:cs typeface="Calibri" pitchFamily="34" charset="-120"/>
              </a:rPr>
              <a:t>Daglige fremskridtsopdateringer og staging-URL fra første uge</a:t>
            </a:r>
            <a:endParaRPr lang="en-US" sz="1050" dirty="0"/>
          </a:p>
        </p:txBody>
      </p:sp>
      <p:sp>
        <p:nvSpPr>
          <p:cNvPr id="20" name="Text 17"/>
          <p:cNvSpPr/>
          <p:nvPr/>
        </p:nvSpPr>
        <p:spPr>
          <a:xfrm>
            <a:off x="640080" y="5486400"/>
            <a:ext cx="822960" cy="640080"/>
          </a:xfrm>
          <a:prstGeom prst="rect">
            <a:avLst/>
          </a:prstGeom>
          <a:noFill/>
          <a:ln/>
        </p:spPr>
        <p:txBody>
          <a:bodyPr wrap="square" lIns="0" tIns="0" rIns="0" bIns="0" rtlCol="0" anchor="t"/>
          <a:lstStyle/>
          <a:p>
            <a:pPr indent="0" marL="0">
              <a:buNone/>
            </a:pPr>
            <a:r>
              <a:rPr lang="en-US" sz="3000" b="1" i="1" dirty="0">
                <a:solidFill>
                  <a:srgbClr val="7A9E9A"/>
                </a:solidFill>
                <a:latin typeface="Georgia" pitchFamily="34" charset="0"/>
                <a:ea typeface="Georgia" pitchFamily="34" charset="-122"/>
                <a:cs typeface="Georgia" pitchFamily="34" charset="-120"/>
              </a:rPr>
              <a:t>05</a:t>
            </a:r>
            <a:endParaRPr lang="en-US" sz="3000" dirty="0"/>
          </a:p>
        </p:txBody>
      </p:sp>
      <p:sp>
        <p:nvSpPr>
          <p:cNvPr id="21" name="Text 18"/>
          <p:cNvSpPr/>
          <p:nvPr/>
        </p:nvSpPr>
        <p:spPr>
          <a:xfrm>
            <a:off x="1554480" y="5486400"/>
            <a:ext cx="429768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Test &amp; launch</a:t>
            </a:r>
            <a:endParaRPr lang="en-US" sz="1400" dirty="0"/>
          </a:p>
        </p:txBody>
      </p:sp>
      <p:sp>
        <p:nvSpPr>
          <p:cNvPr id="22" name="Text 19"/>
          <p:cNvSpPr/>
          <p:nvPr/>
        </p:nvSpPr>
        <p:spPr>
          <a:xfrm>
            <a:off x="1554480" y="5806440"/>
            <a:ext cx="4297680" cy="365760"/>
          </a:xfrm>
          <a:prstGeom prst="rect">
            <a:avLst/>
          </a:prstGeom>
          <a:noFill/>
          <a:ln/>
        </p:spPr>
        <p:txBody>
          <a:bodyPr wrap="square" lIns="0" tIns="0" rIns="0" bIns="0" rtlCol="0" anchor="t"/>
          <a:lstStyle/>
          <a:p>
            <a:pPr indent="0" marL="0">
              <a:buNone/>
            </a:pPr>
            <a:r>
              <a:rPr lang="en-US" sz="1050" dirty="0">
                <a:solidFill>
                  <a:srgbClr val="A8C2BF"/>
                </a:solidFill>
                <a:latin typeface="Calibri" pitchFamily="34" charset="0"/>
                <a:ea typeface="Calibri" pitchFamily="34" charset="-122"/>
                <a:cs typeface="Calibri" pitchFamily="34" charset="-120"/>
              </a:rPr>
              <a:t>Adam og shareholders godkender før vi skifter DNS</a:t>
            </a:r>
            <a:endParaRPr lang="en-US" sz="1050" dirty="0"/>
          </a:p>
        </p:txBody>
      </p:sp>
      <p:sp>
        <p:nvSpPr>
          <p:cNvPr id="23" name="Shape 20"/>
          <p:cNvSpPr/>
          <p:nvPr/>
        </p:nvSpPr>
        <p:spPr>
          <a:xfrm>
            <a:off x="6675120" y="5029200"/>
            <a:ext cx="4937760" cy="1371600"/>
          </a:xfrm>
          <a:prstGeom prst="rect">
            <a:avLst/>
          </a:prstGeom>
          <a:solidFill>
            <a:srgbClr val="7A9E9A"/>
          </a:solidFill>
          <a:ln/>
          <a:effectLst>
            <a:outerShdw sx="100000" sy="100000" kx="0" ky="0" algn="bl" rotWithShape="0" blurRad="177800" dist="50800" dir="16200000">
              <a:srgbClr val="000000">
                <a:alpha val="18000"/>
              </a:srgbClr>
            </a:outerShdw>
          </a:effectLst>
        </p:spPr>
      </p:sp>
      <p:sp>
        <p:nvSpPr>
          <p:cNvPr id="24" name="Text 21"/>
          <p:cNvSpPr/>
          <p:nvPr/>
        </p:nvSpPr>
        <p:spPr>
          <a:xfrm>
            <a:off x="6858000" y="5166360"/>
            <a:ext cx="4572000" cy="457200"/>
          </a:xfrm>
          <a:prstGeom prst="rect">
            <a:avLst/>
          </a:prstGeom>
          <a:noFill/>
          <a:ln/>
        </p:spPr>
        <p:txBody>
          <a:bodyPr wrap="square" lIns="0" tIns="0" rIns="0" bIns="0" rtlCol="0" anchor="ctr"/>
          <a:lstStyle/>
          <a:p>
            <a:pPr indent="0" marL="0">
              <a:buNone/>
            </a:pPr>
            <a:r>
              <a:rPr lang="en-US" sz="2200" b="1" i="1" dirty="0">
                <a:solidFill>
                  <a:srgbClr val="FFFFFF"/>
                </a:solidFill>
                <a:latin typeface="Georgia" pitchFamily="34" charset="0"/>
                <a:ea typeface="Georgia" pitchFamily="34" charset="-122"/>
                <a:cs typeface="Georgia" pitchFamily="34" charset="-120"/>
              </a:rPr>
              <a:t>Klar til at starte.</a:t>
            </a:r>
            <a:endParaRPr lang="en-US" sz="2200" dirty="0"/>
          </a:p>
        </p:txBody>
      </p:sp>
      <p:sp>
        <p:nvSpPr>
          <p:cNvPr id="25" name="Text 22"/>
          <p:cNvSpPr/>
          <p:nvPr/>
        </p:nvSpPr>
        <p:spPr>
          <a:xfrm>
            <a:off x="6858000" y="5623560"/>
            <a:ext cx="4572000" cy="6400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Når shareholders giver grønt lys, kører første sprint i gang dagen efter.</a:t>
            </a:r>
            <a:endParaRPr lang="en-US" sz="1100" dirty="0"/>
          </a:p>
        </p:txBody>
      </p:sp>
      <p:sp>
        <p:nvSpPr>
          <p:cNvPr id="26" name="Text 23"/>
          <p:cNvSpPr/>
          <p:nvPr/>
        </p:nvSpPr>
        <p:spPr>
          <a:xfrm>
            <a:off x="640080" y="6492240"/>
            <a:ext cx="7315200" cy="228600"/>
          </a:xfrm>
          <a:prstGeom prst="rect">
            <a:avLst/>
          </a:prstGeom>
          <a:noFill/>
          <a:ln/>
        </p:spPr>
        <p:txBody>
          <a:bodyPr wrap="square" lIns="0" tIns="0" rIns="0" bIns="0" rtlCol="0" anchor="ctr"/>
          <a:lstStyle/>
          <a:p>
            <a:pPr indent="0" marL="0">
              <a:buNone/>
            </a:pPr>
            <a:r>
              <a:rPr lang="en-US" sz="900" spc="200" kern="0" dirty="0">
                <a:solidFill>
                  <a:srgbClr val="A0AEC0"/>
                </a:solidFill>
                <a:latin typeface="Calibri" pitchFamily="34" charset="0"/>
                <a:ea typeface="Calibri" pitchFamily="34" charset="-122"/>
                <a:cs typeface="Calibri" pitchFamily="34" charset="-120"/>
              </a:rPr>
              <a:t>Malerfirmaet Bach ApS  ·  Strategisk præsentation 2026</a:t>
            </a:r>
            <a:endParaRPr lang="en-US" sz="900" dirty="0"/>
          </a:p>
        </p:txBody>
      </p:sp>
      <p:sp>
        <p:nvSpPr>
          <p:cNvPr id="27" name="Text 24"/>
          <p:cNvSpPr/>
          <p:nvPr/>
        </p:nvSpPr>
        <p:spPr>
          <a:xfrm>
            <a:off x="10820095" y="6492240"/>
            <a:ext cx="731520" cy="228600"/>
          </a:xfrm>
          <a:prstGeom prst="rect">
            <a:avLst/>
          </a:prstGeom>
          <a:noFill/>
          <a:ln/>
        </p:spPr>
        <p:txBody>
          <a:bodyPr wrap="square" lIns="0" tIns="0" rIns="0" bIns="0" rtlCol="0" anchor="ctr"/>
          <a:lstStyle/>
          <a:p>
            <a:pPr algn="r" indent="0" marL="0">
              <a:buNone/>
            </a:pPr>
            <a:r>
              <a:rPr lang="en-US" sz="900" spc="200" kern="0" dirty="0">
                <a:solidFill>
                  <a:srgbClr val="A0AEC0"/>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02C"/>
        </a:solidFill>
      </p:bgPr>
    </p:bg>
    <p:spTree>
      <p:nvGrpSpPr>
        <p:cNvPr id="1" name=""/>
        <p:cNvGrpSpPr/>
        <p:nvPr/>
      </p:nvGrpSpPr>
      <p:grpSpPr>
        <a:xfrm>
          <a:off x="0" y="0"/>
          <a:ext cx="0" cy="0"/>
          <a:chOff x="0" y="0"/>
          <a:chExt cx="0" cy="0"/>
        </a:xfrm>
      </p:grpSpPr>
      <p:pic>
        <p:nvPicPr>
          <p:cNvPr id="2" name="Image 0" descr="img3.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A202C">
              <a:alpha val="75000"/>
            </a:srgbClr>
          </a:solidFill>
          <a:ln/>
        </p:spPr>
      </p:sp>
      <p:sp>
        <p:nvSpPr>
          <p:cNvPr id="4" name="Shape 1"/>
          <p:cNvSpPr/>
          <p:nvPr/>
        </p:nvSpPr>
        <p:spPr>
          <a:xfrm>
            <a:off x="822960" y="2286000"/>
            <a:ext cx="1097280" cy="0"/>
          </a:xfrm>
          <a:prstGeom prst="line">
            <a:avLst/>
          </a:prstGeom>
          <a:noFill/>
          <a:ln w="19050">
            <a:solidFill>
              <a:srgbClr val="7A9E9A"/>
            </a:solidFill>
            <a:prstDash val="solid"/>
          </a:ln>
        </p:spPr>
      </p:sp>
      <p:sp>
        <p:nvSpPr>
          <p:cNvPr id="5" name="Text 2"/>
          <p:cNvSpPr/>
          <p:nvPr/>
        </p:nvSpPr>
        <p:spPr>
          <a:xfrm>
            <a:off x="822960" y="2423160"/>
            <a:ext cx="10058400" cy="365760"/>
          </a:xfrm>
          <a:prstGeom prst="rect">
            <a:avLst/>
          </a:prstGeom>
          <a:noFill/>
          <a:ln/>
        </p:spPr>
        <p:txBody>
          <a:bodyPr wrap="square" lIns="0" tIns="0" rIns="0" bIns="0" rtlCol="0" anchor="ctr"/>
          <a:lstStyle/>
          <a:p>
            <a:pPr indent="0" marL="0">
              <a:buNone/>
            </a:pPr>
            <a:r>
              <a:rPr lang="en-US" sz="1200" b="1" spc="800" kern="0" dirty="0">
                <a:solidFill>
                  <a:srgbClr val="A8C2BF"/>
                </a:solidFill>
                <a:latin typeface="Calibri" pitchFamily="34" charset="0"/>
                <a:ea typeface="Calibri" pitchFamily="34" charset="-122"/>
                <a:cs typeface="Calibri" pitchFamily="34" charset="-120"/>
              </a:rPr>
              <a:t>MALERFIRMAET BACH APS</a:t>
            </a:r>
            <a:endParaRPr lang="en-US" sz="1200" dirty="0"/>
          </a:p>
        </p:txBody>
      </p:sp>
      <p:sp>
        <p:nvSpPr>
          <p:cNvPr id="6" name="Text 3"/>
          <p:cNvSpPr/>
          <p:nvPr/>
        </p:nvSpPr>
        <p:spPr>
          <a:xfrm>
            <a:off x="822960" y="2834640"/>
            <a:ext cx="10058400" cy="1188720"/>
          </a:xfrm>
          <a:prstGeom prst="rect">
            <a:avLst/>
          </a:prstGeom>
          <a:noFill/>
          <a:ln/>
        </p:spPr>
        <p:txBody>
          <a:bodyPr wrap="square" lIns="0" tIns="0" rIns="0" bIns="0" rtlCol="0" anchor="ctr"/>
          <a:lstStyle/>
          <a:p>
            <a:pPr indent="0" marL="0">
              <a:buNone/>
            </a:pPr>
            <a:r>
              <a:rPr lang="en-US" sz="6400" b="1" i="1" dirty="0">
                <a:solidFill>
                  <a:srgbClr val="FFFFFF"/>
                </a:solidFill>
                <a:latin typeface="Georgia" pitchFamily="34" charset="0"/>
                <a:ea typeface="Georgia" pitchFamily="34" charset="-122"/>
                <a:cs typeface="Georgia" pitchFamily="34" charset="-120"/>
              </a:rPr>
              <a:t>Tak for jeres tid.</a:t>
            </a:r>
            <a:endParaRPr lang="en-US" sz="6400" dirty="0"/>
          </a:p>
        </p:txBody>
      </p:sp>
      <p:sp>
        <p:nvSpPr>
          <p:cNvPr id="7" name="Text 4"/>
          <p:cNvSpPr/>
          <p:nvPr/>
        </p:nvSpPr>
        <p:spPr>
          <a:xfrm>
            <a:off x="822960" y="4206240"/>
            <a:ext cx="10058400" cy="457200"/>
          </a:xfrm>
          <a:prstGeom prst="rect">
            <a:avLst/>
          </a:prstGeom>
          <a:noFill/>
          <a:ln/>
        </p:spPr>
        <p:txBody>
          <a:bodyPr wrap="square" lIns="0" tIns="0" rIns="0" bIns="0" rtlCol="0" anchor="ctr"/>
          <a:lstStyle/>
          <a:p>
            <a:pPr indent="0" marL="0">
              <a:buNone/>
            </a:pPr>
            <a:r>
              <a:rPr lang="en-US" sz="1600" i="1" dirty="0">
                <a:solidFill>
                  <a:srgbClr val="A8C2BF"/>
                </a:solidFill>
                <a:latin typeface="Calibri" pitchFamily="34" charset="0"/>
                <a:ea typeface="Calibri" pitchFamily="34" charset="-122"/>
                <a:cs typeface="Calibri" pitchFamily="34" charset="-120"/>
              </a:rPr>
              <a:t>Spørgsmål er mere end velkomne.</a:t>
            </a:r>
            <a:endParaRPr lang="en-US" sz="1600" dirty="0"/>
          </a:p>
        </p:txBody>
      </p:sp>
      <p:sp>
        <p:nvSpPr>
          <p:cNvPr id="8" name="Shape 5"/>
          <p:cNvSpPr/>
          <p:nvPr/>
        </p:nvSpPr>
        <p:spPr>
          <a:xfrm>
            <a:off x="822960" y="5806440"/>
            <a:ext cx="10515600" cy="0"/>
          </a:xfrm>
          <a:prstGeom prst="line">
            <a:avLst/>
          </a:prstGeom>
          <a:noFill/>
          <a:ln w="8890">
            <a:solidFill>
              <a:srgbClr val="7A9E9A"/>
            </a:solidFill>
            <a:prstDash val="solid"/>
          </a:ln>
        </p:spPr>
      </p:sp>
      <p:sp>
        <p:nvSpPr>
          <p:cNvPr id="9" name="Text 6"/>
          <p:cNvSpPr/>
          <p:nvPr/>
        </p:nvSpPr>
        <p:spPr>
          <a:xfrm>
            <a:off x="822960" y="5943600"/>
            <a:ext cx="10515600" cy="274320"/>
          </a:xfrm>
          <a:prstGeom prst="rect">
            <a:avLst/>
          </a:prstGeom>
          <a:noFill/>
          <a:ln/>
        </p:spPr>
        <p:txBody>
          <a:bodyPr wrap="square" lIns="0" tIns="0" rIns="0" bIns="0" rtlCol="0" anchor="ctr"/>
          <a:lstStyle/>
          <a:p>
            <a:pPr indent="0" marL="0">
              <a:buNone/>
            </a:pPr>
            <a:r>
              <a:rPr lang="en-US" sz="1000" spc="300" kern="0" dirty="0">
                <a:solidFill>
                  <a:srgbClr val="A0AEC0"/>
                </a:solidFill>
                <a:latin typeface="Calibri" pitchFamily="34" charset="0"/>
                <a:ea typeface="Calibri" pitchFamily="34" charset="-122"/>
                <a:cs typeface="Calibri" pitchFamily="34" charset="-120"/>
              </a:rPr>
              <a:t>Malerfirmaet Bach ApS  ·  Høje Gladsaxe 68, 2860 Søborg  ·  CVR 44 07 11 50</a:t>
            </a:r>
            <a:endParaRPr lang="en-US" sz="1000" dirty="0"/>
          </a:p>
        </p:txBody>
      </p:sp>
      <p:sp>
        <p:nvSpPr>
          <p:cNvPr id="10" name="Text 7"/>
          <p:cNvSpPr/>
          <p:nvPr/>
        </p:nvSpPr>
        <p:spPr>
          <a:xfrm>
            <a:off x="822960" y="6217920"/>
            <a:ext cx="10515600" cy="274320"/>
          </a:xfrm>
          <a:prstGeom prst="rect">
            <a:avLst/>
          </a:prstGeom>
          <a:noFill/>
          <a:ln/>
        </p:spPr>
        <p:txBody>
          <a:bodyPr wrap="square" lIns="0" tIns="0" rIns="0" bIns="0" rtlCol="0" anchor="ctr"/>
          <a:lstStyle/>
          <a:p>
            <a:pPr indent="0" marL="0">
              <a:buNone/>
            </a:pPr>
            <a:r>
              <a:rPr lang="en-US" sz="1000" spc="300" kern="0" dirty="0">
                <a:solidFill>
                  <a:srgbClr val="A0AEC0"/>
                </a:solidFill>
                <a:latin typeface="Calibri" pitchFamily="34" charset="0"/>
                <a:ea typeface="Calibri" pitchFamily="34" charset="-122"/>
                <a:cs typeface="Calibri" pitchFamily="34" charset="-120"/>
              </a:rPr>
              <a:t>41 44 07 11  ·  info@malerfirmaetbach.dk  ·  malerfirmaetbach.dk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Malerfirmaet Bach ApS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 digital platform — Strategisk præsentation</dc:title>
  <dc:subject>PptxGenJS Presentation</dc:subject>
  <dc:creator>Malerfirmaet Bach ApS</dc:creator>
  <cp:lastModifiedBy>Malerfirmaet Bach ApS</cp:lastModifiedBy>
  <cp:revision>1</cp:revision>
  <dcterms:created xsi:type="dcterms:W3CDTF">2026-05-02T10:11:21Z</dcterms:created>
  <dcterms:modified xsi:type="dcterms:W3CDTF">2026-05-02T10:11:21Z</dcterms:modified>
</cp:coreProperties>
</file>